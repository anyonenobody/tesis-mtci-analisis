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nan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"/>
            <a:ext cx="1576278" cy="8412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926080" y="201168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FFFFF"/>
                </a:solidFill>
              </a:defRPr>
            </a:pPr>
            <a:r>
              <a:t>UNIVERSIDAD NACIONAL AUTÓNOMA DE NICARAGUA, MANAGUA</a:t>
            </a:r>
          </a:p>
          <a:p>
            <a:pPr>
              <a:defRPr b="1" sz="950">
                <a:solidFill>
                  <a:srgbClr val="D97706"/>
                </a:solidFill>
              </a:defRPr>
            </a:pPr>
            <a:r>
              <a:t>CENTRO UNIVERSITARIO REGIONAL DE ESTELÍ (CUR-ESTELÍ) • RECINTO LEONEL RUGAMA RUGAMA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DEPARTAMENTO DE EDUCACIÓN Y HUMANIDADES | CARRERA DE PSICOLOGÍA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4892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91640"/>
            <a:ext cx="99669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50" b="1">
                <a:solidFill>
                  <a:srgbClr val="0D6E5D"/>
                </a:solidFill>
              </a:defRPr>
            </a:pPr>
            <a:r>
              <a:t>TRABAJO DE INVESTIGACIÓN PARA OPTAR AL GRADO DE LICENCIADOS EN PSICOLOGÍA</a:t>
            </a:r>
          </a:p>
          <a:p>
            <a:pPr>
              <a:spcAft>
                <a:spcPts val="1000"/>
              </a:spcAft>
              <a:defRPr sz="2300" b="1">
                <a:solidFill>
                  <a:srgbClr val="0F2043"/>
                </a:solidFill>
              </a:defRPr>
            </a:pPr>
            <a:r>
              <a:t>La Medicina Tradicional, Complementaria e Integrativa (MTCI) como Complemento en la Atención Psicológica</a:t>
            </a:r>
          </a:p>
          <a:p>
            <a:pPr>
              <a:defRPr sz="1250" b="1">
                <a:solidFill>
                  <a:srgbClr val="B45309"/>
                </a:solidFill>
              </a:defRPr>
            </a:pPr>
            <a:r>
              <a:t>Estudio Mixto con Estudiantes y Docentes del CUR-Estelí y Facilitadores Locales del Municipio de Estelí (Segundo Semestre, 2026)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794760"/>
            <a:ext cx="996696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97280" y="3977639"/>
            <a:ext cx="3154680" cy="214884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/>
          <a:lstStyle/>
          <a:p>
            <a:pPr algn="l">
              <a:spcAft>
                <a:spcPts val="800"/>
              </a:spcAft>
              <a:defRPr b="1" sz="1000">
                <a:solidFill>
                  <a:srgbClr val="0F2043"/>
                </a:solidFill>
              </a:defRPr>
            </a:pPr>
            <a:r>
              <a:t>👤 AUTORES / SUSTENTANTES</a:t>
            </a:r>
          </a:p>
          <a:p>
            <a:pPr algn="l"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Dina Fabiola García Torres</a:t>
            </a:r>
          </a:p>
          <a:p>
            <a:pPr algn="l"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Tatiana Paola López Ramos</a:t>
            </a:r>
          </a:p>
          <a:p>
            <a:pPr algn="l"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Engel Enoc Zamora Velásquez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98848" y="3977639"/>
            <a:ext cx="3154680" cy="2148840"/>
          </a:xfrm>
          <a:prstGeom prst="roundRect">
            <a:avLst>
              <a:gd name="adj" fmla="val 6000"/>
            </a:avLst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/>
          <a:lstStyle/>
          <a:p>
            <a:pPr algn="l">
              <a:spcAft>
                <a:spcPts val="800"/>
              </a:spcAft>
              <a:defRPr b="1" sz="1000">
                <a:solidFill>
                  <a:srgbClr val="0D6E5D"/>
                </a:solidFill>
              </a:defRPr>
            </a:pPr>
            <a:r>
              <a:t>🎓 TUTORÍA ACADÉMICA</a:t>
            </a:r>
          </a:p>
          <a:p>
            <a:pPr algn="l">
              <a:spcAft>
                <a:spcPts val="400"/>
              </a:spcAft>
              <a:defRPr b="1" sz="1050">
                <a:solidFill>
                  <a:srgbClr val="1E293B"/>
                </a:solidFill>
              </a:defRPr>
            </a:pPr>
            <a:r>
              <a:t>• Dra. Tania Libertad Pérez Guevara</a:t>
            </a:r>
          </a:p>
          <a:p>
            <a:pPr algn="l">
              <a:defRPr sz="950">
                <a:solidFill>
                  <a:srgbClr val="64748B"/>
                </a:solidFill>
              </a:defRPr>
            </a:pPr>
            <a:r>
              <a:t>Docente Investigadora • CUR-Estelí</a:t>
            </a:r>
            <a:br/>
            <a:r>
              <a:t>Asesoría Temática y Metodológica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0416" y="3977639"/>
            <a:ext cx="3154680" cy="214884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/>
          <a:lstStyle/>
          <a:p>
            <a:pPr algn="l">
              <a:spcAft>
                <a:spcPts val="800"/>
              </a:spcAft>
              <a:defRPr b="1" sz="1000">
                <a:solidFill>
                  <a:srgbClr val="B45309"/>
                </a:solidFill>
              </a:defRPr>
            </a:pPr>
            <a:r>
              <a:t>🏛 LÍNEA Y CONTEXTO</a:t>
            </a:r>
          </a:p>
          <a:p>
            <a:pPr algn="l">
              <a:defRPr sz="950">
                <a:solidFill>
                  <a:srgbClr val="1E293B"/>
                </a:solidFill>
              </a:defRPr>
            </a:pPr>
            <a:r>
              <a:t>Línea: SAL-3 (Salud e Interculturalidad)</a:t>
            </a:r>
            <a:br/>
            <a:r>
              <a:t>Sublínea: Terapias Alternativas</a:t>
            </a:r>
            <a:br/>
            <a:r>
              <a:t>Recinto Leonel Rugama Rugama</a:t>
            </a:r>
            <a:br/>
            <a:r>
              <a:t>Estelí, Nicaragua • Octubre,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92608"/>
            <a:ext cx="3549700" cy="292608"/>
          </a:xfrm>
          <a:prstGeom prst="roundRect">
            <a:avLst>
              <a:gd name="adj" fmla="val 35000"/>
            </a:avLst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>
              <a:defRPr sz="900" b="1">
                <a:solidFill>
                  <a:srgbClr val="0D6E5D"/>
                </a:solidFill>
                <a:latin typeface="Calibri"/>
              </a:defRPr>
            </a:pPr>
            <a:r>
              <a:t>CAPÍTULO I • PLANTEAMIENTO DEL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0F2043"/>
                </a:solidFill>
                <a:latin typeface="Calibri"/>
              </a:defRPr>
            </a:pPr>
            <a:r>
              <a:t>Encrucijada Asistencial, Vacío Formativo y Pertinencia Social</a:t>
            </a:r>
          </a:p>
        </p:txBody>
      </p:sp>
      <p:pic>
        <p:nvPicPr>
          <p:cNvPr id="5" name="Picture 4" descr="unan_shield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28600"/>
            <a:ext cx="533862" cy="7772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188720"/>
            <a:ext cx="8412480" cy="228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89720" y="1188720"/>
            <a:ext cx="2267712" cy="228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UNAN-Managua • CUR-Estelí | Departamento de Educación y Humanidades • Carrera de Psicología (2026)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6455664"/>
            <a:ext cx="761695" cy="237744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 w="9525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0F2043"/>
                </a:solidFill>
                <a:latin typeface="Calibri"/>
              </a:defRPr>
            </a:pPr>
            <a:r>
              <a:t>2 / 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71600"/>
            <a:ext cx="5212080" cy="4892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371600"/>
            <a:ext cx="5212080" cy="438912"/>
          </a:xfrm>
          <a:prstGeom prst="roundRect">
            <a:avLst>
              <a:gd name="adj" fmla="val 8000"/>
            </a:avLst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8288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🛑 PLANTEAMIENTO DEL PROBLEMA Y BRECHA FORMATIVA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1901952"/>
            <a:ext cx="4754880" cy="749808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0D6E5D"/>
                </a:solidFill>
                <a:latin typeface="Calibri"/>
              </a:rPr>
              <a:t>⚖️ Asimetría Legal y Sanitaria: </a:t>
            </a:r>
            <a:r>
              <a:rPr sz="900">
                <a:solidFill>
                  <a:srgbClr val="1E293B"/>
                </a:solidFill>
                <a:latin typeface="Calibri"/>
              </a:rPr>
              <a:t>La Ley No. 774 garantiza acceso a la MTCI; empero, la Ley No. 292 prohíbe tajantemente la prescripción farmacológica a psicólogos.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2724912"/>
            <a:ext cx="4754880" cy="749808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0D6E5D"/>
                </a:solidFill>
                <a:latin typeface="Calibri"/>
              </a:rPr>
              <a:t>🤐 El 'Ocultamiento Terapéutico': </a:t>
            </a:r>
            <a:r>
              <a:rPr sz="900">
                <a:solidFill>
                  <a:srgbClr val="1E293B"/>
                </a:solidFill>
                <a:latin typeface="Calibri"/>
              </a:rPr>
              <a:t>Los consultantes recurren a medicina natural pero lo callan en consulta por temor a descalificación del terapeuta.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3547872"/>
            <a:ext cx="4754880" cy="749808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0D6E5D"/>
                </a:solidFill>
                <a:latin typeface="Calibri"/>
              </a:rPr>
              <a:t>🎓 Vacío en la Malla Curricular: </a:t>
            </a:r>
            <a:r>
              <a:rPr sz="900">
                <a:solidFill>
                  <a:srgbClr val="1E293B"/>
                </a:solidFill>
                <a:latin typeface="Calibri"/>
              </a:rPr>
              <a:t>Los futuros graduados del CUR-Estelí egresan sin directrices deontológicas para dialogar, psicoeducar o derivar.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4370832"/>
            <a:ext cx="4754880" cy="749808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0D6E5D"/>
                </a:solidFill>
                <a:latin typeface="Calibri"/>
              </a:rPr>
              <a:t>❓ Pregunta Central de Investigación: </a:t>
            </a:r>
            <a:r>
              <a:rPr sz="900">
                <a:solidFill>
                  <a:srgbClr val="1E293B"/>
                </a:solidFill>
                <a:latin typeface="Calibri"/>
              </a:rPr>
              <a:t>¿Cómo fundamenta el diagnóstico de MTCI en Estelí el diseño de un manual ético y pedagógico para el CUR-Estelí?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5257800"/>
            <a:ext cx="4754880" cy="841248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54864" bIns="54864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B91C1C"/>
                </a:solidFill>
              </a:rPr>
              <a:t>⚠ Encrucijada Práctica: </a:t>
            </a:r>
            <a:r>
              <a:rPr sz="900">
                <a:solidFill>
                  <a:srgbClr val="1E293B"/>
                </a:solidFill>
              </a:rPr>
              <a:t>La población acude cotidianamente a la medicina tradicional; ignorar estos saberes fragmenta la alianza clínica y eleva el riesgo de abandono terapéutico.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8095" y="1371600"/>
            <a:ext cx="5212080" cy="4892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48095" y="1371600"/>
            <a:ext cx="5212080" cy="438912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8288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💡 JUSTIFICACIÓN Y RELEVANCIA MULTIDIMENSIONAL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76695" y="1901952"/>
            <a:ext cx="4754880" cy="749808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B45309"/>
                </a:solidFill>
                <a:latin typeface="Calibri"/>
              </a:rPr>
              <a:t>🛡️ Pertinencia Ética y Deontológica: </a:t>
            </a:r>
            <a:r>
              <a:rPr sz="900">
                <a:solidFill>
                  <a:srgbClr val="1E293B"/>
                </a:solidFill>
                <a:latin typeface="Calibri"/>
              </a:rPr>
              <a:t>El principio de beneficencia y alternabilidad exige conocer las prácticas del consultante para resguardar la seguridad clínica.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76695" y="2724912"/>
            <a:ext cx="4754880" cy="749808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B45309"/>
                </a:solidFill>
                <a:latin typeface="Calibri"/>
              </a:rPr>
              <a:t>🌿 Aporte a la Salud Mental Comunitaria: </a:t>
            </a:r>
            <a:r>
              <a:rPr sz="900">
                <a:solidFill>
                  <a:srgbClr val="1E293B"/>
                </a:solidFill>
                <a:latin typeface="Calibri"/>
              </a:rPr>
              <a:t>Rescata y visibiliza la memoria viva de facilitadores y la etnobotánica de Estelí dentro del tejido de apoyo psicosocial.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76695" y="3547872"/>
            <a:ext cx="4754880" cy="749808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B45309"/>
                </a:solidFill>
                <a:latin typeface="Calibri"/>
              </a:rPr>
              <a:t>🏥 Impacto Formativo Directo (CUR-Estelí): </a:t>
            </a:r>
            <a:r>
              <a:rPr sz="900">
                <a:solidFill>
                  <a:srgbClr val="1E293B"/>
                </a:solidFill>
                <a:latin typeface="Calibri"/>
              </a:rPr>
              <a:t>Provee directrices claras para los practicantes en la Clínica Psicosocial y Comunitaria, cerrando la brecha teoría-praxis.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76695" y="4370832"/>
            <a:ext cx="4754880" cy="749808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B45309"/>
                </a:solidFill>
                <a:latin typeface="Calibri"/>
              </a:rPr>
              <a:t>🎯 Alineación con Agendas de Desarrollo: </a:t>
            </a:r>
            <a:r>
              <a:rPr sz="900">
                <a:solidFill>
                  <a:srgbClr val="1E293B"/>
                </a:solidFill>
                <a:latin typeface="Calibri"/>
              </a:rPr>
              <a:t>Responde a la línea institucional SAL-3 (UNAN-Managua), a las metas SETEC (2025) y al Plan Nacional de Desarrollo Humano.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76695" y="5257800"/>
            <a:ext cx="4754880" cy="841248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54864" bIns="54864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B45309"/>
                </a:solidFill>
              </a:rPr>
              <a:t>✨ Aporte Concreto: </a:t>
            </a:r>
            <a:r>
              <a:rPr sz="900">
                <a:solidFill>
                  <a:srgbClr val="1E293B"/>
                </a:solidFill>
              </a:rPr>
              <a:t>Construcción del primer manual ético-propositivo para delimitar las competencias del psicólogo frente a las terapias tradicionales en Nicaragua.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92608"/>
            <a:ext cx="2664561" cy="292608"/>
          </a:xfrm>
          <a:prstGeom prst="roundRect">
            <a:avLst>
              <a:gd name="adj" fmla="val 35000"/>
            </a:avLst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>
              <a:defRPr sz="900" b="1">
                <a:solidFill>
                  <a:srgbClr val="0D6E5D"/>
                </a:solidFill>
                <a:latin typeface="Calibri"/>
              </a:defRPr>
            </a:pPr>
            <a:r>
              <a:t>CAPÍTULO I • ESTADO DEL ARTE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0F2043"/>
                </a:solidFill>
                <a:latin typeface="Calibri"/>
              </a:defRPr>
            </a:pPr>
            <a:r>
              <a:t>Esquema de Antecedentes Empíricos: Internacional, Nacional y Local</a:t>
            </a:r>
          </a:p>
        </p:txBody>
      </p:sp>
      <p:pic>
        <p:nvPicPr>
          <p:cNvPr id="5" name="Picture 4" descr="unan_shield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28600"/>
            <a:ext cx="533862" cy="7772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188720"/>
            <a:ext cx="8412480" cy="228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89720" y="1188720"/>
            <a:ext cx="2267712" cy="228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UNAN-Managua • CUR-Estelí | Departamento de Educación y Humanidades • Carrera de Psicología (2026)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6455664"/>
            <a:ext cx="761695" cy="237744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 w="9525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0F2043"/>
                </a:solidFill>
                <a:latin typeface="Calibri"/>
              </a:defRPr>
            </a:pPr>
            <a:r>
              <a:t>3 / 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71600"/>
            <a:ext cx="3429000" cy="4892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371600"/>
            <a:ext cx="3429000" cy="438912"/>
          </a:xfrm>
          <a:prstGeom prst="roundRect">
            <a:avLst>
              <a:gd name="adj" fmla="val 8000"/>
            </a:avLst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8288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🌐 INTERNACIONAL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" y="1920240"/>
            <a:ext cx="3099816" cy="987552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900">
                <a:solidFill>
                  <a:srgbClr val="0D6E5D"/>
                </a:solidFill>
                <a:latin typeface="Calibri"/>
              </a:rPr>
              <a:t>🔍 Chafloque-Capuñay et al. (2025): </a:t>
            </a:r>
            <a:r>
              <a:rPr sz="850">
                <a:solidFill>
                  <a:srgbClr val="1E293B"/>
                </a:solidFill>
                <a:latin typeface="Calibri"/>
              </a:rPr>
              <a:t>Revisión sistemática (22 estudios). Los adultos recurren a la MTCI buscando autonomía, contención y un trato empático ausente en la biomedicina.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" y="3017520"/>
            <a:ext cx="3099816" cy="987552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900">
                <a:solidFill>
                  <a:srgbClr val="0D6E5D"/>
                </a:solidFill>
                <a:latin typeface="Calibri"/>
              </a:rPr>
              <a:t>🌎 Ortega Cadena et al. (2023): </a:t>
            </a:r>
            <a:r>
              <a:rPr sz="850">
                <a:solidFill>
                  <a:srgbClr val="1E293B"/>
                </a:solidFill>
                <a:latin typeface="Calibri"/>
              </a:rPr>
              <a:t>Estudio en Colombia: el reduccionismo patologiza saberes populares y crea muros de incomunicación asistencial.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" y="4114800"/>
            <a:ext cx="3099816" cy="987552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900">
                <a:solidFill>
                  <a:srgbClr val="0D6E5D"/>
                </a:solidFill>
                <a:latin typeface="Calibri"/>
              </a:rPr>
              <a:t>🌍 OMS / OPS (2023, 2025): </a:t>
            </a:r>
            <a:r>
              <a:rPr sz="850">
                <a:solidFill>
                  <a:srgbClr val="1E293B"/>
                </a:solidFill>
                <a:latin typeface="Calibri"/>
              </a:rPr>
              <a:t>Estrategia Mundial sobre Medicina Tradicional: insta a integrar recursos comunitarios seguros en atención primaria.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" y="5257800"/>
            <a:ext cx="3099816" cy="841248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54864" bIns="54864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0F2043"/>
                </a:solidFill>
              </a:rPr>
              <a:t>Eje Global: </a:t>
            </a:r>
            <a:r>
              <a:rPr sz="900">
                <a:solidFill>
                  <a:srgbClr val="1E293B"/>
                </a:solidFill>
              </a:rPr>
              <a:t>Transición hacia modelos asistenciales culturalmente congruentes y centrados en la autonomía del paciente.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9976" y="1371600"/>
            <a:ext cx="3429000" cy="4892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79976" y="1371600"/>
            <a:ext cx="3429000" cy="438912"/>
          </a:xfrm>
          <a:prstGeom prst="roundRect">
            <a:avLst>
              <a:gd name="adj" fmla="val 8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8288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🏛 NACIONAL (NICARAGUA)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44568" y="1920240"/>
            <a:ext cx="3099816" cy="7315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900">
                <a:solidFill>
                  <a:srgbClr val="B45309"/>
                </a:solidFill>
                <a:latin typeface="Calibri"/>
              </a:rPr>
              <a:t>📜 Ley No. 774 (2012): </a:t>
            </a:r>
            <a:r>
              <a:rPr sz="850">
                <a:solidFill>
                  <a:srgbClr val="1E293B"/>
                </a:solidFill>
                <a:latin typeface="Calibri"/>
              </a:rPr>
              <a:t>Marco jurídico de vanguardia regional que reconoce la medicina natural como derecho en la salud pública.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44568" y="2724912"/>
            <a:ext cx="3099816" cy="7315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900">
                <a:solidFill>
                  <a:srgbClr val="B45309"/>
                </a:solidFill>
                <a:latin typeface="Calibri"/>
              </a:rPr>
              <a:t>🌿 Romero Hernández (2021): </a:t>
            </a:r>
            <a:r>
              <a:rPr sz="850">
                <a:solidFill>
                  <a:srgbClr val="1E293B"/>
                </a:solidFill>
                <a:latin typeface="Calibri"/>
              </a:rPr>
              <a:t>Patrimonio etnobotánico en Masaya. Sobadores fungen como escudo de contención psicosomática.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44568" y="3529584"/>
            <a:ext cx="3099816" cy="7315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900">
                <a:solidFill>
                  <a:srgbClr val="B45309"/>
                </a:solidFill>
                <a:latin typeface="Calibri"/>
              </a:rPr>
              <a:t>🤝 Cunningham (2021): </a:t>
            </a:r>
            <a:r>
              <a:rPr sz="850">
                <a:solidFill>
                  <a:srgbClr val="1E293B"/>
                </a:solidFill>
                <a:latin typeface="Calibri"/>
              </a:rPr>
              <a:t>Costa Caribe: articulación horizontal y sinérgica entre médicos convencionales y terapeutas miskitos.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44568" y="4334256"/>
            <a:ext cx="3099816" cy="7315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900">
                <a:solidFill>
                  <a:srgbClr val="B45309"/>
                </a:solidFill>
                <a:latin typeface="Calibri"/>
              </a:rPr>
              <a:t>🏥 MINSA (2024): </a:t>
            </a:r>
            <a:r>
              <a:rPr sz="850">
                <a:solidFill>
                  <a:srgbClr val="1E293B"/>
                </a:solidFill>
                <a:latin typeface="Calibri"/>
              </a:rPr>
              <a:t>Instituto de Medicina Natural respalda la visión holística de salud vinculada a la comunidad.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44568" y="5257800"/>
            <a:ext cx="3099816" cy="841248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54864" bIns="54864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B45309"/>
                </a:solidFill>
              </a:rPr>
              <a:t>Eje Nacional: </a:t>
            </a:r>
            <a:r>
              <a:rPr sz="900">
                <a:solidFill>
                  <a:srgbClr val="1E293B"/>
                </a:solidFill>
              </a:rPr>
              <a:t>Existencia de respaldo normativo con imperiosa necesidad de traducción clínica en las aulas universitarias.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28432" y="1371600"/>
            <a:ext cx="3429000" cy="4892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28432" y="1371600"/>
            <a:ext cx="3429000" cy="438912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8288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📍 LOCAL (CUR-ESTELÍ)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93024" y="1920240"/>
            <a:ext cx="3099816" cy="987552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900">
                <a:solidFill>
                  <a:srgbClr val="0D6E5D"/>
                </a:solidFill>
                <a:latin typeface="Calibri"/>
              </a:rPr>
              <a:t>🎨 Aguilera Altamirano et al. (2019): </a:t>
            </a:r>
            <a:r>
              <a:rPr sz="850">
                <a:solidFill>
                  <a:srgbClr val="1E293B"/>
                </a:solidFill>
                <a:latin typeface="Calibri"/>
              </a:rPr>
              <a:t>Arteterapia aplicada a internos de Medicina en el Hospital San Juan de Dios de Estelí con disminución de agotamiento emocional.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93024" y="3017520"/>
            <a:ext cx="3099816" cy="987552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900">
                <a:solidFill>
                  <a:srgbClr val="0D6E5D"/>
                </a:solidFill>
                <a:latin typeface="Calibri"/>
              </a:rPr>
              <a:t>🎭 Mora Mejías y Bellorín (2020): </a:t>
            </a:r>
            <a:r>
              <a:rPr sz="850">
                <a:solidFill>
                  <a:srgbClr val="1E293B"/>
                </a:solidFill>
                <a:latin typeface="Calibri"/>
              </a:rPr>
              <a:t>Dramaterapia en estudiantes de Psicología del CUR-Estelí con avances significativos en autoestima.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93024" y="4114800"/>
            <a:ext cx="3099816" cy="987552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900">
                <a:solidFill>
                  <a:srgbClr val="0D6E5D"/>
                </a:solidFill>
                <a:latin typeface="Calibri"/>
              </a:rPr>
              <a:t>✨ Hallazgo Articulador Clave: </a:t>
            </a:r>
            <a:r>
              <a:rPr sz="850">
                <a:solidFill>
                  <a:srgbClr val="1E293B"/>
                </a:solidFill>
                <a:latin typeface="Calibri"/>
              </a:rPr>
              <a:t>Los estudiantes de Psicología ya utilizan empíricamente la MTCI como estrategia de autocuidado ante sobrecarga académica.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93024" y="5257800"/>
            <a:ext cx="3099816" cy="841248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54864" bIns="54864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0D6E5D"/>
                </a:solidFill>
              </a:rPr>
              <a:t>Eje Local: </a:t>
            </a:r>
            <a:r>
              <a:rPr sz="900">
                <a:solidFill>
                  <a:srgbClr val="1E293B"/>
                </a:solidFill>
              </a:rPr>
              <a:t>Evidencia empírica directa de la viabilidad formativa de técnicas somáticas en el campus Estelí.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92608"/>
            <a:ext cx="3952036" cy="292608"/>
          </a:xfrm>
          <a:prstGeom prst="roundRect">
            <a:avLst>
              <a:gd name="adj" fmla="val 35000"/>
            </a:avLst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>
              <a:defRPr sz="900" b="1">
                <a:solidFill>
                  <a:srgbClr val="0D6E5D"/>
                </a:solidFill>
                <a:latin typeface="Calibri"/>
              </a:defRPr>
            </a:pPr>
            <a:r>
              <a:t>CAPÍTULO I • CONTEXTUALIZACIÓN INSTITUCIONAL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0F2043"/>
                </a:solidFill>
                <a:latin typeface="Calibri"/>
              </a:defRPr>
            </a:pPr>
            <a:r>
              <a:t>Coordenadas Territoriales, Dispositivos Clínicos y Vinculación Comunitaria</a:t>
            </a:r>
          </a:p>
        </p:txBody>
      </p:sp>
      <p:pic>
        <p:nvPicPr>
          <p:cNvPr id="5" name="Picture 4" descr="unan_shield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28600"/>
            <a:ext cx="533862" cy="7772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188720"/>
            <a:ext cx="8412480" cy="228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89720" y="1188720"/>
            <a:ext cx="2267712" cy="228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UNAN-Managua • CUR-Estelí | Departamento de Educación y Humanidades • Carrera de Psicología (2026)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6455664"/>
            <a:ext cx="761695" cy="237744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 w="9525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0F2043"/>
                </a:solidFill>
                <a:latin typeface="Calibri"/>
              </a:defRPr>
            </a:pPr>
            <a:r>
              <a:t>4 / 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71600"/>
            <a:ext cx="5303520" cy="4892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371600"/>
            <a:ext cx="5303520" cy="438912"/>
          </a:xfrm>
          <a:prstGeom prst="roundRect">
            <a:avLst>
              <a:gd name="adj" fmla="val 8000"/>
            </a:avLst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8288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🏛 ESCENARIO TERRITORIAL E INSTITUCIONAL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" y="1901952"/>
            <a:ext cx="4901184" cy="603504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0D6E5D"/>
                </a:solidFill>
                <a:latin typeface="Calibri"/>
              </a:rPr>
              <a:t>📍 Municipio de Estelí: </a:t>
            </a:r>
            <a:r>
              <a:rPr sz="900">
                <a:solidFill>
                  <a:srgbClr val="1E293B"/>
                </a:solidFill>
                <a:latin typeface="Calibri"/>
              </a:rPr>
              <a:t>Cabecera con dinámico comercio y arraigada tradición comunitaria en flora medicinal y sobadores.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" y="2578608"/>
            <a:ext cx="4901184" cy="603504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0D6E5D"/>
                </a:solidFill>
                <a:latin typeface="Calibri"/>
              </a:rPr>
              <a:t>🏫 Recinto Leonel Rugama Rugama: </a:t>
            </a:r>
            <a:r>
              <a:rPr sz="900">
                <a:solidFill>
                  <a:srgbClr val="1E293B"/>
                </a:solidFill>
                <a:latin typeface="Calibri"/>
              </a:rPr>
              <a:t>Sede del CUR-Estelí donde convergen alumnos matutinos y sabatinos de todo el norte.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" y="3255264"/>
            <a:ext cx="4901184" cy="603504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0D6E5D"/>
                </a:solidFill>
                <a:latin typeface="Calibri"/>
              </a:rPr>
              <a:t>🧠 Clínica Psicosocial y Comunitaria: </a:t>
            </a:r>
            <a:r>
              <a:rPr sz="900">
                <a:solidFill>
                  <a:srgbClr val="1E293B"/>
                </a:solidFill>
                <a:latin typeface="Calibri"/>
              </a:rPr>
              <a:t>Dispositivo asistencial clave donde practicantes de 4.° y 5.° año brindan atención psicoterapéutica.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" y="3931920"/>
            <a:ext cx="4901184" cy="603504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0D6E5D"/>
                </a:solidFill>
                <a:latin typeface="Calibri"/>
              </a:rPr>
              <a:t>🩺 Consultorio Médico Comunitario: </a:t>
            </a:r>
            <a:r>
              <a:rPr sz="900">
                <a:solidFill>
                  <a:srgbClr val="1E293B"/>
                </a:solidFill>
                <a:latin typeface="Calibri"/>
              </a:rPr>
              <a:t>Espacio de salud primaria y campañas preventivas articulado estrechamente con el MINSA.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" y="4608576"/>
            <a:ext cx="4901184" cy="603504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0D6E5D"/>
                </a:solidFill>
                <a:latin typeface="Calibri"/>
              </a:rPr>
              <a:t>📈 Línea Institucional SAL-3: </a:t>
            </a:r>
            <a:r>
              <a:rPr sz="900">
                <a:solidFill>
                  <a:srgbClr val="1E293B"/>
                </a:solidFill>
                <a:latin typeface="Calibri"/>
              </a:rPr>
              <a:t>Inscrito en la sublínea SAL-3.1 (Medicina natural), vinculado al Plan Nacional de Desarrollo Humano.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" y="5303520"/>
            <a:ext cx="4901184" cy="804672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54864" bIns="54864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0F2043"/>
                </a:solidFill>
              </a:rPr>
              <a:t>Pertinencia Situada: </a:t>
            </a:r>
            <a:r>
              <a:rPr sz="900">
                <a:solidFill>
                  <a:srgbClr val="1E293B"/>
                </a:solidFill>
              </a:rPr>
              <a:t>Investigación conectada con las necesidades de salud mental de las comunidades urbanas y rurales de Estelí.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39535" y="1371600"/>
            <a:ext cx="5120640" cy="4892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39535" y="1371600"/>
            <a:ext cx="5120640" cy="438912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8288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🗺 MAPA DE UBICACIÓN (CUR-ESTELÍ)</a:t>
            </a:r>
          </a:p>
        </p:txBody>
      </p:sp>
      <p:pic>
        <p:nvPicPr>
          <p:cNvPr id="21" name="Picture 20" descr="figura_01_ubicacion_cur_estel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2415" y="1920240"/>
            <a:ext cx="4754880" cy="324612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6522415" y="5303520"/>
            <a:ext cx="4754880" cy="804672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54864" bIns="54864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0D6E5D"/>
                </a:solidFill>
              </a:rPr>
              <a:t>Figura 1 (APA 7): </a:t>
            </a:r>
            <a:r>
              <a:rPr sz="900">
                <a:solidFill>
                  <a:srgbClr val="1E293B"/>
                </a:solidFill>
              </a:rPr>
              <a:t>Delimitación del CUR-Estelí, recinto Leonel Rugama Rugama, Estelí, Nicaragua (Cartografía Institucional, 2026).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92608"/>
            <a:ext cx="3388766" cy="292608"/>
          </a:xfrm>
          <a:prstGeom prst="roundRect">
            <a:avLst>
              <a:gd name="adj" fmla="val 35000"/>
            </a:avLst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>
              <a:defRPr sz="900" b="1">
                <a:solidFill>
                  <a:srgbClr val="0D6E5D"/>
                </a:solidFill>
                <a:latin typeface="Calibri"/>
              </a:defRPr>
            </a:pPr>
            <a:r>
              <a:t>CAPÍTULO I • ARQUITECTURA TELEOLÓGICA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0F2043"/>
                </a:solidFill>
                <a:latin typeface="Calibri"/>
              </a:defRPr>
            </a:pPr>
            <a:r>
              <a:t>Esquema Articulador de Objetivos de Investigación</a:t>
            </a:r>
          </a:p>
        </p:txBody>
      </p:sp>
      <p:pic>
        <p:nvPicPr>
          <p:cNvPr id="5" name="Picture 4" descr="unan_shield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28600"/>
            <a:ext cx="533862" cy="7772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188720"/>
            <a:ext cx="8412480" cy="228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89720" y="1188720"/>
            <a:ext cx="2267712" cy="228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UNAN-Managua • CUR-Estelí | Departamento de Educación y Humanidades • Carrera de Psicología (2026)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6455664"/>
            <a:ext cx="761695" cy="237744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 w="9525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0F2043"/>
                </a:solidFill>
                <a:latin typeface="Calibri"/>
              </a:defRPr>
            </a:pPr>
            <a:r>
              <a:t>5 / 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71600"/>
            <a:ext cx="10728655" cy="1645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371600"/>
            <a:ext cx="10728655" cy="438912"/>
          </a:xfrm>
          <a:prstGeom prst="roundRect">
            <a:avLst>
              <a:gd name="adj" fmla="val 8000"/>
            </a:avLst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8288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🎯 OBJETIVO GENERAL DE LA INVESTIGACIÓN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874519"/>
            <a:ext cx="101498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0F2043"/>
                </a:solidFill>
              </a:defRPr>
            </a:pPr>
            <a:r>
              <a:t>Explorar la percepción de la Medicina Tradicional, Complementaria e Integrativa (MTCI) como recurso de apoyo en la atención psicológica desde la mirada de actores locales, estudiantes y docentes de Psicología del CUR-Estelí durante el segundo semestre del año 2026.</a:t>
            </a:r>
          </a:p>
          <a:p>
            <a:pPr algn="l">
              <a:defRPr sz="1050" b="1">
                <a:solidFill>
                  <a:srgbClr val="B45309"/>
                </a:solidFill>
              </a:defRPr>
            </a:pPr>
            <a:r>
              <a:t>▶ Articulación Metodológica: Triangulación concurrente de datos cuantitativos (estudiantes) y cualitativos (facilitadores territoriales y claustro docente).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00400"/>
            <a:ext cx="3429000" cy="3063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3200400"/>
            <a:ext cx="3429000" cy="438912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8288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📌 OBJETIVO ESPECÍFICO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" y="3703320"/>
            <a:ext cx="3099816" cy="8686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0F2043"/>
                </a:solidFill>
                <a:latin typeface="Calibri"/>
              </a:rPr>
              <a:t>🎯 DIAGNÓSTICO CUANTITATIVO: </a:t>
            </a:r>
            <a:r>
              <a:rPr sz="900">
                <a:solidFill>
                  <a:srgbClr val="1E293B"/>
                </a:solidFill>
                <a:latin typeface="Calibri"/>
              </a:rPr>
              <a:t>Caracterizar conocimientos conceptuales, normativos y frecuencia de uso en estudiantes de 4.º y 5.º año.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" y="4645152"/>
            <a:ext cx="3099816" cy="8686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900">
                <a:solidFill>
                  <a:srgbClr val="0D6E5D"/>
                </a:solidFill>
                <a:latin typeface="Calibri"/>
              </a:rPr>
              <a:t>👥 Muestra y Alcance: </a:t>
            </a:r>
            <a:r>
              <a:rPr sz="850">
                <a:solidFill>
                  <a:srgbClr val="1E293B"/>
                </a:solidFill>
                <a:latin typeface="Calibri"/>
              </a:rPr>
              <a:t>53 de 4.° año y 15 de 5.° año preprofesional (n = 68 participantes).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" y="5596128"/>
            <a:ext cx="3099816" cy="54864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54864" bIns="54864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0F2043"/>
                </a:solidFill>
              </a:rPr>
              <a:t>Vía Cuantitativa: </a:t>
            </a:r>
            <a:r>
              <a:rPr sz="900">
                <a:solidFill>
                  <a:srgbClr val="1E293B"/>
                </a:solidFill>
              </a:rPr>
              <a:t>I1: Escala Likert estandarizada (n = 68)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9976" y="3200400"/>
            <a:ext cx="3429000" cy="3063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79976" y="3200400"/>
            <a:ext cx="3429000" cy="438912"/>
          </a:xfrm>
          <a:prstGeom prst="roundRect">
            <a:avLst>
              <a:gd name="adj" fmla="val 8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8288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📌 OBJETIVO ESPECÍFICO 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44568" y="3703320"/>
            <a:ext cx="3099816" cy="8686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0F2043"/>
                </a:solidFill>
                <a:latin typeface="Calibri"/>
              </a:rPr>
              <a:t>🎯 EXPLORACIÓN CUALITATIVA: </a:t>
            </a:r>
            <a:r>
              <a:rPr sz="900">
                <a:solidFill>
                  <a:srgbClr val="1E293B"/>
                </a:solidFill>
                <a:latin typeface="Calibri"/>
              </a:rPr>
              <a:t>Describir beneficios percibidos y posibles efectos adversos desde facilitadores locales de Estelí.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44568" y="4645152"/>
            <a:ext cx="3099816" cy="8686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900">
                <a:solidFill>
                  <a:srgbClr val="0D6E5D"/>
                </a:solidFill>
                <a:latin typeface="Calibri"/>
              </a:rPr>
              <a:t>👥 Muestra y Alcance: </a:t>
            </a:r>
            <a:r>
              <a:rPr sz="850">
                <a:solidFill>
                  <a:srgbClr val="1E293B"/>
                </a:solidFill>
                <a:latin typeface="Calibri"/>
              </a:rPr>
              <a:t>9 terapeutas tradicionales y holísticos con hasta 30 años de experiencia.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44568" y="5596128"/>
            <a:ext cx="3099816" cy="54864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54864" bIns="54864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0F2043"/>
                </a:solidFill>
              </a:rPr>
              <a:t>Vía Cualitativa: </a:t>
            </a:r>
            <a:r>
              <a:rPr sz="900">
                <a:solidFill>
                  <a:srgbClr val="1E293B"/>
                </a:solidFill>
              </a:rPr>
              <a:t>I2: Cuestionario semiestructurado (n = 9)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28432" y="3200400"/>
            <a:ext cx="3429000" cy="3063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28432" y="3200400"/>
            <a:ext cx="3429000" cy="438912"/>
          </a:xfrm>
          <a:prstGeom prst="roundRect">
            <a:avLst>
              <a:gd name="adj" fmla="val 8000"/>
            </a:avLst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8288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📌 OBJETIVO ESPECÍFICO 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93024" y="3703320"/>
            <a:ext cx="3099816" cy="8686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0F2043"/>
                </a:solidFill>
                <a:latin typeface="Calibri"/>
              </a:rPr>
              <a:t>🎯 FORMULACIÓN PROPOSITIVA: </a:t>
            </a:r>
            <a:r>
              <a:rPr sz="900">
                <a:solidFill>
                  <a:srgbClr val="1E293B"/>
                </a:solidFill>
                <a:latin typeface="Calibri"/>
              </a:rPr>
              <a:t>Proponer estrategias complementarias para abordar la MTCI formalizadas en un manual técnico-ético.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93024" y="4645152"/>
            <a:ext cx="3099816" cy="8686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900">
                <a:solidFill>
                  <a:srgbClr val="0D6E5D"/>
                </a:solidFill>
                <a:latin typeface="Calibri"/>
              </a:rPr>
              <a:t>👥 Producto Tangible: </a:t>
            </a:r>
            <a:r>
              <a:rPr sz="850">
                <a:solidFill>
                  <a:srgbClr val="1E293B"/>
                </a:solidFill>
                <a:latin typeface="Calibri"/>
              </a:rPr>
              <a:t>Manual de 18 páginas con algoritmos de decisión clínica (Anexo 16.2).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93024" y="5596128"/>
            <a:ext cx="3099816" cy="54864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54864" bIns="54864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0F2043"/>
                </a:solidFill>
              </a:rPr>
              <a:t>Vía Propositiva: </a:t>
            </a:r>
            <a:r>
              <a:rPr sz="900">
                <a:solidFill>
                  <a:srgbClr val="1E293B"/>
                </a:solidFill>
              </a:rPr>
              <a:t>I3 (n = 9) + Manual Técnico de 18 págs.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92608"/>
            <a:ext cx="3066897" cy="292608"/>
          </a:xfrm>
          <a:prstGeom prst="roundRect">
            <a:avLst>
              <a:gd name="adj" fmla="val 35000"/>
            </a:avLst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>
              <a:defRPr sz="900" b="1">
                <a:solidFill>
                  <a:srgbClr val="0D6E5D"/>
                </a:solidFill>
                <a:latin typeface="Calibri"/>
              </a:defRPr>
            </a:pPr>
            <a:r>
              <a:t>CAPÍTULO II • MARCO TEÓRICO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0F2043"/>
                </a:solidFill>
                <a:latin typeface="Calibri"/>
              </a:defRPr>
            </a:pPr>
            <a:r>
              <a:t>Bases Conceptuales de la MTCI, Taxonomía OMS y Marco Jurídico Nicaragüense</a:t>
            </a:r>
          </a:p>
        </p:txBody>
      </p:sp>
      <p:pic>
        <p:nvPicPr>
          <p:cNvPr id="5" name="Picture 4" descr="unan_shield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28600"/>
            <a:ext cx="533862" cy="7772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188720"/>
            <a:ext cx="8412480" cy="228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89720" y="1188720"/>
            <a:ext cx="2267712" cy="228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UNAN-Managua • CUR-Estelí | Departamento de Educación y Humanidades • Carrera de Psicología (2026)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6455664"/>
            <a:ext cx="761695" cy="237744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 w="9525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0F2043"/>
                </a:solidFill>
                <a:latin typeface="Calibri"/>
              </a:defRPr>
            </a:pPr>
            <a:r>
              <a:t>6 / 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71600"/>
            <a:ext cx="5212080" cy="4892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371600"/>
            <a:ext cx="5212080" cy="438912"/>
          </a:xfrm>
          <a:prstGeom prst="roundRect">
            <a:avLst>
              <a:gd name="adj" fmla="val 8000"/>
            </a:avLst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8288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📚 DESLINDE CONCEPTUAL Y TAXONOMÍA (OMS/OPS)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1901952"/>
            <a:ext cx="4754880" cy="749808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0D6E5D"/>
                </a:solidFill>
                <a:latin typeface="Calibri"/>
              </a:rPr>
              <a:t>🌱 Medicina Tradicional (MT): </a:t>
            </a:r>
            <a:r>
              <a:rPr sz="900">
                <a:solidFill>
                  <a:srgbClr val="1E293B"/>
                </a:solidFill>
                <a:latin typeface="Calibri"/>
              </a:rPr>
              <a:t>Saberes ancestrales transmitidos oralmente para salvaguardar la salud biopsicosocial (OMS, 2025). En Nicaragua se arraiga en la etnobotánica viva.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2724912"/>
            <a:ext cx="4754880" cy="749808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0D6E5D"/>
                </a:solidFill>
                <a:latin typeface="Calibri"/>
              </a:rPr>
              <a:t>🌿 Medicina Complementaria (MC): </a:t>
            </a:r>
            <a:r>
              <a:rPr sz="900">
                <a:solidFill>
                  <a:srgbClr val="1E293B"/>
                </a:solidFill>
                <a:latin typeface="Calibri"/>
              </a:rPr>
              <a:t>Prácticas de atención en salud no autóctonas utilizadas coadyuvantemente sin sustituir a la alopatía (OMS, 2022).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3547872"/>
            <a:ext cx="4754880" cy="749808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0D6E5D"/>
                </a:solidFill>
                <a:latin typeface="Calibri"/>
              </a:rPr>
              <a:t>🔬 Medicina Integrativa (MI): </a:t>
            </a:r>
            <a:r>
              <a:rPr sz="900">
                <a:solidFill>
                  <a:srgbClr val="1E293B"/>
                </a:solidFill>
                <a:latin typeface="Calibri"/>
              </a:rPr>
              <a:t>Coordinación sinérgica de tratamientos convencionales y complementarios bajo evidencia científica (OPS, 2023).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4370832"/>
            <a:ext cx="4754880" cy="749808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0D6E5D"/>
                </a:solidFill>
                <a:latin typeface="Calibri"/>
              </a:rPr>
              <a:t>📑 Taxonomía Ley 774 (Art. 12): </a:t>
            </a:r>
            <a:r>
              <a:rPr sz="900">
                <a:solidFill>
                  <a:srgbClr val="1E293B"/>
                </a:solidFill>
                <a:latin typeface="Calibri"/>
              </a:rPr>
              <a:t>Terapias energéticas (Reiki); manuales (masajes); fitoterapia, aromaterapia; hidroterapia y sistémicas.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5257800"/>
            <a:ext cx="4754880" cy="841248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54864" bIns="54864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0D6E5D"/>
                </a:solidFill>
              </a:rPr>
              <a:t>Paradigma Holístico: </a:t>
            </a:r>
            <a:r>
              <a:rPr sz="900">
                <a:solidFill>
                  <a:srgbClr val="1E293B"/>
                </a:solidFill>
              </a:rPr>
              <a:t>El bienestar supera la ausencia de enfermedad; implica el equilibrio armónico entre mente, cuerpo y entorno social.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8095" y="1371600"/>
            <a:ext cx="5212080" cy="4892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48095" y="1371600"/>
            <a:ext cx="5212080" cy="438912"/>
          </a:xfrm>
          <a:prstGeom prst="roundRect">
            <a:avLst>
              <a:gd name="adj" fmla="val 8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8288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⚖ MARCO JURÍDICO SANITARIO DE NICARAGUA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76695" y="1901952"/>
            <a:ext cx="4754880" cy="10058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B45309"/>
                </a:solidFill>
                <a:latin typeface="Calibri"/>
              </a:rPr>
              <a:t>📜 Ley No. 774 (Asamblea Nacional, 2012): </a:t>
            </a:r>
            <a:r>
              <a:rPr sz="900">
                <a:solidFill>
                  <a:srgbClr val="1E293B"/>
                </a:solidFill>
                <a:latin typeface="Calibri"/>
              </a:rPr>
              <a:t>Ley de Medicina Natural, Terapias Complementarias y Productos Naturales. Consagra el acceso a la MTCI como derecho inalienable y mandata su integración pública.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76695" y="3017520"/>
            <a:ext cx="4754880" cy="10058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B45309"/>
                </a:solidFill>
                <a:latin typeface="Calibri"/>
              </a:rPr>
              <a:t>⛔ Ley No. 292 (Asamblea Nacional, 1998): </a:t>
            </a:r>
            <a:r>
              <a:rPr sz="900">
                <a:solidFill>
                  <a:srgbClr val="1E293B"/>
                </a:solidFill>
                <a:latin typeface="Calibri"/>
              </a:rPr>
              <a:t>Ley de Medicamentos y Farmacias. Prohíbe de forma terminante al profesional de la Psicología prescribir psicofármacos o productos medicinales.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76695" y="4133088"/>
            <a:ext cx="4754880" cy="10058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B45309"/>
                </a:solidFill>
                <a:latin typeface="Calibri"/>
              </a:rPr>
              <a:t>🏛️ Ley No. 759 (Asamblea Nacional, 2011): </a:t>
            </a:r>
            <a:r>
              <a:rPr sz="900">
                <a:solidFill>
                  <a:srgbClr val="1E293B"/>
                </a:solidFill>
                <a:latin typeface="Calibri"/>
              </a:rPr>
              <a:t>Ley de Medicina Tradicional Ancestral. Salvaguarda, promueve y reconoce el patrimonio de los pueblos originarios y afrodescendientes.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76695" y="5257800"/>
            <a:ext cx="4754880" cy="841248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54864" bIns="54864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B91C1C"/>
                </a:solidFill>
              </a:rPr>
              <a:t>Delimitación Deontológica: </a:t>
            </a:r>
            <a:r>
              <a:rPr sz="900">
                <a:solidFill>
                  <a:srgbClr val="1E293B"/>
                </a:solidFill>
              </a:rPr>
              <a:t>El psicólogo debe alfabetizarse en MTCI no para prescribir fármacos, sino para dialogar, psicoeducar y derivar éticamente.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92608"/>
            <a:ext cx="3066897" cy="292608"/>
          </a:xfrm>
          <a:prstGeom prst="roundRect">
            <a:avLst>
              <a:gd name="adj" fmla="val 35000"/>
            </a:avLst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>
              <a:defRPr sz="900" b="1">
                <a:solidFill>
                  <a:srgbClr val="0D6E5D"/>
                </a:solidFill>
                <a:latin typeface="Calibri"/>
              </a:defRPr>
            </a:pPr>
            <a:r>
              <a:t>CAPÍTULO II • MARCO TEÓRICO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0F2043"/>
                </a:solidFill>
                <a:latin typeface="Calibri"/>
              </a:defRPr>
            </a:pPr>
            <a:r>
              <a:t>Dimensión Psicofisiológica: Articulación Clínica Top-Down y Bottom-Up</a:t>
            </a:r>
          </a:p>
        </p:txBody>
      </p:sp>
      <p:pic>
        <p:nvPicPr>
          <p:cNvPr id="5" name="Picture 4" descr="unan_shield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28600"/>
            <a:ext cx="533862" cy="7772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188720"/>
            <a:ext cx="8412480" cy="228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89720" y="1188720"/>
            <a:ext cx="2267712" cy="228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UNAN-Managua • CUR-Estelí | Departamento de Educación y Humanidades • Carrera de Psicología (2026)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6455664"/>
            <a:ext cx="761695" cy="237744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 w="9525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0F2043"/>
                </a:solidFill>
                <a:latin typeface="Calibri"/>
              </a:defRPr>
            </a:pPr>
            <a:r>
              <a:t>7 / 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71600"/>
            <a:ext cx="5212080" cy="3108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371600"/>
            <a:ext cx="5212080" cy="438912"/>
          </a:xfrm>
          <a:prstGeom prst="roundRect">
            <a:avLst>
              <a:gd name="adj" fmla="val 8000"/>
            </a:avLst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8288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🧠 VÍA TOP-DOWN (CORTICAL / REFLEXIVA)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" y="1901952"/>
            <a:ext cx="4809744" cy="7315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0D6E5D"/>
                </a:solidFill>
                <a:latin typeface="Calibri"/>
              </a:rPr>
              <a:t>⚡ Mecanismo Neurocognitivo: </a:t>
            </a:r>
            <a:r>
              <a:rPr sz="900">
                <a:solidFill>
                  <a:srgbClr val="1E293B"/>
                </a:solidFill>
                <a:latin typeface="Calibri"/>
              </a:rPr>
              <a:t>Opera mediante la corteza prefrontal, el lenguaje reflexivo y la resignificación de creencias (Laricchiuta et al., 2023).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" y="2706624"/>
            <a:ext cx="4809744" cy="7315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0D6E5D"/>
                </a:solidFill>
                <a:latin typeface="Calibri"/>
              </a:rPr>
              <a:t>🗣️ Técnicas Propias: </a:t>
            </a:r>
            <a:r>
              <a:rPr sz="900">
                <a:solidFill>
                  <a:srgbClr val="1E293B"/>
                </a:solidFill>
                <a:latin typeface="Calibri"/>
              </a:rPr>
              <a:t>Psicoterapia verbal, diálogo socrático, narrativa autobiográfica y toma de decisiones conscientes.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" y="3511296"/>
            <a:ext cx="4809744" cy="7315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0D6E5D"/>
                </a:solidFill>
                <a:latin typeface="Calibri"/>
              </a:rPr>
              <a:t>⚠️ Limitación en Crisis: </a:t>
            </a:r>
            <a:r>
              <a:rPr sz="900">
                <a:solidFill>
                  <a:srgbClr val="1E293B"/>
                </a:solidFill>
                <a:latin typeface="Calibri"/>
              </a:rPr>
              <a:t>La hiperactivación simpática y el desborde amigdalino bloquean el procesamiento cortical superior.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8095" y="1371600"/>
            <a:ext cx="5212080" cy="3108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48095" y="1371600"/>
            <a:ext cx="5212080" cy="438912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8288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🌿 VÍA BOTTOM-UP (SOMÁTICA / MTCI)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9263" y="1901952"/>
            <a:ext cx="4809744" cy="7315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B45309"/>
                </a:solidFill>
                <a:latin typeface="Calibri"/>
              </a:rPr>
              <a:t>🫀 Mecanismo Neurovegetativo: </a:t>
            </a:r>
            <a:r>
              <a:rPr sz="900">
                <a:solidFill>
                  <a:srgbClr val="1E293B"/>
                </a:solidFill>
                <a:latin typeface="Calibri"/>
              </a:rPr>
              <a:t>Incide sobre el sistema nervioso autónomo, la respuesta vagal ventral y los centros subcorticales (Thomson, 2023).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9263" y="2706624"/>
            <a:ext cx="4809744" cy="7315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B45309"/>
                </a:solidFill>
                <a:latin typeface="Calibri"/>
              </a:rPr>
              <a:t>🫁 Aporte Específico MTCI: </a:t>
            </a:r>
            <a:r>
              <a:rPr sz="900">
                <a:solidFill>
                  <a:srgbClr val="1E293B"/>
                </a:solidFill>
                <a:latin typeface="Calibri"/>
              </a:rPr>
              <a:t>Respiración diafragmática, masoterapia, fitoterapia ansiolítica suave (manzanilla, tilo) y escaneo somático.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9263" y="3511296"/>
            <a:ext cx="4809744" cy="7315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B45309"/>
                </a:solidFill>
                <a:latin typeface="Calibri"/>
              </a:rPr>
              <a:t>✨ Efecto Facilitador: </a:t>
            </a:r>
            <a:r>
              <a:rPr sz="900">
                <a:solidFill>
                  <a:srgbClr val="1E293B"/>
                </a:solidFill>
                <a:latin typeface="Calibri"/>
              </a:rPr>
              <a:t>Desactiva la hipertonía miofascial y devuelve al organismo a su ventana de tolerancia neurofisiológica.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617720"/>
            <a:ext cx="10728655" cy="1645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" y="4617720"/>
            <a:ext cx="10728655" cy="438912"/>
          </a:xfrm>
          <a:prstGeom prst="roundRect">
            <a:avLst>
              <a:gd name="adj" fmla="val 8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8288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🔄 LA SINERGIA CLÍNICA INTEGRATIVA EN SALUD MENTAL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120640"/>
            <a:ext cx="101498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b="1" sz="1100">
                <a:solidFill>
                  <a:srgbClr val="0F2043"/>
                </a:solidFill>
              </a:defRPr>
            </a:pPr>
            <a:r>
              <a:t>La integración de la MTCI en psicología no sustituye el rigor científico; fundamenta un modelo biopsicosocial completo:</a:t>
            </a:r>
          </a:p>
          <a:p>
            <a:pPr algn="l">
              <a:defRPr sz="1000">
                <a:solidFill>
                  <a:srgbClr val="1E293B"/>
                </a:solidFill>
              </a:defRPr>
            </a:pPr>
            <a:r>
              <a:t>Al calmar la sobrecarga somática y neurovegetativa mediante recursos Bottom-Up (masajes, respiración consciente, fitoterapia suave), se instaura una base neurofisiológica de seguridad que optimiza y potencia la psicoterapia reflexiva Top-Down (reestructuración cognitiva y narrativa reflexiva), consolidando una alianza terapéutica culturalmente sensible.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92608"/>
            <a:ext cx="3630168" cy="292608"/>
          </a:xfrm>
          <a:prstGeom prst="roundRect">
            <a:avLst>
              <a:gd name="adj" fmla="val 35000"/>
            </a:avLst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>
              <a:defRPr sz="900" b="1">
                <a:solidFill>
                  <a:srgbClr val="0D6E5D"/>
                </a:solidFill>
                <a:latin typeface="Calibri"/>
              </a:defRPr>
            </a:pPr>
            <a:r>
              <a:t>CAPÍTULO III • DISEÑO METODOLÓGICO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0F2043"/>
                </a:solidFill>
                <a:latin typeface="Calibri"/>
              </a:defRPr>
            </a:pPr>
            <a:r>
              <a:t>Tipología de Estudio, Paradigma Pragmático y Fases de la Investigación</a:t>
            </a:r>
          </a:p>
        </p:txBody>
      </p:sp>
      <p:pic>
        <p:nvPicPr>
          <p:cNvPr id="5" name="Picture 4" descr="unan_shield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28600"/>
            <a:ext cx="533862" cy="7772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188720"/>
            <a:ext cx="8412480" cy="228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89720" y="1188720"/>
            <a:ext cx="2267712" cy="228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UNAN-Managua • CUR-Estelí | Departamento de Educación y Humanidades • Carrera de Psicología (2026)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6455664"/>
            <a:ext cx="761695" cy="237744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 w="9525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0F2043"/>
                </a:solidFill>
                <a:latin typeface="Calibri"/>
              </a:defRPr>
            </a:pPr>
            <a:r>
              <a:t>8 / 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71600"/>
            <a:ext cx="5212080" cy="4892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371600"/>
            <a:ext cx="5212080" cy="438912"/>
          </a:xfrm>
          <a:prstGeom prst="roundRect">
            <a:avLst>
              <a:gd name="adj" fmla="val 8000"/>
            </a:avLst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8288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📐 TIPOLOGÍA Y PARADIGMA METODOLÓGICO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1901952"/>
            <a:ext cx="4754880" cy="749808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0D6E5D"/>
                </a:solidFill>
                <a:latin typeface="Calibri"/>
              </a:rPr>
              <a:t>📊 Enfoque Mixto Concurrente (DIAC): </a:t>
            </a:r>
            <a:r>
              <a:rPr sz="900">
                <a:solidFill>
                  <a:srgbClr val="1E293B"/>
                </a:solidFill>
                <a:latin typeface="Calibri"/>
              </a:rPr>
              <a:t>Articula la medición cuantitativa (OE1) con la hermenéutica cualitativa (OE2 y OE3) en discusión dialógica.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2724912"/>
            <a:ext cx="4754880" cy="749808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0D6E5D"/>
                </a:solidFill>
                <a:latin typeface="Calibri"/>
              </a:rPr>
              <a:t>🧩 Paradigma Pragmático (Arias, 2023): </a:t>
            </a:r>
            <a:r>
              <a:rPr sz="900">
                <a:solidFill>
                  <a:srgbClr val="1E293B"/>
                </a:solidFill>
                <a:latin typeface="Calibri"/>
              </a:rPr>
              <a:t>Supera disputas dogmáticas; supedita el método a resolver el problema real en la clínica y aulas del CUR-Estelí.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3547872"/>
            <a:ext cx="4754880" cy="749808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0D6E5D"/>
                </a:solidFill>
                <a:latin typeface="Calibri"/>
              </a:rPr>
              <a:t>⏱️ Nivel y Diseño Temporal: </a:t>
            </a:r>
            <a:r>
              <a:rPr sz="900">
                <a:solidFill>
                  <a:srgbClr val="1E293B"/>
                </a:solidFill>
                <a:latin typeface="Calibri"/>
              </a:rPr>
              <a:t>Descriptivo con alcance exploratorio y propositivo; diseño no experimental y transversal (segundo semestre 2026).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4370832"/>
            <a:ext cx="4754880" cy="749808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0D6E5D"/>
                </a:solidFill>
                <a:latin typeface="Calibri"/>
              </a:rPr>
              <a:t>🏛️ Adscripción Institucional: </a:t>
            </a:r>
            <a:r>
              <a:rPr sz="900">
                <a:solidFill>
                  <a:srgbClr val="1E293B"/>
                </a:solidFill>
                <a:latin typeface="Calibri"/>
              </a:rPr>
              <a:t>Campo UNESCO 0313 (Psicología), Línea SAL-3 (UNAN-Managua) y Agenda Nacional de Investigación SETEC.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5257800"/>
            <a:ext cx="4754880" cy="841248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54864" bIns="54864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0F2043"/>
                </a:solidFill>
              </a:rPr>
              <a:t>Rigor Metodológico: </a:t>
            </a:r>
            <a:r>
              <a:rPr sz="900">
                <a:solidFill>
                  <a:srgbClr val="1E293B"/>
                </a:solidFill>
              </a:rPr>
              <a:t>Validación de instrumentos mediante juicio crítico de 4 expertos universitarios y triangulación concurrente de fuentes.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8095" y="1371600"/>
            <a:ext cx="5212080" cy="4892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48095" y="1371600"/>
            <a:ext cx="5212080" cy="438912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8288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🔄 LAS CUATRO FASES DE LA INVESTIGACIÓN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76695" y="1901952"/>
            <a:ext cx="4754880" cy="749808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B45309"/>
                </a:solidFill>
                <a:latin typeface="Calibri"/>
              </a:rPr>
              <a:t>1️⃣ FASE 1: Preliminar y Fundamentación </a:t>
            </a:r>
            <a:r>
              <a:rPr sz="900">
                <a:solidFill>
                  <a:srgbClr val="1E293B"/>
                </a:solidFill>
                <a:latin typeface="Calibri"/>
              </a:rPr>
              <a:t>Delimitación del problema, formulación de objetivos, revisión sistemática y marco de Leyes 774, 759 y 292.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76695" y="2724912"/>
            <a:ext cx="4754880" cy="749808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B45309"/>
                </a:solidFill>
                <a:latin typeface="Calibri"/>
              </a:rPr>
              <a:t>2️⃣ FASE 2: Diseño y Validación Instrumental </a:t>
            </a:r>
            <a:r>
              <a:rPr sz="900">
                <a:solidFill>
                  <a:srgbClr val="1E293B"/>
                </a:solidFill>
                <a:latin typeface="Calibri"/>
              </a:rPr>
              <a:t>Construcción de cuestionarios I1, I2 e I3; juicio crítico de 4 expertos universitarios en pertinencia y escala.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76695" y="3547872"/>
            <a:ext cx="4754880" cy="749808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B45309"/>
                </a:solidFill>
                <a:latin typeface="Calibri"/>
              </a:rPr>
              <a:t>3️⃣ FASE 3: Trabajo de Campo y Análisis Empírico </a:t>
            </a:r>
            <a:r>
              <a:rPr sz="900">
                <a:solidFill>
                  <a:srgbClr val="1E293B"/>
                </a:solidFill>
                <a:latin typeface="Calibri"/>
              </a:rPr>
              <a:t>Levantamiento muestral (n = 68 alumnos, n = 9 facilitadores, n = 9 docentes), SPSS v26 y análisis temático.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76695" y="4370832"/>
            <a:ext cx="4754880" cy="749808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B45309"/>
                </a:solidFill>
                <a:latin typeface="Calibri"/>
              </a:rPr>
              <a:t>4️⃣ FASE 4: Formulación Propositiva del Manual (OE3) </a:t>
            </a:r>
            <a:r>
              <a:rPr sz="900">
                <a:solidFill>
                  <a:srgbClr val="1E293B"/>
                </a:solidFill>
                <a:latin typeface="Calibri"/>
              </a:rPr>
              <a:t>Traducción de brechas diagnósticas en el Manual de Estrategias MTCI de 18 páginas para la práctica clínica.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76695" y="5257800"/>
            <a:ext cx="4754880" cy="841248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54864" bIns="54864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B45309"/>
                </a:solidFill>
              </a:rPr>
              <a:t>Producto Final Tangible: </a:t>
            </a:r>
            <a:r>
              <a:rPr sz="900">
                <a:solidFill>
                  <a:srgbClr val="1E293B"/>
                </a:solidFill>
              </a:rPr>
              <a:t>El proceso investigativo culmina en una herramienta aplicable in extenso en el Anexo 16.2 de la tesis.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92608"/>
            <a:ext cx="3630168" cy="292608"/>
          </a:xfrm>
          <a:prstGeom prst="roundRect">
            <a:avLst>
              <a:gd name="adj" fmla="val 35000"/>
            </a:avLst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>
              <a:defRPr sz="900" b="1">
                <a:solidFill>
                  <a:srgbClr val="0D6E5D"/>
                </a:solidFill>
                <a:latin typeface="Calibri"/>
              </a:defRPr>
            </a:pPr>
            <a:r>
              <a:t>CAPÍTULO III • DISEÑO METODOLÓGICO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0F2043"/>
                </a:solidFill>
                <a:latin typeface="Calibri"/>
              </a:defRPr>
            </a:pPr>
            <a:r>
              <a:t>Unidades de Análisis, Muestra Participante (N = 86) e Instrumentos de Campo</a:t>
            </a:r>
          </a:p>
        </p:txBody>
      </p:sp>
      <p:pic>
        <p:nvPicPr>
          <p:cNvPr id="5" name="Picture 4" descr="unan_shield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28600"/>
            <a:ext cx="533862" cy="7772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188720"/>
            <a:ext cx="8412480" cy="228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89720" y="1188720"/>
            <a:ext cx="2267712" cy="228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UNAN-Managua • CUR-Estelí | Departamento de Educación y Humanidades • Carrera de Psicología (2026)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6455664"/>
            <a:ext cx="761695" cy="237744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 w="9525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0F2043"/>
                </a:solidFill>
                <a:latin typeface="Calibri"/>
              </a:defRPr>
            </a:pPr>
            <a:r>
              <a:t>9 / 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71600"/>
            <a:ext cx="4937760" cy="4892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371600"/>
            <a:ext cx="4937760" cy="438912"/>
          </a:xfrm>
          <a:prstGeom prst="roundRect">
            <a:avLst>
              <a:gd name="adj" fmla="val 8000"/>
            </a:avLst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8288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🔍 CRITERIOS DE SELECCIÓN MUESTRAL</a:t>
            </a:r>
          </a:p>
        </p:txBody>
      </p:sp>
      <p:pic>
        <p:nvPicPr>
          <p:cNvPr id="13" name="Picture 12" descr="figura_02_criterios_inclusion_excl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920240"/>
            <a:ext cx="4663440" cy="324612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68680" y="5303520"/>
            <a:ext cx="4663440" cy="804672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54864" bIns="54864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0F2043"/>
                </a:solidFill>
              </a:rPr>
              <a:t>Figura 2 (APA 7): </a:t>
            </a:r>
            <a:r>
              <a:rPr sz="900">
                <a:solidFill>
                  <a:srgbClr val="1E293B"/>
                </a:solidFill>
              </a:rPr>
              <a:t>Flujograma de inclusión y exclusión aplicado a estudiantes, facilitadores y docentes (Elaboración propia, 2026).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73775" y="1371600"/>
            <a:ext cx="5486400" cy="4892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73775" y="1371600"/>
            <a:ext cx="5486400" cy="438912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8288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👥 TRES UNIDADES DE ANÁLISIS (N = 86)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920240"/>
            <a:ext cx="1645920" cy="731520"/>
          </a:xfrm>
          <a:prstGeom prst="roundRect">
            <a:avLst>
              <a:gd name="adj" fmla="val 15000"/>
            </a:avLst>
          </a:prstGeom>
          <a:solidFill>
            <a:srgbClr val="EFF6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500" b="1">
                <a:solidFill>
                  <a:srgbClr val="0F2043"/>
                </a:solidFill>
                <a:latin typeface="Calibri"/>
              </a:defRPr>
            </a:pPr>
            <a:r>
              <a:t>n = 68</a:t>
            </a:r>
          </a:p>
          <a:p>
            <a:pPr algn="ctr">
              <a:defRPr sz="850" b="1">
                <a:solidFill>
                  <a:srgbClr val="1E293B"/>
                </a:solidFill>
                <a:latin typeface="Calibri"/>
              </a:defRPr>
            </a:pPr>
            <a:r>
              <a:t>Estudiantes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27848" y="1920240"/>
            <a:ext cx="1645920" cy="731520"/>
          </a:xfrm>
          <a:prstGeom prst="roundRect">
            <a:avLst>
              <a:gd name="adj" fmla="val 15000"/>
            </a:avLst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500" b="1">
                <a:solidFill>
                  <a:srgbClr val="B45309"/>
                </a:solidFill>
                <a:latin typeface="Calibri"/>
              </a:defRPr>
            </a:pPr>
            <a:r>
              <a:t>n = 9</a:t>
            </a:r>
          </a:p>
          <a:p>
            <a:pPr algn="ctr">
              <a:defRPr sz="850" b="1">
                <a:solidFill>
                  <a:srgbClr val="1E293B"/>
                </a:solidFill>
                <a:latin typeface="Calibri"/>
              </a:defRPr>
            </a:pPr>
            <a:r>
              <a:t>Facilitadores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83496" y="1920240"/>
            <a:ext cx="1645920" cy="731520"/>
          </a:xfrm>
          <a:prstGeom prst="roundRect">
            <a:avLst>
              <a:gd name="adj" fmla="val 15000"/>
            </a:avLst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500" b="1">
                <a:solidFill>
                  <a:srgbClr val="0D6E5D"/>
                </a:solidFill>
                <a:latin typeface="Calibri"/>
              </a:defRPr>
            </a:pPr>
            <a:r>
              <a:t>n = 9</a:t>
            </a:r>
          </a:p>
          <a:p>
            <a:pPr algn="ctr">
              <a:defRPr sz="850" b="1">
                <a:solidFill>
                  <a:srgbClr val="1E293B"/>
                </a:solidFill>
                <a:latin typeface="Calibri"/>
              </a:defRPr>
            </a:pPr>
            <a:r>
              <a:t>Docentes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2816352"/>
            <a:ext cx="5084064" cy="7315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0D6E5D"/>
                </a:solidFill>
                <a:latin typeface="Calibri"/>
              </a:rPr>
              <a:t>🎓 1. Estudiantes de Psicología (n = 68): </a:t>
            </a:r>
            <a:r>
              <a:rPr sz="900">
                <a:solidFill>
                  <a:srgbClr val="1E293B"/>
                </a:solidFill>
                <a:latin typeface="Calibri"/>
              </a:rPr>
              <a:t>53 de 4.° año (77.9%) y 15 de 5.° año (22.1%) en turnos matutino y sabatino. Cuestionario I1 (12 ítems Likert y selección múltiple en Google Forms).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21024"/>
            <a:ext cx="5084064" cy="7315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B45309"/>
                </a:solidFill>
                <a:latin typeface="Calibri"/>
              </a:rPr>
              <a:t>🌿 2. Facilitadores Locales (n = 9): </a:t>
            </a:r>
            <a:r>
              <a:rPr sz="900">
                <a:solidFill>
                  <a:srgbClr val="1E293B"/>
                </a:solidFill>
                <a:latin typeface="Calibri"/>
              </a:rPr>
              <a:t>7 mujeres y 2 hombres con amplia trayectoria en Estelí. Cuestionario cualitativo semiestructurado I2 (11 preguntas abiertas).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425696"/>
            <a:ext cx="5084064" cy="7315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0F2043"/>
                </a:solidFill>
                <a:latin typeface="Calibri"/>
              </a:rPr>
              <a:t>👨‍🏫 3. Claustro Docente-Psicólogos (n = 9): </a:t>
            </a:r>
            <a:r>
              <a:rPr sz="900">
                <a:solidFill>
                  <a:srgbClr val="1E293B"/>
                </a:solidFill>
                <a:latin typeface="Calibri"/>
              </a:rPr>
              <a:t>Profesores activos de grado y posgrado. Cuestionario reflexivo I3 (14 preguntas abiertas sobre pertinencia curricular).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5303520"/>
            <a:ext cx="5084064" cy="804672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54864" bIns="54864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0D6E5D"/>
                </a:solidFill>
              </a:rPr>
              <a:t>Triangulación Concurrente: </a:t>
            </a:r>
            <a:r>
              <a:rPr sz="900">
                <a:solidFill>
                  <a:srgbClr val="1E293B"/>
                </a:solidFill>
              </a:rPr>
              <a:t>Convergencia metodológica de la medición estandarizada con la fenomenología territorial y pedagógica.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92608"/>
            <a:ext cx="3630168" cy="292608"/>
          </a:xfrm>
          <a:prstGeom prst="roundRect">
            <a:avLst>
              <a:gd name="adj" fmla="val 35000"/>
            </a:avLst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>
              <a:defRPr sz="900" b="1">
                <a:solidFill>
                  <a:srgbClr val="0D6E5D"/>
                </a:solidFill>
                <a:latin typeface="Calibri"/>
              </a:defRPr>
            </a:pPr>
            <a:r>
              <a:t>CAPÍTULO IV • RESULTADOS EMPÍRICOS (1/4)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0F2043"/>
                </a:solidFill>
                <a:latin typeface="Calibri"/>
              </a:defRPr>
            </a:pPr>
            <a:r>
              <a:t>Caracterización de la Muestra Estudiantil y Brecha de Conocimiento Normativo (OE1)</a:t>
            </a:r>
          </a:p>
        </p:txBody>
      </p:sp>
      <p:pic>
        <p:nvPicPr>
          <p:cNvPr id="5" name="Picture 4" descr="unan_shield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28600"/>
            <a:ext cx="533862" cy="7772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188720"/>
            <a:ext cx="8412480" cy="228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89720" y="1188720"/>
            <a:ext cx="2267712" cy="228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UNAN-Managua • CUR-Estelí | Departamento de Educación y Humanidades • Carrera de Psicología (2026)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6455664"/>
            <a:ext cx="761695" cy="237744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 w="9525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0F2043"/>
                </a:solidFill>
                <a:latin typeface="Calibri"/>
              </a:defRPr>
            </a:pPr>
            <a:r>
              <a:t>10 / 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71600"/>
            <a:ext cx="5212080" cy="4892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371600"/>
            <a:ext cx="5212080" cy="438912"/>
          </a:xfrm>
          <a:prstGeom prst="roundRect">
            <a:avLst>
              <a:gd name="adj" fmla="val 8000"/>
            </a:avLst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8288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📊 CARACTERIZACIÓN SOCIODEMOGRÁFICA (n = 68)</a:t>
            </a:r>
          </a:p>
        </p:txBody>
      </p:sp>
      <p:pic>
        <p:nvPicPr>
          <p:cNvPr id="13" name="Picture 12" descr="figura_03_demografia_estudian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20240"/>
            <a:ext cx="4846320" cy="233172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960120" y="4343400"/>
            <a:ext cx="4754880" cy="804672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900">
                <a:solidFill>
                  <a:srgbClr val="0F2043"/>
                </a:solidFill>
                <a:latin typeface="Calibri"/>
              </a:rPr>
              <a:t>👥 Perfil Sociodemográfico: </a:t>
            </a:r>
            <a:r>
              <a:rPr sz="850">
                <a:solidFill>
                  <a:srgbClr val="1E293B"/>
                </a:solidFill>
                <a:latin typeface="Calibri"/>
              </a:rPr>
              <a:t>Feminización: 82.4% mujeres (n = 56). Colectivo joven: 61.8% entre 20 y 22 años. Formación: 77.9% en 4.º año y 22.1% en 5.º año preprofesional.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5257800"/>
            <a:ext cx="4754880" cy="841248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54864" bIns="54864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0F2043"/>
                </a:solidFill>
              </a:rPr>
              <a:t>Perfil Formativo: </a:t>
            </a:r>
            <a:r>
              <a:rPr sz="900">
                <a:solidFill>
                  <a:srgbClr val="1E293B"/>
                </a:solidFill>
              </a:rPr>
              <a:t>Población colectivamente femenina, joven y en culminación de prácticas clínicas.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8095" y="1371600"/>
            <a:ext cx="5212080" cy="4892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48095" y="1371600"/>
            <a:ext cx="5212080" cy="438912"/>
          </a:xfrm>
          <a:prstGeom prst="roundRect">
            <a:avLst>
              <a:gd name="adj" fmla="val 8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8288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⚠️ BRECHA COGNITIVO-NORMATIVA EN ESTUDIANTES</a:t>
            </a:r>
          </a:p>
        </p:txBody>
      </p:sp>
      <p:pic>
        <p:nvPicPr>
          <p:cNvPr id="18" name="Picture 17" descr="figura_04_dominio_conceptual_normativo_estudiant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0975" y="1920240"/>
            <a:ext cx="4846320" cy="233172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476695" y="4343400"/>
            <a:ext cx="4754880" cy="804672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900">
                <a:solidFill>
                  <a:srgbClr val="B91C1C"/>
                </a:solidFill>
                <a:latin typeface="Calibri"/>
              </a:rPr>
              <a:t>⚠️ Disparidad Cognitiva: </a:t>
            </a:r>
            <a:r>
              <a:rPr sz="850">
                <a:solidFill>
                  <a:srgbClr val="1E293B"/>
                </a:solidFill>
                <a:latin typeface="Calibri"/>
              </a:rPr>
              <a:t>67.6% acierta concepto OMS pero 75% ignora aplicación clínica. 58.8% desconoce Ley 774 y 64.7% desconoce Ley 292 (prohibición de prescribir fármacos).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76695" y="5257800"/>
            <a:ext cx="4754880" cy="841248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54864" bIns="54864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B91C1C"/>
                </a:solidFill>
              </a:rPr>
              <a:t>Alerta Formativa: </a:t>
            </a:r>
            <a:r>
              <a:rPr sz="900">
                <a:solidFill>
                  <a:srgbClr val="1E293B"/>
                </a:solidFill>
              </a:rPr>
              <a:t>La brecha jurídica expone a los futuros profesionales a dilemas deontológicos y riesgos de mala praxis.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92608"/>
            <a:ext cx="3630168" cy="292608"/>
          </a:xfrm>
          <a:prstGeom prst="roundRect">
            <a:avLst>
              <a:gd name="adj" fmla="val 35000"/>
            </a:avLst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>
              <a:defRPr sz="900" b="1">
                <a:solidFill>
                  <a:srgbClr val="0D6E5D"/>
                </a:solidFill>
                <a:latin typeface="Calibri"/>
              </a:defRPr>
            </a:pPr>
            <a:r>
              <a:t>CAPÍTULO IV • RESULTADOS EMPÍRICOS (2/4)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0F2043"/>
                </a:solidFill>
                <a:latin typeface="Calibri"/>
              </a:defRPr>
            </a:pPr>
            <a:r>
              <a:t>La Paradoja Formativa y la Eficacia Subjetiva del Autocuidado Somático (OE1)</a:t>
            </a:r>
          </a:p>
        </p:txBody>
      </p:sp>
      <p:pic>
        <p:nvPicPr>
          <p:cNvPr id="5" name="Picture 4" descr="unan_shield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28600"/>
            <a:ext cx="533862" cy="7772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188720"/>
            <a:ext cx="8412480" cy="228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89720" y="1188720"/>
            <a:ext cx="2267712" cy="228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UNAN-Managua • CUR-Estelí | Departamento de Educación y Humanidades • Carrera de Psicología (2026)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6455664"/>
            <a:ext cx="761695" cy="237744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 w="9525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0F2043"/>
                </a:solidFill>
                <a:latin typeface="Calibri"/>
              </a:defRPr>
            </a:pPr>
            <a:r>
              <a:t>11 / 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71600"/>
            <a:ext cx="5212080" cy="4892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371600"/>
            <a:ext cx="5212080" cy="438912"/>
          </a:xfrm>
          <a:prstGeom prst="roundRect">
            <a:avLst>
              <a:gd name="adj" fmla="val 8000"/>
            </a:avLst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8288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⚖️ LA GRAN PARADOJA FORMATIVA ESTUDIANTIL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1920240"/>
            <a:ext cx="4754880" cy="932688"/>
          </a:xfrm>
          <a:prstGeom prst="roundRect">
            <a:avLst>
              <a:gd name="adj" fmla="val 15000"/>
            </a:avLst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500" b="1">
                <a:solidFill>
                  <a:srgbClr val="0D6E5D"/>
                </a:solidFill>
                <a:latin typeface="Calibri"/>
              </a:defRPr>
            </a:pPr>
            <a:r>
              <a:t>89.7%</a:t>
            </a:r>
          </a:p>
          <a:p>
            <a:pPr algn="ctr">
              <a:defRPr sz="850" b="1">
                <a:solidFill>
                  <a:srgbClr val="1E293B"/>
                </a:solidFill>
                <a:latin typeface="Calibri"/>
              </a:defRPr>
            </a:pPr>
            <a:r>
              <a:t>VALIDA LA PERTINENCIA CLÍNICA DE LA MTCI EN PSICOTERAPIA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2980944"/>
            <a:ext cx="4754880" cy="932688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500" b="1">
                <a:solidFill>
                  <a:srgbClr val="B91C1C"/>
                </a:solidFill>
                <a:latin typeface="Calibri"/>
              </a:defRPr>
            </a:pPr>
            <a:r>
              <a:t>88.2%</a:t>
            </a:r>
          </a:p>
          <a:p>
            <a:pPr algn="ctr">
              <a:defRPr sz="850" b="1">
                <a:solidFill>
                  <a:srgbClr val="1E293B"/>
                </a:solidFill>
                <a:latin typeface="Calibri"/>
              </a:defRPr>
            </a:pPr>
            <a:r>
              <a:t>AUTOPERCIBE PREPARACIÓN INSUFICIENTE O NULA PARA DERIVAR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4041648"/>
            <a:ext cx="4754880" cy="932688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500" b="1">
                <a:solidFill>
                  <a:srgbClr val="B91C1C"/>
                </a:solidFill>
                <a:latin typeface="Calibri"/>
              </a:defRPr>
            </a:pPr>
            <a:r>
              <a:t>86.8%</a:t>
            </a:r>
          </a:p>
          <a:p>
            <a:pPr algn="ctr">
              <a:defRPr sz="850" b="1">
                <a:solidFill>
                  <a:srgbClr val="1E293B"/>
                </a:solidFill>
                <a:latin typeface="Calibri"/>
              </a:defRPr>
            </a:pPr>
            <a:r>
              <a:t>AUTOPERCIBE PREPARACIÓN INSUFICIENTE O NULA PARA PSICOEDUCAR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5257800"/>
            <a:ext cx="4754880" cy="841248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54864" bIns="54864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B45309"/>
                </a:solidFill>
              </a:rPr>
              <a:t>Paradoja Medular: </a:t>
            </a:r>
            <a:r>
              <a:rPr sz="900">
                <a:solidFill>
                  <a:srgbClr val="1E293B"/>
                </a:solidFill>
              </a:rPr>
              <a:t>Convicción ética plena sobre el valor de la MTCI, pero con total desamparo procedimental y curricular.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8095" y="1371600"/>
            <a:ext cx="5212080" cy="4892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48095" y="1371600"/>
            <a:ext cx="5212080" cy="438912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8288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🧘 USO PERSONAL Y EFICACIA SOMÁTICA PERCIBIDA</a:t>
            </a:r>
          </a:p>
        </p:txBody>
      </p:sp>
      <p:pic>
        <p:nvPicPr>
          <p:cNvPr id="19" name="Picture 18" descr="figura_07_frecuencia_uso_estudian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0975" y="1920240"/>
            <a:ext cx="4846320" cy="233172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476695" y="4343400"/>
            <a:ext cx="4754880" cy="804672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900">
                <a:solidFill>
                  <a:srgbClr val="0D6E5D"/>
                </a:solidFill>
                <a:latin typeface="Calibri"/>
              </a:rPr>
              <a:t>🌿 Patrón de Uso Empírico: </a:t>
            </a:r>
            <a:r>
              <a:rPr sz="850">
                <a:solidFill>
                  <a:srgbClr val="1E293B"/>
                </a:solidFill>
                <a:latin typeface="Calibri"/>
              </a:rPr>
              <a:t>Carácter reactivo: 52.9% no usa la MTCI preventivamente. 86.7% reporta alivio somático favorable en estrés. 0.0% reporta efectos adversos.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76695" y="5257800"/>
            <a:ext cx="4754880" cy="841248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54864" bIns="54864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0D6E5D"/>
                </a:solidFill>
              </a:rPr>
              <a:t>Eficacia Somática: </a:t>
            </a:r>
            <a:r>
              <a:rPr sz="900">
                <a:solidFill>
                  <a:srgbClr val="1E293B"/>
                </a:solidFill>
              </a:rPr>
              <a:t>El estudiantado experimenta en primera persona la eficacia del alivio somático frente al estrés académico.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92608"/>
            <a:ext cx="3630168" cy="292608"/>
          </a:xfrm>
          <a:prstGeom prst="roundRect">
            <a:avLst>
              <a:gd name="adj" fmla="val 35000"/>
            </a:avLst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>
              <a:defRPr sz="900" b="1">
                <a:solidFill>
                  <a:srgbClr val="0D6E5D"/>
                </a:solidFill>
                <a:latin typeface="Calibri"/>
              </a:defRPr>
            </a:pPr>
            <a:r>
              <a:t>CAPÍTULO IV • RESULTADOS EMPÍRICOS (3/4)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0F2043"/>
                </a:solidFill>
                <a:latin typeface="Calibri"/>
              </a:defRPr>
            </a:pPr>
            <a:r>
              <a:t>Perspectiva de Facilitadores Locales de Estelí y Claustro Docente (OE2 y OE3)</a:t>
            </a:r>
          </a:p>
        </p:txBody>
      </p:sp>
      <p:pic>
        <p:nvPicPr>
          <p:cNvPr id="5" name="Picture 4" descr="unan_shield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28600"/>
            <a:ext cx="533862" cy="7772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188720"/>
            <a:ext cx="8412480" cy="228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89720" y="1188720"/>
            <a:ext cx="2267712" cy="228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UNAN-Managua • CUR-Estelí | Departamento de Educación y Humanidades • Carrera de Psicología (2026)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6455664"/>
            <a:ext cx="761695" cy="237744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 w="9525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0F2043"/>
                </a:solidFill>
                <a:latin typeface="Calibri"/>
              </a:defRPr>
            </a:pPr>
            <a:r>
              <a:t>12 / 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71600"/>
            <a:ext cx="5212080" cy="4892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371600"/>
            <a:ext cx="5212080" cy="438912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8288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🌿 FACILITADORES LOCALES DE ESTELÍ (n = 9)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1901952"/>
            <a:ext cx="1536192" cy="658368"/>
          </a:xfrm>
          <a:prstGeom prst="roundRect">
            <a:avLst>
              <a:gd name="adj" fmla="val 15000"/>
            </a:avLst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500" b="1">
                <a:solidFill>
                  <a:srgbClr val="0D6E5D"/>
                </a:solidFill>
                <a:latin typeface="Calibri"/>
              </a:defRPr>
            </a:pPr>
            <a:r>
              <a:t>77.8%</a:t>
            </a:r>
          </a:p>
          <a:p>
            <a:pPr algn="ctr">
              <a:defRPr sz="850" b="1">
                <a:solidFill>
                  <a:srgbClr val="1E293B"/>
                </a:solidFill>
                <a:latin typeface="Calibri"/>
              </a:defRPr>
            </a:pPr>
            <a:r>
              <a:t>Mujeres (n=7)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9464" y="1901952"/>
            <a:ext cx="1536192" cy="658368"/>
          </a:xfrm>
          <a:prstGeom prst="roundRect">
            <a:avLst>
              <a:gd name="adj" fmla="val 15000"/>
            </a:avLst>
          </a:prstGeom>
          <a:solidFill>
            <a:srgbClr val="EFF6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500" b="1">
                <a:solidFill>
                  <a:srgbClr val="0F2043"/>
                </a:solidFill>
                <a:latin typeface="Calibri"/>
              </a:defRPr>
            </a:pPr>
            <a:r>
              <a:t>44.4%</a:t>
            </a:r>
          </a:p>
          <a:p>
            <a:pPr algn="ctr">
              <a:defRPr sz="850" b="1">
                <a:solidFill>
                  <a:srgbClr val="1E293B"/>
                </a:solidFill>
                <a:latin typeface="Calibri"/>
              </a:defRPr>
            </a:pPr>
            <a:r>
              <a:t>&gt;20 Años Exp.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78808" y="1901952"/>
            <a:ext cx="1536192" cy="658368"/>
          </a:xfrm>
          <a:prstGeom prst="roundRect">
            <a:avLst>
              <a:gd name="adj" fmla="val 15000"/>
            </a:avLst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500" b="1">
                <a:solidFill>
                  <a:srgbClr val="B45309"/>
                </a:solidFill>
                <a:latin typeface="Calibri"/>
              </a:defRPr>
            </a:pPr>
            <a:r>
              <a:t>100%</a:t>
            </a:r>
          </a:p>
          <a:p>
            <a:pPr algn="ctr">
              <a:defRPr sz="850" b="1">
                <a:solidFill>
                  <a:srgbClr val="1E293B"/>
                </a:solidFill>
                <a:latin typeface="Calibri"/>
              </a:defRPr>
            </a:pPr>
            <a:r>
              <a:t>Alivio Somático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2633472"/>
            <a:ext cx="4754880" cy="603504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0D6E5D"/>
                </a:solidFill>
                <a:latin typeface="Calibri"/>
              </a:rPr>
              <a:t>📍 Cobertura Territorial y Terapias: </a:t>
            </a:r>
            <a:r>
              <a:rPr sz="900">
                <a:solidFill>
                  <a:srgbClr val="1E293B"/>
                </a:solidFill>
                <a:latin typeface="Calibri"/>
              </a:rPr>
              <a:t>Concentrados en Estelí urbano (77.8%); oferta en masoterapia, fitoterapia, reflexología y reiki.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3300984"/>
            <a:ext cx="4754880" cy="603504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0D6E5D"/>
                </a:solidFill>
                <a:latin typeface="Calibri"/>
              </a:rPr>
              <a:t>⚡ Alivio Somático Directo (100%): </a:t>
            </a:r>
            <a:r>
              <a:rPr sz="900">
                <a:solidFill>
                  <a:srgbClr val="1E293B"/>
                </a:solidFill>
                <a:latin typeface="Calibri"/>
              </a:rPr>
              <a:t>Reducción drástica de hiperactivación simpática; 88.9% constata mayor receptividad reflexiva.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" y="3968496"/>
            <a:ext cx="4754880" cy="603504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0D6E5D"/>
                </a:solidFill>
                <a:latin typeface="Calibri"/>
              </a:rPr>
              <a:t>🛑 Estigma Sociocultural (100%): </a:t>
            </a:r>
            <a:r>
              <a:rPr sz="900">
                <a:solidFill>
                  <a:srgbClr val="1E293B"/>
                </a:solidFill>
                <a:latin typeface="Calibri"/>
              </a:rPr>
              <a:t>Enfrentan con frecuencia mitos, tabúes y prejuicios religiosos en la población sobre medicina natural.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4636008"/>
            <a:ext cx="4754880" cy="603504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0D6E5D"/>
                </a:solidFill>
                <a:latin typeface="Calibri"/>
              </a:rPr>
              <a:t>💼 Factor Económico y Adherencia (77.8%): </a:t>
            </a:r>
            <a:r>
              <a:rPr sz="900">
                <a:solidFill>
                  <a:srgbClr val="1E293B"/>
                </a:solidFill>
                <a:latin typeface="Calibri"/>
              </a:rPr>
              <a:t>La limitada capacidad adquisitiva interrumpe la continuidad y adherencia de los usuarios.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5303520"/>
            <a:ext cx="4754880" cy="804672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54864" bIns="54864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B91C1C"/>
                </a:solidFill>
              </a:rPr>
              <a:t>Desafío Territorial: </a:t>
            </a:r>
            <a:r>
              <a:rPr sz="900">
                <a:solidFill>
                  <a:srgbClr val="1E293B"/>
                </a:solidFill>
              </a:rPr>
              <a:t>Persisten trabas burocráticas de acreditación (22.2%) y asimetría con el sistema biomédico hegemónico.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8095" y="1371600"/>
            <a:ext cx="5212080" cy="4892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48095" y="1371600"/>
            <a:ext cx="5212080" cy="438912"/>
          </a:xfrm>
          <a:prstGeom prst="roundRect">
            <a:avLst>
              <a:gd name="adj" fmla="val 8000"/>
            </a:avLst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8288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🎓 CLAUSTRO DOCENTE-PSICÓLOGOS (n = 9)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76695" y="1901952"/>
            <a:ext cx="1536192" cy="658368"/>
          </a:xfrm>
          <a:prstGeom prst="roundRect">
            <a:avLst>
              <a:gd name="adj" fmla="val 15000"/>
            </a:avLst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500" b="1">
                <a:solidFill>
                  <a:srgbClr val="0D6E5D"/>
                </a:solidFill>
                <a:latin typeface="Calibri"/>
              </a:defRPr>
            </a:pPr>
            <a:r>
              <a:t>100%</a:t>
            </a:r>
          </a:p>
          <a:p>
            <a:pPr algn="ctr">
              <a:defRPr sz="850" b="1">
                <a:solidFill>
                  <a:srgbClr val="1E293B"/>
                </a:solidFill>
                <a:latin typeface="Calibri"/>
              </a:defRPr>
            </a:pPr>
            <a:r>
              <a:t>Apoyo Curricular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86039" y="1901952"/>
            <a:ext cx="1536192" cy="658368"/>
          </a:xfrm>
          <a:prstGeom prst="roundRect">
            <a:avLst>
              <a:gd name="adj" fmla="val 15000"/>
            </a:avLst>
          </a:prstGeom>
          <a:solidFill>
            <a:srgbClr val="EFF6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500" b="1">
                <a:solidFill>
                  <a:srgbClr val="0F2043"/>
                </a:solidFill>
                <a:latin typeface="Calibri"/>
              </a:defRPr>
            </a:pPr>
            <a:r>
              <a:t>88.9%</a:t>
            </a:r>
          </a:p>
          <a:p>
            <a:pPr algn="ctr">
              <a:defRPr sz="850" b="1">
                <a:solidFill>
                  <a:srgbClr val="1E293B"/>
                </a:solidFill>
                <a:latin typeface="Calibri"/>
              </a:defRPr>
            </a:pPr>
            <a:r>
              <a:t>Talleres Vivenciales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95383" y="1901952"/>
            <a:ext cx="1536192" cy="658368"/>
          </a:xfrm>
          <a:prstGeom prst="roundRect">
            <a:avLst>
              <a:gd name="adj" fmla="val 15000"/>
            </a:avLst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500" b="1">
                <a:solidFill>
                  <a:srgbClr val="B45309"/>
                </a:solidFill>
                <a:latin typeface="Calibri"/>
              </a:defRPr>
            </a:pPr>
            <a:r>
              <a:t>100%</a:t>
            </a:r>
          </a:p>
          <a:p>
            <a:pPr algn="ctr">
              <a:defRPr sz="850" b="1">
                <a:solidFill>
                  <a:srgbClr val="1E293B"/>
                </a:solidFill>
                <a:latin typeface="Calibri"/>
              </a:defRPr>
            </a:pPr>
            <a:r>
              <a:t>Base en Evidencia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76695" y="2633472"/>
            <a:ext cx="4754880" cy="603504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0F2043"/>
                </a:solidFill>
                <a:latin typeface="Calibri"/>
              </a:rPr>
              <a:t>🏛️ Inserción Curricular Unánime: </a:t>
            </a:r>
            <a:r>
              <a:rPr sz="900">
                <a:solidFill>
                  <a:srgbClr val="1E293B"/>
                </a:solidFill>
                <a:latin typeface="Calibri"/>
              </a:rPr>
              <a:t>La totalidad del claustro (100%) respalda incorporar la MTCI bajo enfoque crítico, bioético y científico.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76695" y="3300984"/>
            <a:ext cx="4754880" cy="603504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0F2043"/>
                </a:solidFill>
                <a:latin typeface="Calibri"/>
              </a:rPr>
              <a:t>🛠️ Metodologías Formativas Priorizadas: </a:t>
            </a:r>
            <a:r>
              <a:rPr sz="900">
                <a:solidFill>
                  <a:srgbClr val="1E293B"/>
                </a:solidFill>
                <a:latin typeface="Calibri"/>
              </a:rPr>
              <a:t>Rechazan enseñanza memorística; priorizan talleres prácticos (88.9%) e intercambios con facilitadores.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76695" y="3968496"/>
            <a:ext cx="4754880" cy="603504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0F2043"/>
                </a:solidFill>
                <a:latin typeface="Calibri"/>
              </a:rPr>
              <a:t>⚖️ Competencias Indispensables a Formar: </a:t>
            </a:r>
            <a:r>
              <a:rPr sz="900">
                <a:solidFill>
                  <a:srgbClr val="1E293B"/>
                </a:solidFill>
                <a:latin typeface="Calibri"/>
              </a:rPr>
              <a:t>Juicio clínico crítico, delimitación de rol, prevención de riesgos adversos y derivación ética.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76695" y="4636008"/>
            <a:ext cx="4754880" cy="603504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0F2043"/>
                </a:solidFill>
                <a:latin typeface="Calibri"/>
              </a:rPr>
              <a:t>📚 Demanda de Capacitación Propia: </a:t>
            </a:r>
            <a:r>
              <a:rPr sz="900">
                <a:solidFill>
                  <a:srgbClr val="1E293B"/>
                </a:solidFill>
                <a:latin typeface="Calibri"/>
              </a:rPr>
              <a:t>El profesorado solicita formación continua en neurobiología somática y regulación Bottom-Up.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76695" y="5303520"/>
            <a:ext cx="4754880" cy="804672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54864" bIns="54864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0F2043"/>
                </a:solidFill>
              </a:rPr>
              <a:t>Propuesta Docente: </a:t>
            </a:r>
            <a:r>
              <a:rPr sz="900">
                <a:solidFill>
                  <a:srgbClr val="1E293B"/>
                </a:solidFill>
              </a:rPr>
              <a:t>Creación urgente de un Comité de Ética y Delimitación Profesional en el CUR-Estelí.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92608"/>
            <a:ext cx="3469233" cy="292608"/>
          </a:xfrm>
          <a:prstGeom prst="roundRect">
            <a:avLst>
              <a:gd name="adj" fmla="val 35000"/>
            </a:avLst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>
              <a:defRPr sz="900" b="1">
                <a:solidFill>
                  <a:srgbClr val="0D6E5D"/>
                </a:solidFill>
                <a:latin typeface="Calibri"/>
              </a:defRPr>
            </a:pPr>
            <a:r>
              <a:t>CAPÍTULO V • PROPUESTA OPERATIVA (OE3)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0F2043"/>
                </a:solidFill>
                <a:latin typeface="Calibri"/>
              </a:defRPr>
            </a:pPr>
            <a:r>
              <a:t>Manual de Estrategias de MTCI para la Formación y Práctica Psicológica</a:t>
            </a:r>
          </a:p>
        </p:txBody>
      </p:sp>
      <p:pic>
        <p:nvPicPr>
          <p:cNvPr id="5" name="Picture 4" descr="unan_shield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28600"/>
            <a:ext cx="533862" cy="7772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188720"/>
            <a:ext cx="8412480" cy="228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89720" y="1188720"/>
            <a:ext cx="2267712" cy="228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UNAN-Managua • CUR-Estelí | Departamento de Educación y Humanidades • Carrera de Psicología (2026)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6455664"/>
            <a:ext cx="761695" cy="237744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 w="9525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0F2043"/>
                </a:solidFill>
                <a:latin typeface="Calibri"/>
              </a:defRPr>
            </a:pPr>
            <a:r>
              <a:t>13 / 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71600"/>
            <a:ext cx="3931920" cy="4892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371600"/>
            <a:ext cx="3931920" cy="438912"/>
          </a:xfrm>
          <a:prstGeom prst="roundRect">
            <a:avLst>
              <a:gd name="adj" fmla="val 8000"/>
            </a:avLst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8288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📘 PRODUCTO PROPOSITIVO (OE3)</a:t>
            </a:r>
          </a:p>
        </p:txBody>
      </p:sp>
      <p:pic>
        <p:nvPicPr>
          <p:cNvPr id="13" name="Picture 12" descr="portada_manua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20240"/>
            <a:ext cx="3566160" cy="224028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914400" y="4279392"/>
            <a:ext cx="3566160" cy="8686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900">
                <a:solidFill>
                  <a:srgbClr val="0F2043"/>
                </a:solidFill>
                <a:latin typeface="Calibri"/>
              </a:rPr>
              <a:t>📋 Ficha Técnica del Manual: </a:t>
            </a:r>
            <a:r>
              <a:rPr sz="850">
                <a:solidFill>
                  <a:srgbClr val="1E293B"/>
                </a:solidFill>
                <a:latin typeface="Calibri"/>
              </a:rPr>
              <a:t>Manual Técnico-Ético (18 págs in extenso en Anexo 16.2). Diseñado para docentes y practicantes de 4.° y 5.° año en la Clínica Psicosocial.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257800"/>
            <a:ext cx="3566160" cy="841248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54864" bIns="54864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B45309"/>
                </a:solidFill>
              </a:rPr>
              <a:t>Propósito Central: </a:t>
            </a:r>
            <a:r>
              <a:rPr sz="900">
                <a:solidFill>
                  <a:srgbClr val="1E293B"/>
                </a:solidFill>
              </a:rPr>
              <a:t>No habilita como terapeutas alternativos; dota de discernimiento ético para explorar y derivar.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76495" y="1371600"/>
            <a:ext cx="6583680" cy="4892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876495" y="1371600"/>
            <a:ext cx="6583680" cy="438912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8288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📋 ESTRUCTURA MODULAR DEL MANUAL (8 MÓDULOS TEMÁTICOS)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74920" y="1920240"/>
            <a:ext cx="2999232" cy="7315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8288" bIns="18288"/>
          <a:lstStyle/>
          <a:p>
            <a:pPr algn="l"/>
            <a:r>
              <a:rPr b="1" sz="950">
                <a:solidFill>
                  <a:srgbClr val="0D6E5D"/>
                </a:solidFill>
                <a:latin typeface="Calibri"/>
              </a:rPr>
              <a:t>1️⃣ Módulo 1: Marco Legal</a:t>
            </a:r>
          </a:p>
          <a:p>
            <a:pPr algn="l">
              <a:lnSpc>
                <a:spcPct val="112000"/>
              </a:lnSpc>
            </a:pPr>
            <a:r>
              <a:rPr sz="850">
                <a:solidFill>
                  <a:srgbClr val="1E293B"/>
                </a:solidFill>
                <a:latin typeface="Calibri"/>
              </a:rPr>
              <a:t>Definición OMS (2025); marco de Leyes 774, 759 y 292.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74920" y="2724912"/>
            <a:ext cx="2999232" cy="7315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8288" bIns="18288"/>
          <a:lstStyle/>
          <a:p>
            <a:pPr algn="l"/>
            <a:r>
              <a:rPr b="1" sz="950">
                <a:solidFill>
                  <a:srgbClr val="0D6E5D"/>
                </a:solidFill>
                <a:latin typeface="Calibri"/>
              </a:rPr>
              <a:t>2️⃣ Módulo 2: Deontología Clínica</a:t>
            </a:r>
          </a:p>
          <a:p>
            <a:pPr algn="l">
              <a:lnSpc>
                <a:spcPct val="112000"/>
              </a:lnSpc>
            </a:pPr>
            <a:r>
              <a:rPr sz="850">
                <a:solidFill>
                  <a:srgbClr val="1E293B"/>
                </a:solidFill>
                <a:latin typeface="Calibri"/>
              </a:rPr>
              <a:t>Consentimiento intercultural; regla: complementar sin sustituir.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74920" y="3529584"/>
            <a:ext cx="2999232" cy="7315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8288" bIns="18288"/>
          <a:lstStyle/>
          <a:p>
            <a:pPr algn="l"/>
            <a:r>
              <a:rPr b="1" sz="950">
                <a:solidFill>
                  <a:srgbClr val="0D6E5D"/>
                </a:solidFill>
                <a:latin typeface="Calibri"/>
              </a:rPr>
              <a:t>3️⃣ Módulo 3: Mapa de Prácticas</a:t>
            </a:r>
          </a:p>
          <a:p>
            <a:pPr algn="l">
              <a:lnSpc>
                <a:spcPct val="112000"/>
              </a:lnSpc>
            </a:pPr>
            <a:r>
              <a:rPr sz="850">
                <a:solidFill>
                  <a:srgbClr val="1E293B"/>
                </a:solidFill>
                <a:latin typeface="Calibri"/>
              </a:rPr>
              <a:t>Clasificación en 4 niveles (directo, psicoeducación, alerta).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74920" y="4334256"/>
            <a:ext cx="2999232" cy="7315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8288" bIns="18288"/>
          <a:lstStyle/>
          <a:p>
            <a:pPr algn="l"/>
            <a:r>
              <a:rPr b="1" sz="950">
                <a:solidFill>
                  <a:srgbClr val="0D6E5D"/>
                </a:solidFill>
                <a:latin typeface="Calibri"/>
              </a:rPr>
              <a:t>4️⃣ Módulo 4: Algoritmo Clínico</a:t>
            </a:r>
          </a:p>
          <a:p>
            <a:pPr algn="l">
              <a:lnSpc>
                <a:spcPct val="112000"/>
              </a:lnSpc>
            </a:pPr>
            <a:r>
              <a:rPr sz="850">
                <a:solidFill>
                  <a:srgbClr val="1E293B"/>
                </a:solidFill>
                <a:latin typeface="Calibri"/>
              </a:rPr>
              <a:t>Protocolo de 4 pasos para derivación clínica informada.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38744" y="1920240"/>
            <a:ext cx="2999232" cy="7315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8288" bIns="18288"/>
          <a:lstStyle/>
          <a:p>
            <a:pPr algn="l"/>
            <a:r>
              <a:rPr b="1" sz="950">
                <a:solidFill>
                  <a:srgbClr val="B45309"/>
                </a:solidFill>
                <a:latin typeface="Calibri"/>
              </a:rPr>
              <a:t>5️⃣ Módulo 5: Habilidades de Diálogo</a:t>
            </a:r>
          </a:p>
          <a:p>
            <a:pPr algn="l">
              <a:lnSpc>
                <a:spcPct val="112000"/>
              </a:lnSpc>
            </a:pPr>
            <a:r>
              <a:rPr sz="850">
                <a:solidFill>
                  <a:srgbClr val="1E293B"/>
                </a:solidFill>
                <a:latin typeface="Calibri"/>
              </a:rPr>
              <a:t>Entrevista abierta para superar el ocultamiento terapéutico.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38744" y="2724912"/>
            <a:ext cx="2999232" cy="7315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8288" bIns="18288"/>
          <a:lstStyle/>
          <a:p>
            <a:pPr algn="l"/>
            <a:r>
              <a:rPr b="1" sz="950">
                <a:solidFill>
                  <a:srgbClr val="B45309"/>
                </a:solidFill>
                <a:latin typeface="Calibri"/>
              </a:rPr>
              <a:t>6️⃣ Módulo 6: Red Intersectorial</a:t>
            </a:r>
          </a:p>
          <a:p>
            <a:pPr algn="l">
              <a:lnSpc>
                <a:spcPct val="112000"/>
              </a:lnSpc>
            </a:pPr>
            <a:r>
              <a:rPr sz="850">
                <a:solidFill>
                  <a:srgbClr val="1E293B"/>
                </a:solidFill>
                <a:latin typeface="Calibri"/>
              </a:rPr>
              <a:t>Criterios de referencia bidireccional con facilitadores.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38744" y="3529584"/>
            <a:ext cx="2999232" cy="7315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8288" bIns="18288"/>
          <a:lstStyle/>
          <a:p>
            <a:pPr algn="l"/>
            <a:r>
              <a:rPr b="1" sz="950">
                <a:solidFill>
                  <a:srgbClr val="B45309"/>
                </a:solidFill>
                <a:latin typeface="Calibri"/>
              </a:rPr>
              <a:t>7️⃣ Módulo 7: Ruta Formativa</a:t>
            </a:r>
          </a:p>
          <a:p>
            <a:pPr algn="l">
              <a:lnSpc>
                <a:spcPct val="112000"/>
              </a:lnSpc>
            </a:pPr>
            <a:r>
              <a:rPr sz="850">
                <a:solidFill>
                  <a:srgbClr val="1E293B"/>
                </a:solidFill>
                <a:latin typeface="Calibri"/>
              </a:rPr>
              <a:t>Secuencia pedagógica en 3 etapas y electiva universitaria.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38744" y="4334256"/>
            <a:ext cx="2999232" cy="7315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8288" bIns="18288"/>
          <a:lstStyle/>
          <a:p>
            <a:pPr algn="l"/>
            <a:r>
              <a:rPr b="1" sz="950">
                <a:solidFill>
                  <a:srgbClr val="B45309"/>
                </a:solidFill>
                <a:latin typeface="Calibri"/>
              </a:rPr>
              <a:t>8️⃣ Módulo 8: Soporte Institucional</a:t>
            </a:r>
          </a:p>
          <a:p>
            <a:pPr algn="l">
              <a:lnSpc>
                <a:spcPct val="112000"/>
              </a:lnSpc>
            </a:pPr>
            <a:r>
              <a:rPr sz="850">
                <a:solidFill>
                  <a:srgbClr val="1E293B"/>
                </a:solidFill>
                <a:latin typeface="Calibri"/>
              </a:rPr>
              <a:t>Creación de Comité de Ética y capacitación docente.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74920" y="5257800"/>
            <a:ext cx="6181344" cy="841248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54864" bIns="54864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0F2043"/>
                </a:solidFill>
              </a:rPr>
              <a:t>Herramienta Diagnóstica Anexa: </a:t>
            </a:r>
            <a:r>
              <a:rPr sz="900">
                <a:solidFill>
                  <a:srgbClr val="1E293B"/>
                </a:solidFill>
              </a:rPr>
              <a:t>El manual incorpora la adaptación transcultural del inventario I-CAM-Q para la exploración clínica estandarizada en Nicaragua.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92608"/>
            <a:ext cx="3066897" cy="292608"/>
          </a:xfrm>
          <a:prstGeom prst="roundRect">
            <a:avLst>
              <a:gd name="adj" fmla="val 35000"/>
            </a:avLst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>
              <a:defRPr sz="900" b="1">
                <a:solidFill>
                  <a:srgbClr val="0D6E5D"/>
                </a:solidFill>
                <a:latin typeface="Calibri"/>
              </a:defRPr>
            </a:pPr>
            <a:r>
              <a:t>CAPÍTULO VI • SÍNTESIS CONCLUSIVA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0F2043"/>
                </a:solidFill>
                <a:latin typeface="Calibri"/>
              </a:defRPr>
            </a:pPr>
            <a:r>
              <a:t>Conclusiones Centrales de la Investigación (Triangulación de Objetivos)</a:t>
            </a:r>
          </a:p>
        </p:txBody>
      </p:sp>
      <p:pic>
        <p:nvPicPr>
          <p:cNvPr id="5" name="Picture 4" descr="unan_shield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28600"/>
            <a:ext cx="533862" cy="7772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188720"/>
            <a:ext cx="8412480" cy="228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89720" y="1188720"/>
            <a:ext cx="2267712" cy="228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UNAN-Managua • CUR-Estelí | Departamento de Educación y Humanidades • Carrera de Psicología (2026)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6455664"/>
            <a:ext cx="761695" cy="237744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 w="9525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0F2043"/>
                </a:solidFill>
                <a:latin typeface="Calibri"/>
              </a:defRPr>
            </a:pPr>
            <a:r>
              <a:t>14 / 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71600"/>
            <a:ext cx="10728655" cy="4892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371600"/>
            <a:ext cx="10728655" cy="438912"/>
          </a:xfrm>
          <a:prstGeom prst="roundRect">
            <a:avLst>
              <a:gd name="adj" fmla="val 8000"/>
            </a:avLst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8288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🎯 SÍNTESIS DE CONCLUSIONES POR OBJETIVO DE INVESTIGACIÓN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1901952"/>
            <a:ext cx="10271455" cy="6400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0D6E5D"/>
                </a:solidFill>
                <a:latin typeface="Calibri"/>
              </a:rPr>
              <a:t>1️⃣ Cumplimiento del Objetivo General: </a:t>
            </a:r>
            <a:r>
              <a:rPr sz="900">
                <a:solidFill>
                  <a:srgbClr val="1E293B"/>
                </a:solidFill>
                <a:latin typeface="Calibri"/>
              </a:rPr>
              <a:t>Los tres colectivos participantes (N = 86) validan unánimemente la pertinencia de la MTCI como coadyuvante en atención psicológica, condicionada a límites bioéticos y base científica.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2615184"/>
            <a:ext cx="10271455" cy="6400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B45309"/>
                </a:solidFill>
                <a:latin typeface="Calibri"/>
              </a:rPr>
              <a:t>2️⃣ Perfil y Paradoja Estudiantil (OE1): </a:t>
            </a:r>
            <a:r>
              <a:rPr sz="900">
                <a:solidFill>
                  <a:srgbClr val="1E293B"/>
                </a:solidFill>
                <a:latin typeface="Calibri"/>
              </a:rPr>
              <a:t>El estudiantado posee buen dominio conceptual (67.6%) y eficacia subjetiva (86.7%), pero padece vacíos normativos (58.8% desconoce Ley 774; 64.7% desconoce Ley 292) y alta desprotección formativa.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3328416"/>
            <a:ext cx="10271455" cy="6400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0F2043"/>
                </a:solidFill>
                <a:latin typeface="Calibri"/>
              </a:rPr>
              <a:t>3️⃣ Oferta Territorial y Barreras de Estelí (OE2): </a:t>
            </a:r>
            <a:r>
              <a:rPr sz="900">
                <a:solidFill>
                  <a:srgbClr val="1E293B"/>
                </a:solidFill>
                <a:latin typeface="Calibri"/>
              </a:rPr>
              <a:t>Facilitadores con hasta 30 años de labor constatan 100% de alivio de sobrecarga muscular y mayor apertura reflexiva (88.9%), sorteando prejuicios socioculturales (100%) y barreras económicas.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4041648"/>
            <a:ext cx="10271455" cy="6400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0D6E5D"/>
                </a:solidFill>
                <a:latin typeface="Calibri"/>
              </a:rPr>
              <a:t>4️⃣ Consenso Curricular del Claustro Docente (OE3): </a:t>
            </a:r>
            <a:r>
              <a:rPr sz="900">
                <a:solidFill>
                  <a:srgbClr val="1E293B"/>
                </a:solidFill>
                <a:latin typeface="Calibri"/>
              </a:rPr>
              <a:t>100% del profesorado apoya la inserción transversal de la MTCI bajo metodologías activas y vivenciales (88.9%), demandando formación en regulación somática y comités éticos.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4754880"/>
            <a:ext cx="10271455" cy="6400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B45309"/>
                </a:solidFill>
                <a:latin typeface="Calibri"/>
              </a:rPr>
              <a:t>5️⃣ Logro Propositivo del Manual de Estrategias: </a:t>
            </a:r>
            <a:r>
              <a:rPr sz="900">
                <a:solidFill>
                  <a:srgbClr val="1E293B"/>
                </a:solidFill>
                <a:latin typeface="Calibri"/>
              </a:rPr>
              <a:t>Se construyó exitosamente el Manual de Estrategias MTCI de 18 páginas (Anexo 16.2), dotando al CUR-Estelí de algoritmos de decisión clínica, pautas contra el ocultamiento y el inventario I-CAM-Q.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" y="5303520"/>
            <a:ext cx="10271455" cy="77724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54864" bIns="54864"/>
          <a:lstStyle/>
          <a:p>
            <a:pPr algn="l">
              <a:lnSpc>
                <a:spcPct val="115000"/>
              </a:lnSpc>
            </a:pPr>
            <a:r>
              <a:rPr b="1" sz="950">
                <a:solidFill>
                  <a:srgbClr val="B45309"/>
                </a:solidFill>
              </a:rPr>
              <a:t>Conclusión Fundamental: </a:t>
            </a:r>
            <a:r>
              <a:rPr sz="900">
                <a:solidFill>
                  <a:srgbClr val="1E293B"/>
                </a:solidFill>
              </a:rPr>
              <a:t>La MTCI constituye un recurso de apoyo legítimo que robustece la alianza terapéutica cuando se aplica con rigor deontológico y delimitación estricta del rol profesional.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92608"/>
            <a:ext cx="3469233" cy="292608"/>
          </a:xfrm>
          <a:prstGeom prst="roundRect">
            <a:avLst>
              <a:gd name="adj" fmla="val 35000"/>
            </a:avLst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>
              <a:defRPr sz="900" b="1">
                <a:solidFill>
                  <a:srgbClr val="0D6E5D"/>
                </a:solidFill>
                <a:latin typeface="Calibri"/>
              </a:defRPr>
            </a:pPr>
            <a:r>
              <a:t>CAPÍTULO VI • DIRECTRICES PROSPECTIVAS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0F2043"/>
                </a:solidFill>
                <a:latin typeface="Calibri"/>
              </a:defRPr>
            </a:pPr>
            <a:r>
              <a:t>Recomendaciones Estratégicas para Estudiantes, Docentes, Universidad y MINSA</a:t>
            </a:r>
          </a:p>
        </p:txBody>
      </p:sp>
      <p:pic>
        <p:nvPicPr>
          <p:cNvPr id="5" name="Picture 4" descr="unan_shield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28600"/>
            <a:ext cx="533862" cy="7772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188720"/>
            <a:ext cx="8412480" cy="228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89720" y="1188720"/>
            <a:ext cx="2267712" cy="228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UNAN-Managua • CUR-Estelí | Departamento de Educación y Humanidades • Carrera de Psicología (2026)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0" y="6455664"/>
            <a:ext cx="761695" cy="237744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 w="9525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0F2043"/>
                </a:solidFill>
                <a:latin typeface="Calibri"/>
              </a:defRPr>
            </a:pPr>
            <a:r>
              <a:t>15 / 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71600"/>
            <a:ext cx="5212080" cy="2377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371600"/>
            <a:ext cx="5212080" cy="438912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8288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👩‍🎓 PARA EL ESTAMENTO ESTUDIANTIL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" y="1847088"/>
            <a:ext cx="4882896" cy="420624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850">
                <a:solidFill>
                  <a:srgbClr val="0F766E"/>
                </a:solidFill>
                <a:latin typeface="Calibri"/>
              </a:rPr>
              <a:t>✓ Marco Normativo: </a:t>
            </a:r>
            <a:r>
              <a:rPr sz="800">
                <a:solidFill>
                  <a:srgbClr val="1E293B"/>
                </a:solidFill>
                <a:latin typeface="Calibri"/>
              </a:rPr>
              <a:t>Respetar estrictamente las Leyes 774 y 292 (prohibición terminante de prescribir fármacos).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" y="2304288"/>
            <a:ext cx="4882896" cy="420624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850">
                <a:solidFill>
                  <a:srgbClr val="0F766E"/>
                </a:solidFill>
                <a:latin typeface="Calibri"/>
              </a:rPr>
              <a:t>✓ Algoritmo Clínico: </a:t>
            </a:r>
            <a:r>
              <a:rPr sz="800">
                <a:solidFill>
                  <a:srgbClr val="1E293B"/>
                </a:solidFill>
                <a:latin typeface="Calibri"/>
              </a:rPr>
              <a:t>Aplicar el árbol de decisión clínica del manual durante las prácticas en la Clínica Psicosocial.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" y="2761488"/>
            <a:ext cx="4882896" cy="420624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850">
                <a:solidFill>
                  <a:srgbClr val="0F766E"/>
                </a:solidFill>
                <a:latin typeface="Calibri"/>
              </a:rPr>
              <a:t>✓ Diálogo Abierto: </a:t>
            </a:r>
            <a:r>
              <a:rPr sz="800">
                <a:solidFill>
                  <a:srgbClr val="1E293B"/>
                </a:solidFill>
                <a:latin typeface="Calibri"/>
              </a:rPr>
              <a:t>Explorar empáticamente el uso de MTCI en consulta para erradicar el ocultamiento terapéutico.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" y="3218688"/>
            <a:ext cx="4882896" cy="420624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850">
                <a:solidFill>
                  <a:srgbClr val="0F766E"/>
                </a:solidFill>
                <a:latin typeface="Calibri"/>
              </a:rPr>
              <a:t>✓ Autocuidado Personal: </a:t>
            </a:r>
            <a:r>
              <a:rPr sz="800">
                <a:solidFill>
                  <a:srgbClr val="1E293B"/>
                </a:solidFill>
                <a:latin typeface="Calibri"/>
              </a:rPr>
              <a:t>Vivenciar la regulación somática (respiración diafragmática y escaneo) ante sobrecarga.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8095" y="1371600"/>
            <a:ext cx="5212080" cy="2377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48095" y="1371600"/>
            <a:ext cx="5212080" cy="438912"/>
          </a:xfrm>
          <a:prstGeom prst="roundRect">
            <a:avLst>
              <a:gd name="adj" fmla="val 8000"/>
            </a:avLst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8288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👨‍🏫 PARA EL CLAUSTRO DOCENTE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12687" y="1847088"/>
            <a:ext cx="4882896" cy="420624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850">
                <a:solidFill>
                  <a:srgbClr val="1B365D"/>
                </a:solidFill>
                <a:latin typeface="Calibri"/>
              </a:rPr>
              <a:t>✓ Transversalidad Curricular: </a:t>
            </a:r>
            <a:r>
              <a:rPr sz="800">
                <a:solidFill>
                  <a:srgbClr val="1E293B"/>
                </a:solidFill>
                <a:latin typeface="Calibri"/>
              </a:rPr>
              <a:t>Integrar contenidos de MTCI en asignaturas de Psicología Clínica, Comunitaria y Ética.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12687" y="2304288"/>
            <a:ext cx="4882896" cy="420624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850">
                <a:solidFill>
                  <a:srgbClr val="1B365D"/>
                </a:solidFill>
                <a:latin typeface="Calibri"/>
              </a:rPr>
              <a:t>✓ Pedagogía Vivencial: </a:t>
            </a:r>
            <a:r>
              <a:rPr sz="800">
                <a:solidFill>
                  <a:srgbClr val="1E293B"/>
                </a:solidFill>
                <a:latin typeface="Calibri"/>
              </a:rPr>
              <a:t>Priorizar metodologías activas: análisis de casos clínicos y talleres de autorregulación somática.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12687" y="2761488"/>
            <a:ext cx="4882896" cy="420624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850">
                <a:solidFill>
                  <a:srgbClr val="1B365D"/>
                </a:solidFill>
                <a:latin typeface="Calibri"/>
              </a:rPr>
              <a:t>✓ Derivación Interdisciplinar: </a:t>
            </a:r>
            <a:r>
              <a:rPr sz="800">
                <a:solidFill>
                  <a:srgbClr val="1E293B"/>
                </a:solidFill>
                <a:latin typeface="Calibri"/>
              </a:rPr>
              <a:t>Enseñar la referencia ética hacia facilitadores certificados y médicos tratantes.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12687" y="3218688"/>
            <a:ext cx="4882896" cy="420624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850">
                <a:solidFill>
                  <a:srgbClr val="1B365D"/>
                </a:solidFill>
                <a:latin typeface="Calibri"/>
              </a:rPr>
              <a:t>✓ Capacitación Docente: </a:t>
            </a:r>
            <a:r>
              <a:rPr sz="800">
                <a:solidFill>
                  <a:srgbClr val="1E293B"/>
                </a:solidFill>
                <a:latin typeface="Calibri"/>
              </a:rPr>
              <a:t>Formarse institucionalmente en neurobiología del estrés y regulación somática Bottom-Up.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913632"/>
            <a:ext cx="5212080" cy="2377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520" y="3913632"/>
            <a:ext cx="5212080" cy="438912"/>
          </a:xfrm>
          <a:prstGeom prst="roundRect">
            <a:avLst>
              <a:gd name="adj" fmla="val 8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8288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🏛 PARA LA GESTIÓN DEL CUR-ESTELÍ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" y="4389120"/>
            <a:ext cx="4882896" cy="420624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850">
                <a:solidFill>
                  <a:srgbClr val="B45309"/>
                </a:solidFill>
                <a:latin typeface="Calibri"/>
              </a:rPr>
              <a:t>✓ Aprobación Institucional: </a:t>
            </a:r>
            <a:r>
              <a:rPr sz="800">
                <a:solidFill>
                  <a:srgbClr val="1E293B"/>
                </a:solidFill>
                <a:latin typeface="Calibri"/>
              </a:rPr>
              <a:t>Formalizar la adopción oficial del Manual de Estrategias MTCI (Anexo 16.2 de tesis).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2" y="4846320"/>
            <a:ext cx="4882896" cy="420624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850">
                <a:solidFill>
                  <a:srgbClr val="B45309"/>
                </a:solidFill>
                <a:latin typeface="Calibri"/>
              </a:rPr>
              <a:t>✓ Comité de Bioética: </a:t>
            </a:r>
            <a:r>
              <a:rPr sz="800">
                <a:solidFill>
                  <a:srgbClr val="1E293B"/>
                </a:solidFill>
                <a:latin typeface="Calibri"/>
              </a:rPr>
              <a:t>Constituir el Comité de Ética y Delimitación Profesional en el recinto universitario.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6112" y="5303520"/>
            <a:ext cx="4882896" cy="420624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850">
                <a:solidFill>
                  <a:srgbClr val="B45309"/>
                </a:solidFill>
                <a:latin typeface="Calibri"/>
              </a:rPr>
              <a:t>✓ Alianza con MINSA-Estelí: </a:t>
            </a:r>
            <a:r>
              <a:rPr sz="800">
                <a:solidFill>
                  <a:srgbClr val="1E293B"/>
                </a:solidFill>
                <a:latin typeface="Calibri"/>
              </a:rPr>
              <a:t>Consolidar convenios de cooperación interinstitucional para pasantías y ferias de salud.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6112" y="5760720"/>
            <a:ext cx="4882896" cy="420624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850">
                <a:solidFill>
                  <a:srgbClr val="B45309"/>
                </a:solidFill>
                <a:latin typeface="Calibri"/>
              </a:rPr>
              <a:t>✓ Asignatura Electiva: </a:t>
            </a:r>
            <a:r>
              <a:rPr sz="800">
                <a:solidFill>
                  <a:srgbClr val="1E293B"/>
                </a:solidFill>
                <a:latin typeface="Calibri"/>
              </a:rPr>
              <a:t>Evaluar a mediano plazo la creación formal del curso electivo 'Psicología Integrativa'.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48095" y="3913632"/>
            <a:ext cx="5212080" cy="2377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48095" y="3913632"/>
            <a:ext cx="5212080" cy="438912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82880" tIns="0" bIns="0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🌿 PARA EL SISTEMA DE SALUD Y FACILITADORES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12687" y="4389120"/>
            <a:ext cx="4882896" cy="420624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850">
                <a:solidFill>
                  <a:srgbClr val="0F766E"/>
                </a:solidFill>
                <a:latin typeface="Calibri"/>
              </a:rPr>
              <a:t>✓ Habilitación Sanitaria: </a:t>
            </a:r>
            <a:r>
              <a:rPr sz="800">
                <a:solidFill>
                  <a:srgbClr val="1E293B"/>
                </a:solidFill>
                <a:latin typeface="Calibri"/>
              </a:rPr>
              <a:t>Difundir mecanismos de registro oficial para facilitadores contemplados en la Ley No. 774.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12687" y="4846320"/>
            <a:ext cx="4882896" cy="420624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850">
                <a:solidFill>
                  <a:srgbClr val="0F766E"/>
                </a:solidFill>
                <a:latin typeface="Calibri"/>
              </a:rPr>
              <a:t>✓ Red de Interconsulta: </a:t>
            </a:r>
            <a:r>
              <a:rPr sz="800">
                <a:solidFill>
                  <a:srgbClr val="1E293B"/>
                </a:solidFill>
                <a:latin typeface="Calibri"/>
              </a:rPr>
              <a:t>Habilitar canales de referencia bidireccional entre psicólogos clínicos y terapeutas locales.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12687" y="5303520"/>
            <a:ext cx="4882896" cy="420624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850">
                <a:solidFill>
                  <a:srgbClr val="0F766E"/>
                </a:solidFill>
                <a:latin typeface="Calibri"/>
              </a:rPr>
              <a:t>✓ Atención Primaria: </a:t>
            </a:r>
            <a:r>
              <a:rPr sz="800">
                <a:solidFill>
                  <a:srgbClr val="1E293B"/>
                </a:solidFill>
                <a:latin typeface="Calibri"/>
              </a:rPr>
              <a:t>Fomentar la exploración desestigmatizada de saberes herbolarios en centros de salud comunitaria.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12687" y="5760720"/>
            <a:ext cx="4882896" cy="420624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lnSpc>
                <a:spcPct val="115000"/>
              </a:lnSpc>
            </a:pPr>
            <a:r>
              <a:rPr b="1" sz="850">
                <a:solidFill>
                  <a:srgbClr val="0F766E"/>
                </a:solidFill>
                <a:latin typeface="Calibri"/>
              </a:rPr>
              <a:t>✓ Principio de Complementariedad: </a:t>
            </a:r>
            <a:r>
              <a:rPr sz="800">
                <a:solidFill>
                  <a:srgbClr val="1E293B"/>
                </a:solidFill>
                <a:latin typeface="Calibri"/>
              </a:rPr>
              <a:t>Mantener el compromiso bioético de sumar recursos sin pretender sustituir tratamientos.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nan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"/>
            <a:ext cx="1576278" cy="8412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926080" y="22860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FFFFF"/>
                </a:solidFill>
              </a:defRPr>
            </a:pPr>
            <a:r>
              <a:t>UNIVERSIDAD NACIONAL AUTÓNOMA DE NICARAGUA, MANAGUA</a:t>
            </a:r>
          </a:p>
          <a:p>
            <a:pPr>
              <a:defRPr b="1" sz="950">
                <a:solidFill>
                  <a:srgbClr val="D97706"/>
                </a:solidFill>
              </a:defRPr>
            </a:pPr>
            <a:r>
              <a:t>CENTRO UNIVERSITARIO REGIONAL DE ESTELÍ • RECINTO LEONEL RUGAMA RUGAMA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4892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unan_shield_on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645920"/>
            <a:ext cx="785091" cy="1143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280" y="2852928"/>
            <a:ext cx="9966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700" i="1" b="1">
                <a:solidFill>
                  <a:srgbClr val="0F2043"/>
                </a:solidFill>
              </a:defRPr>
            </a:pPr>
            <a:r>
              <a:t>¡A la libertad por la Universidad!</a:t>
            </a:r>
          </a:p>
          <a:p>
            <a:pPr algn="ctr">
              <a:spcAft>
                <a:spcPts val="600"/>
              </a:spcAft>
              <a:defRPr sz="2800" b="1">
                <a:solidFill>
                  <a:srgbClr val="B45309"/>
                </a:solidFill>
              </a:defRPr>
            </a:pPr>
            <a:r>
              <a:t>Muchas Gracias por su Atención</a:t>
            </a:r>
          </a:p>
          <a:p>
            <a:pPr algn="ctr">
              <a:defRPr sz="1200" b="1">
                <a:solidFill>
                  <a:srgbClr val="1E293B"/>
                </a:solidFill>
              </a:defRPr>
            </a:pPr>
            <a:r>
              <a:t>Espacio Abierto para Preguntas, Comentarios y Defensa Oral ante el Honorable Tribunal Examinador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4114800"/>
            <a:ext cx="3154680" cy="201168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/>
          <a:lstStyle/>
          <a:p>
            <a:pPr algn="l">
              <a:spcAft>
                <a:spcPts val="800"/>
              </a:spcAft>
              <a:defRPr b="1" sz="1000">
                <a:solidFill>
                  <a:srgbClr val="0F2043"/>
                </a:solidFill>
              </a:defRPr>
            </a:pPr>
            <a:r>
              <a:t>👤 SUSTENTANTES</a:t>
            </a:r>
          </a:p>
          <a:p>
            <a:pPr algn="l"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Dina Fabiola García Torres</a:t>
            </a:r>
          </a:p>
          <a:p>
            <a:pPr algn="l"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Tatiana Paola López Ramos</a:t>
            </a:r>
          </a:p>
          <a:p>
            <a:pPr algn="l"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Engel Enoc Zamora Velásquez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98848" y="4114800"/>
            <a:ext cx="3154680" cy="2011680"/>
          </a:xfrm>
          <a:prstGeom prst="roundRect">
            <a:avLst>
              <a:gd name="adj" fmla="val 6000"/>
            </a:avLst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/>
          <a:lstStyle/>
          <a:p>
            <a:pPr algn="l">
              <a:spcAft>
                <a:spcPts val="800"/>
              </a:spcAft>
              <a:defRPr b="1" sz="1000">
                <a:solidFill>
                  <a:srgbClr val="0D6E5D"/>
                </a:solidFill>
              </a:defRPr>
            </a:pPr>
            <a:r>
              <a:t>🎓 TUTORÍA ACADÉMICA</a:t>
            </a:r>
          </a:p>
          <a:p>
            <a:pPr algn="l">
              <a:spcAft>
                <a:spcPts val="300"/>
              </a:spcAft>
              <a:defRPr b="1" sz="1050">
                <a:solidFill>
                  <a:srgbClr val="1E293B"/>
                </a:solidFill>
              </a:defRPr>
            </a:pPr>
            <a:r>
              <a:t>• Dra. Tania Libertad Pérez Guevara</a:t>
            </a:r>
          </a:p>
          <a:p>
            <a:pPr algn="l">
              <a:defRPr sz="950">
                <a:solidFill>
                  <a:srgbClr val="64748B"/>
                </a:solidFill>
              </a:defRPr>
            </a:pPr>
            <a:r>
              <a:t>Docente Investigadora • CUR-Estelí</a:t>
            </a:r>
            <a:br/>
            <a:r>
              <a:t>Asesoría Temática y Metodológica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0416" y="4114800"/>
            <a:ext cx="3154680" cy="201168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/>
          <a:lstStyle/>
          <a:p>
            <a:pPr algn="l">
              <a:spcAft>
                <a:spcPts val="800"/>
              </a:spcAft>
              <a:defRPr b="1" sz="1000">
                <a:solidFill>
                  <a:srgbClr val="B45309"/>
                </a:solidFill>
              </a:defRPr>
            </a:pPr>
            <a:r>
              <a:t>🏛 DEFENSA DE GRADO</a:t>
            </a:r>
          </a:p>
          <a:p>
            <a:pPr algn="l">
              <a:defRPr sz="1000">
                <a:solidFill>
                  <a:srgbClr val="1E293B"/>
                </a:solidFill>
              </a:defRPr>
            </a:pPr>
            <a:r>
              <a:t>Licenciatura en Psicología</a:t>
            </a:r>
            <a:br/>
            <a:r>
              <a:t>Recinto Leonel Rugama Rugama</a:t>
            </a:r>
            <a:br/>
            <a:r>
              <a:t>Estelí, Nicaragua • Octubre,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