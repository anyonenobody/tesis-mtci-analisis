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nan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"/>
            <a:ext cx="1576278" cy="8412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26080" y="20116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UNIVERSIDAD NACIONAL AUTÓNOMA DE NICARAGUA, MANAGUA</a:t>
            </a:r>
          </a:p>
          <a:p>
            <a:pPr>
              <a:defRPr b="1" sz="950">
                <a:solidFill>
                  <a:srgbClr val="D97706"/>
                </a:solidFill>
              </a:defRPr>
            </a:pPr>
            <a:r>
              <a:t>CENTRO UNIVERSITARIO REGIONAL DE ESTELÍ (CUR-ESTELÍ) • RECINTO LEONEL RUGAMA RUGAMA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DEPARTAMENTO DE EDUCACIÓN Y HUMANIDADES | CARRERA DE PSICOLOGÍA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669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0E7490"/>
                </a:solidFill>
              </a:defRPr>
            </a:pPr>
            <a:r>
              <a:t>TRABAJO DE INVESTIGACIÓN PARA OPTAR AL GRADO DE LICENCIADOS EN PSICOLOGÍA</a:t>
            </a:r>
          </a:p>
          <a:p>
            <a:pPr>
              <a:spcAft>
                <a:spcPts val="1000"/>
              </a:spcAft>
              <a:defRPr sz="2400" b="1">
                <a:solidFill>
                  <a:srgbClr val="0A192F"/>
                </a:solidFill>
              </a:defRPr>
            </a:pPr>
            <a:r>
              <a:t>La Medicina Tradicional, Complementaria e Integrativa (MTCI) como Complemento en la Atención Psicológica</a:t>
            </a:r>
          </a:p>
          <a:p>
            <a:pPr>
              <a:defRPr sz="1300" b="1">
                <a:solidFill>
                  <a:srgbClr val="B45309"/>
                </a:solidFill>
              </a:defRPr>
            </a:pPr>
            <a:r>
              <a:t>Estudio Mixto con Estudiantes y Docentes del CUR-Estelí y Facilitadores Locales del Municipio de Estelí (Segundo Semestre, 2026)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794760"/>
            <a:ext cx="99669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3977639"/>
            <a:ext cx="3154680" cy="21488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spcAft>
                <a:spcPts val="800"/>
              </a:spcAft>
              <a:defRPr b="1" sz="1000">
                <a:solidFill>
                  <a:srgbClr val="0A192F"/>
                </a:solidFill>
              </a:defRPr>
            </a:pPr>
            <a:r>
              <a:t>👤 AUTORES / SUSTENTANTES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Dina Fabiola García Torres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Tatiana Paola López Ramos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Engel Enoc Zamora Velásquez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3977639"/>
            <a:ext cx="3154680" cy="214884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spcAft>
                <a:spcPts val="800"/>
              </a:spcAft>
              <a:defRPr b="1" sz="1000">
                <a:solidFill>
                  <a:srgbClr val="0E7490"/>
                </a:solidFill>
              </a:defRPr>
            </a:pPr>
            <a:r>
              <a:t>🎓 TUTORÍA ACADÉMICA</a:t>
            </a:r>
          </a:p>
          <a:p>
            <a:pPr>
              <a:spcAft>
                <a:spcPts val="400"/>
              </a:spcAft>
              <a:defRPr b="1" sz="1050">
                <a:solidFill>
                  <a:srgbClr val="1E293B"/>
                </a:solidFill>
              </a:defRPr>
            </a:pPr>
            <a:r>
              <a:t>• Dra. Tania Libertad Pérez Guevara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Docente Investigadora • CUR-Estelí</a:t>
            </a:r>
            <a:br/>
            <a:r>
              <a:t>Asesoría Temática y Metodológica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0416" y="3977639"/>
            <a:ext cx="3154680" cy="214884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spcAft>
                <a:spcPts val="800"/>
              </a:spcAft>
              <a:defRPr b="1" sz="1000">
                <a:solidFill>
                  <a:srgbClr val="B45309"/>
                </a:solidFill>
              </a:defRPr>
            </a:pPr>
            <a:r>
              <a:t>🏛 LÍNEA Y CONTEXTO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Línea: SAL-3 (Salud e Interculturalidad)</a:t>
            </a:r>
            <a:br/>
            <a:r>
              <a:t>Sublínea: Terapias Alternativas</a:t>
            </a:r>
            <a:br/>
            <a:r>
              <a:t>Recinto Leonel Rugama Rugama</a:t>
            </a:r>
            <a:br/>
            <a:r>
              <a:t>Estelí, Nicaragua • Octubre,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549700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E7490"/>
                </a:solidFill>
                <a:latin typeface="Calibri"/>
              </a:defRPr>
            </a:pPr>
            <a:r>
              <a:t>CAPÍTULO I • PLANTEAMIENTO DEL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Encrucijada Asistencial, Vacío Formativo y Pertinencia Social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A192F"/>
                </a:solidFill>
                <a:latin typeface="Calibri"/>
              </a:defRPr>
            </a:pPr>
            <a:r>
              <a:t>2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21208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5212080" cy="457200"/>
          </a:xfrm>
          <a:prstGeom prst="roundRect">
            <a:avLst>
              <a:gd name="adj" fmla="val 8000"/>
            </a:avLst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🛑 PLANTEAMIENTO DEL PROBLEMA Y BRECHA FORMATIVA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65960"/>
            <a:ext cx="47548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050">
                <a:solidFill>
                  <a:srgbClr val="0E7490"/>
                </a:solidFill>
              </a:rPr>
              <a:t>• Asimetría Legal y Sanitaria: </a:t>
            </a:r>
            <a:r>
              <a:rPr sz="1000">
                <a:solidFill>
                  <a:srgbClr val="1E293B"/>
                </a:solidFill>
              </a:rPr>
              <a:t>La Ley No. 774 garantiza el acceso a la MTCI como derecho intercultural; sin embargo, la Ley No. 292 prohíbe tajantemente la prescripción farmacológica a psicólogos.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0E7490"/>
                </a:solidFill>
              </a:rPr>
              <a:t>• El 'Ocultamiento Terapéutico': </a:t>
            </a:r>
            <a:r>
              <a:rPr sz="1000">
                <a:solidFill>
                  <a:srgbClr val="1E293B"/>
                </a:solidFill>
              </a:rPr>
              <a:t>Los consultantes usan preparados herbolarios y masajes, pero lo silencian en sesión por temor a la censura moral o descalificación del terapeuta.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0E7490"/>
                </a:solidFill>
              </a:rPr>
              <a:t>• Vacío en la Malla Curricular: </a:t>
            </a:r>
            <a:r>
              <a:rPr sz="1000">
                <a:solidFill>
                  <a:srgbClr val="1E293B"/>
                </a:solidFill>
              </a:rPr>
              <a:t>Los futuros graduados del CUR-Estelí egresan sin herramientas pedagógicas ni deontológicas para dialogar, psicoeducar o derivar con seguridad.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0E7490"/>
                </a:solidFill>
              </a:rPr>
              <a:t>• Pregunta Central de Investigación: </a:t>
            </a:r>
            <a:r>
              <a:rPr sz="1000">
                <a:solidFill>
                  <a:srgbClr val="1E293B"/>
                </a:solidFill>
              </a:rPr>
              <a:t>¿Cómo fundamenta el diagnóstico de MTCI en Estelí el diseño de un manual ético y pedagógico para Psicología en el CUR-Estelí?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516636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b="1" sz="950">
                <a:solidFill>
                  <a:srgbClr val="B91C1C"/>
                </a:solidFill>
              </a:rPr>
              <a:t>⚠ Encrucijada Práctica: </a:t>
            </a:r>
            <a:r>
              <a:rPr sz="900">
                <a:solidFill>
                  <a:srgbClr val="1E293B"/>
                </a:solidFill>
              </a:rPr>
              <a:t>La población acude cotidianamente a la medicina tradicional; ignorar estos saberes fragmenta la alianza clínica y eleva el riesgo de abandono terapéutico.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1371600"/>
            <a:ext cx="521208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48095" y="1371600"/>
            <a:ext cx="5212080" cy="4572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💡 JUSTIFICACIÓN Y RELEVANCIA MULTIDIMENSIONAL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6695" y="1965960"/>
            <a:ext cx="47548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050">
                <a:solidFill>
                  <a:srgbClr val="B45309"/>
                </a:solidFill>
              </a:rPr>
              <a:t>▶ Pertinencia Ética y Deontológica: </a:t>
            </a:r>
            <a:r>
              <a:rPr sz="1000">
                <a:solidFill>
                  <a:srgbClr val="1E293B"/>
                </a:solidFill>
              </a:rPr>
              <a:t>El principio de beneficencia y alternabilidad exige conocer las prácticas del consultante para evitar prejuicios dogmáticos y resguardar la seguridad clínica.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B45309"/>
                </a:solidFill>
              </a:rPr>
              <a:t>▶ Aporte a la Salud Mental Comunitaria: </a:t>
            </a:r>
            <a:r>
              <a:rPr sz="1000">
                <a:solidFill>
                  <a:srgbClr val="1E293B"/>
                </a:solidFill>
              </a:rPr>
              <a:t>Rescata y visibiliza la memoria viva de facilitadores y la etnobotánica de Estelí dentro del tejido de apoyo psicosocial.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B45309"/>
                </a:solidFill>
              </a:rPr>
              <a:t>▶ Impacto Formativo Directo (CUR-Estelí): </a:t>
            </a:r>
            <a:r>
              <a:rPr sz="1000">
                <a:solidFill>
                  <a:srgbClr val="1E293B"/>
                </a:solidFill>
              </a:rPr>
              <a:t>Provee directrices claras para los practicantes de 4.° y 5.° año en la Clínica Psicosocial y Comunitaria, cerrando la brecha teoría-praxis.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B45309"/>
                </a:solidFill>
              </a:rPr>
              <a:t>▶ Alineación con Agendas de Desarrollo: </a:t>
            </a:r>
            <a:r>
              <a:rPr sz="1000">
                <a:solidFill>
                  <a:srgbClr val="1E293B"/>
                </a:solidFill>
              </a:rPr>
              <a:t>Responde a la línea institucional SAL-3 (UNAN-Managua), a las metas educativas SETEC (2025) y al Plan Nacional de Desarrollo Humano.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6695" y="516636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b="1" sz="950">
                <a:solidFill>
                  <a:srgbClr val="B45309"/>
                </a:solidFill>
              </a:rPr>
              <a:t>✨ Aporte Concreto: </a:t>
            </a:r>
            <a:r>
              <a:rPr sz="900">
                <a:solidFill>
                  <a:srgbClr val="1E293B"/>
                </a:solidFill>
              </a:rPr>
              <a:t>Construcción del primer manual ético-propositivo para delimitar las competencias del psicólogo frente a las terapias tradicionales en Nicaragua.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2664561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E7490"/>
                </a:solidFill>
                <a:latin typeface="Calibri"/>
              </a:defRPr>
            </a:pPr>
            <a:r>
              <a:t>CAPÍTULO I • ESTADO DEL ARTE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Esquema de Antecedentes Empíricos: Internacional, Nacional y Local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A192F"/>
                </a:solidFill>
                <a:latin typeface="Calibri"/>
              </a:defRPr>
            </a:pPr>
            <a:r>
              <a:t>3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342900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🌐 INTERNACIONAL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30632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000">
                <a:solidFill>
                  <a:srgbClr val="0E7490"/>
                </a:solidFill>
              </a:rPr>
              <a:t>• Chafloque-Capuñay et al. (2025): </a:t>
            </a:r>
            <a:r>
              <a:rPr sz="950">
                <a:solidFill>
                  <a:srgbClr val="1E293B"/>
                </a:solidFill>
              </a:rPr>
              <a:t>Revisión sistemática cualitativa (22 estudios). Los adultos recurren a la MTCI buscando autonomía, contención espiritual y un trato empático horizontal ausente en la biomedicina.</a:t>
            </a:r>
          </a:p>
          <a:p>
            <a:pPr>
              <a:spcAft>
                <a:spcPts val="1200"/>
              </a:spcAft>
            </a:pPr>
            <a:r>
              <a:rPr b="1" sz="1000">
                <a:solidFill>
                  <a:srgbClr val="0E7490"/>
                </a:solidFill>
              </a:rPr>
              <a:t>• Ortega Cadena et al. (2023): </a:t>
            </a:r>
            <a:r>
              <a:rPr sz="950">
                <a:solidFill>
                  <a:srgbClr val="1E293B"/>
                </a:solidFill>
              </a:rPr>
              <a:t>Estudio en Colombia sobre interculturalidad. El reduccionismo positivista patologiza las cosmovisiones populares y crea muros de incomunicación asistencial.</a:t>
            </a:r>
          </a:p>
          <a:p>
            <a:pPr>
              <a:spcAft>
                <a:spcPts val="1200"/>
              </a:spcAft>
            </a:pPr>
            <a:r>
              <a:rPr b="1" sz="1000">
                <a:solidFill>
                  <a:srgbClr val="0E7490"/>
                </a:solidFill>
              </a:rPr>
              <a:t>• OMS / OPS (2023, 2025): </a:t>
            </a:r>
            <a:r>
              <a:rPr sz="950">
                <a:solidFill>
                  <a:srgbClr val="1E293B"/>
                </a:solidFill>
              </a:rPr>
              <a:t>Estrategia Mundial sobre Medicina Tradicional: demanda integrar recursos comunitarios seguros en la atención primaria.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16636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b="1" sz="950">
                <a:solidFill>
                  <a:srgbClr val="0A192F"/>
                </a:solidFill>
              </a:rPr>
              <a:t>Eje Global: </a:t>
            </a:r>
            <a:r>
              <a:rPr sz="900">
                <a:solidFill>
                  <a:srgbClr val="1E293B"/>
                </a:solidFill>
              </a:rPr>
              <a:t>Transición hacia modelos asistenciales culturalmente congruentes y centrados en la autonomía.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1371600"/>
            <a:ext cx="342900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79976" y="1371600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🏛 NACIONAL (NICARAGUA)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1965960"/>
            <a:ext cx="30632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b="1" sz="1000">
                <a:solidFill>
                  <a:srgbClr val="B45309"/>
                </a:solidFill>
              </a:rPr>
              <a:t>• Ley No. 774 (2012): </a:t>
            </a:r>
            <a:r>
              <a:rPr sz="950">
                <a:solidFill>
                  <a:srgbClr val="1E293B"/>
                </a:solidFill>
              </a:rPr>
              <a:t>Marco jurídico de vanguardia regional que reconoce la medicina natural y terapias complementarias como derecho inalienable en la red de salud pública.</a:t>
            </a:r>
          </a:p>
          <a:p>
            <a:pPr>
              <a:spcAft>
                <a:spcPts val="900"/>
              </a:spcAft>
            </a:pPr>
            <a:r>
              <a:rPr b="1" sz="1000">
                <a:solidFill>
                  <a:srgbClr val="B45309"/>
                </a:solidFill>
              </a:rPr>
              <a:t>• Romero Hernández (2021): </a:t>
            </a:r>
            <a:r>
              <a:rPr sz="950">
                <a:solidFill>
                  <a:srgbClr val="1E293B"/>
                </a:solidFill>
              </a:rPr>
              <a:t>Patrimonio etnobotánico en Masaya. Sobadores y comadronas fungen como primer escudo de contención psicosomática.</a:t>
            </a:r>
          </a:p>
          <a:p>
            <a:pPr>
              <a:spcAft>
                <a:spcPts val="900"/>
              </a:spcAft>
            </a:pPr>
            <a:r>
              <a:rPr b="1" sz="1000">
                <a:solidFill>
                  <a:srgbClr val="B45309"/>
                </a:solidFill>
              </a:rPr>
              <a:t>• Cunningham (2021): </a:t>
            </a:r>
            <a:r>
              <a:rPr sz="950">
                <a:solidFill>
                  <a:srgbClr val="1E293B"/>
                </a:solidFill>
              </a:rPr>
              <a:t>Modelo en la Costa Caribe: articulación horizontal y sinérgica entre médicos convencionales y terapeutas tradicionales miskitos.</a:t>
            </a:r>
          </a:p>
          <a:p>
            <a:pPr>
              <a:spcAft>
                <a:spcPts val="900"/>
              </a:spcAft>
            </a:pPr>
            <a:r>
              <a:rPr b="1" sz="1000">
                <a:solidFill>
                  <a:srgbClr val="B45309"/>
                </a:solidFill>
              </a:rPr>
              <a:t>• MINSA (2024): </a:t>
            </a:r>
            <a:r>
              <a:rPr sz="950">
                <a:solidFill>
                  <a:srgbClr val="1E293B"/>
                </a:solidFill>
              </a:rPr>
              <a:t>Instituto de Medicina Natural respalda la visión holística de salud vinculada a la comunidad y la tierra.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62856" y="516636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b="1" sz="950">
                <a:solidFill>
                  <a:srgbClr val="B45309"/>
                </a:solidFill>
              </a:rPr>
              <a:t>Eje Nacional: </a:t>
            </a:r>
            <a:r>
              <a:rPr sz="900">
                <a:solidFill>
                  <a:srgbClr val="1E293B"/>
                </a:solidFill>
              </a:rPr>
              <a:t>Existencia de respaldo normativo con imperiosa necesidad de traducción clínica en las aulas universitarias.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2" y="1371600"/>
            <a:ext cx="342900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28432" y="1371600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📍 LOCAL (CUR-ESTELÍ)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1965960"/>
            <a:ext cx="30632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000">
                <a:solidFill>
                  <a:srgbClr val="0E7490"/>
                </a:solidFill>
              </a:rPr>
              <a:t>• Aguilera Altamirano et al. (2019): </a:t>
            </a:r>
            <a:r>
              <a:rPr sz="950">
                <a:solidFill>
                  <a:srgbClr val="1E293B"/>
                </a:solidFill>
              </a:rPr>
              <a:t>Arteterapia aplicada a internos de Medicina en el Hospital San Juan de Dios de Estelí. Demostró disminución sensible del agotamiento emocional y estrés hospitalario.</a:t>
            </a:r>
          </a:p>
          <a:p>
            <a:pPr>
              <a:spcAft>
                <a:spcPts val="1200"/>
              </a:spcAft>
            </a:pPr>
            <a:r>
              <a:rPr b="1" sz="1000">
                <a:solidFill>
                  <a:srgbClr val="0E7490"/>
                </a:solidFill>
              </a:rPr>
              <a:t>• Mora Mejías y Bellorín (2020): </a:t>
            </a:r>
            <a:r>
              <a:rPr sz="950">
                <a:solidFill>
                  <a:srgbClr val="1E293B"/>
                </a:solidFill>
              </a:rPr>
              <a:t>Dramaterapia en estudiantes de Psicología del CUR-Estelí. Constató avances estadísticamente significativos en autoestima y autoconcepto.</a:t>
            </a:r>
          </a:p>
          <a:p>
            <a:pPr>
              <a:spcAft>
                <a:spcPts val="1200"/>
              </a:spcAft>
            </a:pPr>
            <a:r>
              <a:rPr b="1" sz="1000">
                <a:solidFill>
                  <a:srgbClr val="0E7490"/>
                </a:solidFill>
              </a:rPr>
              <a:t>• Hallazgo Articulador Clave: </a:t>
            </a:r>
            <a:r>
              <a:rPr sz="950">
                <a:solidFill>
                  <a:srgbClr val="1E293B"/>
                </a:solidFill>
              </a:rPr>
              <a:t>Los estudiantes de Psicología de la UNAN-Managua ya utilizan empíricamente la MTCI como estrategia personal de autocuidado ante la sobrecarga académica.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11312" y="516636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b="1" sz="950">
                <a:solidFill>
                  <a:srgbClr val="0E7490"/>
                </a:solidFill>
              </a:rPr>
              <a:t>Eje Local: </a:t>
            </a:r>
            <a:r>
              <a:rPr sz="900">
                <a:solidFill>
                  <a:srgbClr val="1E293B"/>
                </a:solidFill>
              </a:rPr>
              <a:t>Evidencia empírica directa de la viabilidad formativa de técnicas somáticas en el campus Estelí.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952036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E7490"/>
                </a:solidFill>
                <a:latin typeface="Calibri"/>
              </a:defRPr>
            </a:pPr>
            <a:r>
              <a:t>CAPÍTULO I • CONTEXTUALIZACIÓN INSTITUCIONAL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Coordenadas Territoriales, Dispositivos Clínicos y Vinculación Comunitaria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A192F"/>
                </a:solidFill>
                <a:latin typeface="Calibri"/>
              </a:defRPr>
            </a:pPr>
            <a:r>
              <a:t>4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30352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5303520" cy="457200"/>
          </a:xfrm>
          <a:prstGeom prst="roundRect">
            <a:avLst>
              <a:gd name="adj" fmla="val 8000"/>
            </a:avLst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🏛 ESCENARIO TERRITORIAL E INSTITUCIONAL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65960"/>
            <a:ext cx="48463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0E7490"/>
                </a:solidFill>
              </a:rPr>
              <a:t>✔ Municipio de Estelí (Norte de Nicaragua): </a:t>
            </a:r>
            <a:r>
              <a:rPr sz="1000">
                <a:solidFill>
                  <a:srgbClr val="1E293B"/>
                </a:solidFill>
              </a:rPr>
              <a:t>Cabecera departamental caracterizada por un dinámico comercio y una fuerte tradición comunitaria en el uso de flora medicinal, sobadores y botánicas populares.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E7490"/>
                </a:solidFill>
              </a:rPr>
              <a:t>✔ Recinto Leonel Rugama Rugama: </a:t>
            </a:r>
            <a:r>
              <a:rPr sz="1000">
                <a:solidFill>
                  <a:srgbClr val="1E293B"/>
                </a:solidFill>
              </a:rPr>
              <a:t>Sede del CUR-Estelí donde convergen alumnos del turno matutino y por encuentro sabatino procedentes de diversos municipios del norte del país.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E7490"/>
                </a:solidFill>
              </a:rPr>
              <a:t>✔ Clínica Psicosocial y Comunitaria: </a:t>
            </a:r>
            <a:r>
              <a:rPr sz="1000">
                <a:solidFill>
                  <a:srgbClr val="1E293B"/>
                </a:solidFill>
              </a:rPr>
              <a:t>Dispositivo asistencial clave donde los estudiantes de 4.° y 5.° año brindan atención psicoterapéutica y talleres a la población.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E7490"/>
                </a:solidFill>
              </a:rPr>
              <a:t>✔ Consultorio Médico Comunitario: </a:t>
            </a:r>
            <a:r>
              <a:rPr sz="1000">
                <a:solidFill>
                  <a:srgbClr val="1E293B"/>
                </a:solidFill>
              </a:rPr>
              <a:t>Espacio de salud primaria y campañas preventivas interinstitucionales en estrecha alianza con el MINSA.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E7490"/>
                </a:solidFill>
              </a:rPr>
              <a:t>✔ Línea SAL-3: </a:t>
            </a:r>
            <a:r>
              <a:rPr sz="1000">
                <a:solidFill>
                  <a:srgbClr val="1E293B"/>
                </a:solidFill>
              </a:rPr>
              <a:t>Inscrito en la sublínea SAL-3.1 (Medicina natural y terapias alternativas), articulado al Plan Nacional de Lucha contra la Pobreza.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516636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b="1" sz="950">
                <a:solidFill>
                  <a:srgbClr val="0A192F"/>
                </a:solidFill>
              </a:rPr>
              <a:t>Pertinencia Situada: </a:t>
            </a:r>
            <a:r>
              <a:rPr sz="900">
                <a:solidFill>
                  <a:srgbClr val="1E293B"/>
                </a:solidFill>
              </a:rPr>
              <a:t>Investigación conectada con las necesidades de salud mental de las comunidades urbanas y rurales de Estelí.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9535" y="1371600"/>
            <a:ext cx="512064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9535" y="1371600"/>
            <a:ext cx="5120640" cy="4572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🗺 MAPA DE UBICACIÓN (CUR-ESTELÍ)</a:t>
            </a:r>
          </a:p>
        </p:txBody>
      </p:sp>
      <p:pic>
        <p:nvPicPr>
          <p:cNvPr id="17" name="Picture 16" descr="figura_01_ubicacion_cur_este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415" y="1965960"/>
            <a:ext cx="4754880" cy="310896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522415" y="516636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b="1" sz="950">
                <a:solidFill>
                  <a:srgbClr val="0E7490"/>
                </a:solidFill>
              </a:rPr>
              <a:t>Figura 1 (APA 7): </a:t>
            </a:r>
            <a:r>
              <a:rPr sz="900">
                <a:solidFill>
                  <a:srgbClr val="1E293B"/>
                </a:solidFill>
              </a:rPr>
              <a:t>Delimitación del CUR-Estelí, recinto Leonel Rugama Rugama, Estelí, Nicaragua (Cartografía Institucional, 2026).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388766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E7490"/>
                </a:solidFill>
                <a:latin typeface="Calibri"/>
              </a:defRPr>
            </a:pPr>
            <a:r>
              <a:t>CAPÍTULO I • ARQUITECTURA TELEOLÓGICA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Esquema Articulador de Objetivos de Investigación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A192F"/>
                </a:solidFill>
                <a:latin typeface="Calibri"/>
              </a:defRPr>
            </a:pPr>
            <a:r>
              <a:t>5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10728655" cy="1691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10728655" cy="457200"/>
          </a:xfrm>
          <a:prstGeom prst="roundRect">
            <a:avLst>
              <a:gd name="adj" fmla="val 8000"/>
            </a:avLst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🎯 OBJETIVO GENERAL DE LA INVESTIGACIÓN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965960"/>
            <a:ext cx="10149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A192F"/>
                </a:solidFill>
              </a:defRPr>
            </a:pPr>
            <a:r>
              <a:t>Explorar la percepción de la Medicina Tradicional, Complementaria e Integrativa (MTCI) como recurso de apoyo en la atención psicológica desde la mirada de actores locales, estudiantes y docentes de Psicología del CUR-Estelí durante el segundo semestre del año 2026.</a:t>
            </a:r>
          </a:p>
          <a:p>
            <a:pPr>
              <a:defRPr sz="1050" b="1">
                <a:solidFill>
                  <a:srgbClr val="B45309"/>
                </a:solidFill>
              </a:defRPr>
            </a:pPr>
            <a:r>
              <a:t>▶ Articulación Metodológica: Triangulación concurrente de datos cuantitativos (estudiantes) y cualitativos (facilitadores territoriales y claustro docente).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46120"/>
            <a:ext cx="3429000" cy="3017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📌 OBJETIVO ESPECÍFICO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40"/>
            <a:ext cx="30632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64748B"/>
                </a:solidFill>
              </a:defRPr>
            </a:pPr>
            <a:r>
              <a:t>DIAGNÓSTICO CUANTITATIVO (ESTUDIANTES)</a:t>
            </a:r>
          </a:p>
          <a:p>
            <a:pPr>
              <a:spcAft>
                <a:spcPts val="400"/>
              </a:spcAft>
              <a:defRPr sz="1000" b="1">
                <a:solidFill>
                  <a:srgbClr val="0A192F"/>
                </a:solidFill>
              </a:defRPr>
            </a:pPr>
            <a:r>
              <a:t>Caracterizar los conocimientos conceptuales, normativos y la frecuencia de uso de la MTCI en estudiantes de 4.º y 5.º año de Psicología.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Foco: Dominio conceptual OMS y leyes sanitarias.</a:t>
            </a:r>
            <a:br/>
            <a:r>
              <a:t>• Muestra: 53 de 4.° año y 15 de 5.° año (n = 68).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577840"/>
            <a:ext cx="3063240" cy="5943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b="1" sz="950">
                <a:solidFill>
                  <a:srgbClr val="0A192F"/>
                </a:solidFill>
              </a:rPr>
              <a:t>Vía Cuantitativa: </a:t>
            </a:r>
            <a:r>
              <a:rPr sz="900">
                <a:solidFill>
                  <a:srgbClr val="1E293B"/>
                </a:solidFill>
              </a:rPr>
              <a:t>I1: Escala Likert (n = 68)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9976" y="3246120"/>
            <a:ext cx="3429000" cy="3017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79976" y="3246120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📌 OBJETIVO ESPECÍFICO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3749040"/>
            <a:ext cx="30632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64748B"/>
                </a:solidFill>
              </a:defRPr>
            </a:pPr>
            <a:r>
              <a:t>EXPLORACIÓN CUALITATIVA (FACILITADORES)</a:t>
            </a:r>
          </a:p>
          <a:p>
            <a:pPr>
              <a:spcAft>
                <a:spcPts val="400"/>
              </a:spcAft>
              <a:defRPr sz="1000" b="1">
                <a:solidFill>
                  <a:srgbClr val="0A192F"/>
                </a:solidFill>
              </a:defRPr>
            </a:pPr>
            <a:r>
              <a:t>Describir los beneficios percibidos y los posibles efectos desfavorables de la MTCI en el bienestar emocional y mental, desde facilitadores locales.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Foco: Alivio somático, estigmas y barreras.</a:t>
            </a:r>
            <a:br/>
            <a:r>
              <a:t>• Muestra: 9 terapeutas con hasta 30 años de labor.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62856" y="5577840"/>
            <a:ext cx="3063240" cy="5943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b="1" sz="950">
                <a:solidFill>
                  <a:srgbClr val="0A192F"/>
                </a:solidFill>
              </a:rPr>
              <a:t>Vía Cualitativa: </a:t>
            </a:r>
            <a:r>
              <a:rPr sz="900">
                <a:solidFill>
                  <a:srgbClr val="1E293B"/>
                </a:solidFill>
              </a:rPr>
              <a:t>I2: Semiestructurado (n = 9)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2" y="3246120"/>
            <a:ext cx="3429000" cy="3017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28432" y="3246120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📌 OBJETIVO ESPECÍFICO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3749040"/>
            <a:ext cx="30632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64748B"/>
                </a:solidFill>
              </a:defRPr>
            </a:pPr>
            <a:r>
              <a:t>FORMULACIÓN PROPOSITIVA (DOCENTES Y ALUMNOS)</a:t>
            </a:r>
          </a:p>
          <a:p>
            <a:pPr>
              <a:spcAft>
                <a:spcPts val="400"/>
              </a:spcAft>
              <a:defRPr sz="1000" b="1">
                <a:solidFill>
                  <a:srgbClr val="0A192F"/>
                </a:solidFill>
              </a:defRPr>
            </a:pPr>
            <a:r>
              <a:t>Proponer estrategias complementarias para abordar la MTCI en la formación de estudiantes de Psicología, formalizadas en un manual técnico-ético.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Foco: Algoritmo clínico, mapas de rol y ética.</a:t>
            </a:r>
            <a:br/>
            <a:r>
              <a:t>• Producto: Manual de 18 págs. (Anexo 16.2).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11312" y="5577840"/>
            <a:ext cx="3063240" cy="5943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b="1" sz="950">
                <a:solidFill>
                  <a:srgbClr val="0A192F"/>
                </a:solidFill>
              </a:rPr>
              <a:t>Vía Propositiva: </a:t>
            </a:r>
            <a:r>
              <a:rPr sz="900">
                <a:solidFill>
                  <a:srgbClr val="1E293B"/>
                </a:solidFill>
              </a:rPr>
              <a:t>I3 (n = 9) + Manual 18 págs.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066897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E7490"/>
                </a:solidFill>
                <a:latin typeface="Calibri"/>
              </a:defRPr>
            </a:pPr>
            <a:r>
              <a:t>CAPÍTULO II • MARCO TEÓRICO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Bases Conceptuales de la MTCI, Taxonomía OMS y Marco Jurídico Nicaragüense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A192F"/>
                </a:solidFill>
                <a:latin typeface="Calibri"/>
              </a:defRPr>
            </a:pPr>
            <a:r>
              <a:t>6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21208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5212080" cy="457200"/>
          </a:xfrm>
          <a:prstGeom prst="roundRect">
            <a:avLst>
              <a:gd name="adj" fmla="val 8000"/>
            </a:avLst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📚 DESLINDE CONCEPTUAL Y TAXONOMÍA (OMS/OPS)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65960"/>
            <a:ext cx="47548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0E7490"/>
                </a:solidFill>
              </a:rPr>
              <a:t>• Medicina Tradicional (MT): </a:t>
            </a:r>
            <a:r>
              <a:rPr sz="1000">
                <a:solidFill>
                  <a:srgbClr val="1E293B"/>
                </a:solidFill>
              </a:rPr>
              <a:t>Saberes ancestrales, indígenas y populares transmitidos oralmente para salvaguardar la salud física y comunitaria (OMS, 2022, 2025). En Nicaragua se arraiga en la etnobotánica viva.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E7490"/>
                </a:solidFill>
              </a:rPr>
              <a:t>• Medicina Complementaria (MC): </a:t>
            </a:r>
            <a:r>
              <a:rPr sz="1000">
                <a:solidFill>
                  <a:srgbClr val="1E293B"/>
                </a:solidFill>
              </a:rPr>
              <a:t>Prácticas de atención de salud que no son autóctonas ni forman parte del sistema médico hegemónico, utilizadas coadyuvantemente sin sustituir a la alopatía (OMS, 2022).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E7490"/>
                </a:solidFill>
              </a:rPr>
              <a:t>• Medicina Integrativa (MI): </a:t>
            </a:r>
            <a:r>
              <a:rPr sz="1000">
                <a:solidFill>
                  <a:srgbClr val="1E293B"/>
                </a:solidFill>
              </a:rPr>
              <a:t>Coordinación sinérgica de tratamientos convencionales y complementarios bajo evidencia científica y visión holística de la persona (OPS, 2023).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E7490"/>
                </a:solidFill>
              </a:rPr>
              <a:t>• Taxonomía de Prácticas (Ley 774 Art. 12): </a:t>
            </a:r>
            <a:r>
              <a:rPr sz="1000">
                <a:solidFill>
                  <a:srgbClr val="1E293B"/>
                </a:solidFill>
              </a:rPr>
              <a:t>Terapias energéticas (Reiki); manuales (masoterapia, quiropraxia); elementos naturales (hidroterapia); fitoterapia y aromaterapia; y sistémicas.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516636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b="1" sz="950">
                <a:solidFill>
                  <a:srgbClr val="0E7490"/>
                </a:solidFill>
              </a:rPr>
              <a:t>Paradigma Holístico: </a:t>
            </a:r>
            <a:r>
              <a:rPr sz="900">
                <a:solidFill>
                  <a:srgbClr val="1E293B"/>
                </a:solidFill>
              </a:rPr>
              <a:t>El bienestar supera la ausencia de enfermedad; implica el equilibrio entre mente, cuerpo y entorno social.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1371600"/>
            <a:ext cx="521208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48095" y="1371600"/>
            <a:ext cx="5212080" cy="45720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⚖ MARCO JURÍDICO SANITARIO DE NICARAGUA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6695" y="1965960"/>
            <a:ext cx="47548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050">
                <a:solidFill>
                  <a:srgbClr val="B45309"/>
                </a:solidFill>
              </a:rPr>
              <a:t>⚖ Ley No. 774 (Asamblea Nacional, 2012): </a:t>
            </a:r>
            <a:r>
              <a:rPr sz="1000">
                <a:solidFill>
                  <a:srgbClr val="1E293B"/>
                </a:solidFill>
              </a:rPr>
              <a:t>Ley de Medicina Natural, Terapias Complementarias y Productos Naturales.
 ▶ Consagra el acceso a la MTCI como un derecho ciudadano inalienable.
 ▶ Mandata su integración progresiva en la red pública de salud.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B45309"/>
                </a:solidFill>
              </a:rPr>
              <a:t>⚖ Ley No. 292 (Asamblea Nacional, 1998): </a:t>
            </a:r>
            <a:r>
              <a:rPr sz="1000">
                <a:solidFill>
                  <a:srgbClr val="1E293B"/>
                </a:solidFill>
              </a:rPr>
              <a:t>Ley de Medicamentos y Farmacias.
 ▶ Prohíbe de forma terminante al profesional de la Psicología prescribir psicofármacos o remedios farmacológicos.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B45309"/>
                </a:solidFill>
              </a:rPr>
              <a:t>⚖ Ley No. 759 (Asamblea Nacional, 2011): </a:t>
            </a:r>
            <a:r>
              <a:rPr sz="1000">
                <a:solidFill>
                  <a:srgbClr val="1E293B"/>
                </a:solidFill>
              </a:rPr>
              <a:t>Ley de Medicina Tradicional Ancestral.
 ▶ Salvaguarda y reconoce el patrimonio de los pueblos originarios y afrodescendientes.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6695" y="516636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b="1" sz="950">
                <a:solidFill>
                  <a:srgbClr val="B91C1C"/>
                </a:solidFill>
              </a:rPr>
              <a:t>Delimitación Deontológica: </a:t>
            </a:r>
            <a:r>
              <a:rPr sz="900">
                <a:solidFill>
                  <a:srgbClr val="1E293B"/>
                </a:solidFill>
              </a:rPr>
              <a:t>El psicólogo debe alfabetizarse en MTCI no para prescribir, sino para dialogar, psicoeducar y derivar éticamente.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066897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E7490"/>
                </a:solidFill>
                <a:latin typeface="Calibri"/>
              </a:defRPr>
            </a:pPr>
            <a:r>
              <a:t>CAPÍTULO II • MARCO TEÓRICO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Dimensión Psicofisiológica: Articulación Clínica Top-Down y Bottom-Up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A192F"/>
                </a:solidFill>
                <a:latin typeface="Calibri"/>
              </a:defRPr>
            </a:pPr>
            <a:r>
              <a:t>7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212080" cy="3246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5212080" cy="457200"/>
          </a:xfrm>
          <a:prstGeom prst="roundRect">
            <a:avLst>
              <a:gd name="adj" fmla="val 8000"/>
            </a:avLst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🧠 VÍA TOP-DOWN (CORTICAL / REFLEXIVA)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65960"/>
            <a:ext cx="47548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000">
                <a:solidFill>
                  <a:srgbClr val="0E7490"/>
                </a:solidFill>
              </a:rPr>
              <a:t>• Mecanismo Neurocognitivo: </a:t>
            </a:r>
            <a:r>
              <a:rPr sz="950">
                <a:solidFill>
                  <a:srgbClr val="1E293B"/>
                </a:solidFill>
              </a:rPr>
              <a:t>Opera mediante la corteza prefrontal, el lenguaje reflexivo, la reestructuración de creencias y la narrativa autobiográfica (Laricchiuta et al., 2023).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0E7490"/>
                </a:solidFill>
              </a:rPr>
              <a:t>• Técnicas Propias: </a:t>
            </a:r>
            <a:r>
              <a:rPr sz="950">
                <a:solidFill>
                  <a:srgbClr val="1E293B"/>
                </a:solidFill>
              </a:rPr>
              <a:t>Psicoterapia verbal, diálogo socrático, resignificación cognitiva y toma de decisiones informadas.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0E7490"/>
                </a:solidFill>
              </a:rPr>
              <a:t>• Limitación en Crisis: </a:t>
            </a:r>
            <a:r>
              <a:rPr sz="950">
                <a:solidFill>
                  <a:srgbClr val="1E293B"/>
                </a:solidFill>
              </a:rPr>
              <a:t>La hiperactivación simpática y el desborde amigdalino bloquean el procesamiento cortical, esterilizando la intervención puramente verbal.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1371600"/>
            <a:ext cx="5212080" cy="3246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8095" y="1371600"/>
            <a:ext cx="5212080" cy="4572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🌿 VÍA BOTTOM-UP (SOMÁTICA / MTCI)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1965960"/>
            <a:ext cx="47548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000">
                <a:solidFill>
                  <a:srgbClr val="B45309"/>
                </a:solidFill>
              </a:rPr>
              <a:t>• Mecanismo Neurovegetativo: </a:t>
            </a:r>
            <a:r>
              <a:rPr sz="950">
                <a:solidFill>
                  <a:srgbClr val="1E293B"/>
                </a:solidFill>
              </a:rPr>
              <a:t>Incide directamente sobre el sistema nervioso autónomo, la respuesta vagal ventral y los centros subcorticales mediante la modulación propioceptiva (Thomson, 2023).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B45309"/>
                </a:solidFill>
              </a:rPr>
              <a:t>• Aporte Específico MTCI: </a:t>
            </a:r>
            <a:r>
              <a:rPr sz="950">
                <a:solidFill>
                  <a:srgbClr val="1E293B"/>
                </a:solidFill>
              </a:rPr>
              <a:t>Respiración diafragmática, masoterapia tradicional, escaneo corporal y fitoterapia ansiolítica suave (manzanilla, tilo, valeriana).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B45309"/>
                </a:solidFill>
              </a:rPr>
              <a:t>• Efecto Facilitador: </a:t>
            </a:r>
            <a:r>
              <a:rPr sz="950">
                <a:solidFill>
                  <a:srgbClr val="1E293B"/>
                </a:solidFill>
              </a:rPr>
              <a:t>Desactiva la hipertonía miofascial y devuelve al organismo a su ventana de tolerancia, habilitando el procesamiento superior.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10728655" cy="1508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754880"/>
            <a:ext cx="10728655" cy="45720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🔄 LA SINERGIA CLÍNICA INTEGRATIVA EN SALUD MENTAL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25780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b="1" sz="1050">
                <a:solidFill>
                  <a:srgbClr val="0A192F"/>
                </a:solidFill>
              </a:defRPr>
            </a:pPr>
            <a:r>
              <a:t>La integración de la MTCI en psicología no sustituye el rigor científico; fundamenta un modelo biopsicosocial completo: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Al calmar la sobrecarga somática y autonómica mediante recursos Bottom-Up (masajes, respiración consciente, infusiones naturales), se instaura una base neurofisiológica de seguridad que optimiza y potencia la psicoterapia reflexiva Top-Down (reestructuración cognitiva y narrativa reflexiva), consolidando una alianza terapéutica culturalmente sensible.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630168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E7490"/>
                </a:solidFill>
                <a:latin typeface="Calibri"/>
              </a:defRPr>
            </a:pPr>
            <a:r>
              <a:t>CAPÍTULO III • DISEÑO METODOLÓGICO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Tipología de Estudio, Paradigma Pragmático y Fases de la Investigación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A192F"/>
                </a:solidFill>
                <a:latin typeface="Calibri"/>
              </a:defRPr>
            </a:pPr>
            <a:r>
              <a:t>8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21208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5212080" cy="457200"/>
          </a:xfrm>
          <a:prstGeom prst="roundRect">
            <a:avLst>
              <a:gd name="adj" fmla="val 8000"/>
            </a:avLst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📐 TIPOLOGÍA Y PARADIGMA METODOLÓGICO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65960"/>
            <a:ext cx="47548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050">
                <a:solidFill>
                  <a:srgbClr val="0E7490"/>
                </a:solidFill>
              </a:rPr>
              <a:t>✔ Enfoque Mixto Concurrente (DIAC): </a:t>
            </a:r>
            <a:r>
              <a:rPr sz="1000">
                <a:solidFill>
                  <a:srgbClr val="1E293B"/>
                </a:solidFill>
              </a:rPr>
              <a:t>Articula la medición cuantitativa estandarizada (OE1) con la hermenéutica cualitativa (OE2 y OE3), integrándolas dialógicamente en la discusión (Hernández-Sampieri &amp; Mendoza, 2023).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0E7490"/>
                </a:solidFill>
              </a:rPr>
              <a:t>✔ Paradigma Pragmático (Arias, 2023): </a:t>
            </a:r>
            <a:r>
              <a:rPr sz="1000">
                <a:solidFill>
                  <a:srgbClr val="1E293B"/>
                </a:solidFill>
              </a:rPr>
              <a:t>Supera disputas dogmáticas; supedita el método a la resolución empírica del problema real en la clínica y las aulas del CUR-Estelí.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0E7490"/>
                </a:solidFill>
              </a:rPr>
              <a:t>✔ Nivel y Diseño Temporal: </a:t>
            </a:r>
            <a:r>
              <a:rPr sz="1000">
                <a:solidFill>
                  <a:srgbClr val="1E293B"/>
                </a:solidFill>
              </a:rPr>
              <a:t>Descriptivo con alcance exploratorio y propositivo; no experimental y transversal (segundo semestre lectivo 2026).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0E7490"/>
                </a:solidFill>
              </a:rPr>
              <a:t>✔ Adscripción Institucional: </a:t>
            </a:r>
            <a:r>
              <a:rPr sz="1000">
                <a:solidFill>
                  <a:srgbClr val="1E293B"/>
                </a:solidFill>
              </a:rPr>
              <a:t>Campo UNESCO 0313 (Psicología), Línea SAL-3 (UNAN-Managua) y Agenda Nacional de Investigación SETEC 2025–2027.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516636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b="1" sz="950">
                <a:solidFill>
                  <a:srgbClr val="0A192F"/>
                </a:solidFill>
              </a:rPr>
              <a:t>Rigor Metodológico: </a:t>
            </a:r>
            <a:r>
              <a:rPr sz="900">
                <a:solidFill>
                  <a:srgbClr val="1E293B"/>
                </a:solidFill>
              </a:rPr>
              <a:t>Validación de instrumentos mediante juicio de 4 expertos universitarios y triangulación concurrente de fuentes.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1371600"/>
            <a:ext cx="521208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48095" y="1371600"/>
            <a:ext cx="5212080" cy="4572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🔄 LAS CUATRO FASES DE LA INVESTIGACIÓN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6695" y="1965960"/>
            <a:ext cx="47548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050">
                <a:solidFill>
                  <a:srgbClr val="B45309"/>
                </a:solidFill>
              </a:rPr>
              <a:t>▶ Fase 1: Preliminar y Fundamentación: </a:t>
            </a:r>
            <a:r>
              <a:rPr sz="1000">
                <a:solidFill>
                  <a:srgbClr val="1E293B"/>
                </a:solidFill>
              </a:rPr>
              <a:t>Delimitación del problema, formulación de objetivos, revisión de literatura y sistematización del marco jurídico (Leyes 774, 759 y 292).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B45309"/>
                </a:solidFill>
              </a:rPr>
              <a:t>▶ Fase 2: Diseño y Validación Instrumental: </a:t>
            </a:r>
            <a:r>
              <a:rPr sz="1000">
                <a:solidFill>
                  <a:srgbClr val="1E293B"/>
                </a:solidFill>
              </a:rPr>
              <a:t>Construcción de los cuestionarios I1, I2 e I3; juicio crítico de 4 expertos universitarios para depurar pertinencia, sintaxis y escala.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B45309"/>
                </a:solidFill>
              </a:rPr>
              <a:t>▶ Fase 3: Trabajo de Campo y Análisis Empírico: </a:t>
            </a:r>
            <a:r>
              <a:rPr sz="1000">
                <a:solidFill>
                  <a:srgbClr val="1E293B"/>
                </a:solidFill>
              </a:rPr>
              <a:t>Levantamiento muestral (n = 68 alumnos, n = 9 facilitadores, n = 9 docentes), procesamiento en SPSS v26 y análisis de contenido temático.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B45309"/>
                </a:solidFill>
              </a:rPr>
              <a:t>▶ Fase 4: Formulación Propositiva del Manual (OE3): </a:t>
            </a:r>
            <a:r>
              <a:rPr sz="1000">
                <a:solidFill>
                  <a:srgbClr val="1E293B"/>
                </a:solidFill>
              </a:rPr>
              <a:t>Traducción de brechas diagnósticas en el Manual de Estrategias MTCI de 18 páginas para la práctica clínica y docente.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6695" y="516636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b="1" sz="950">
                <a:solidFill>
                  <a:srgbClr val="B45309"/>
                </a:solidFill>
              </a:rPr>
              <a:t>Producto Final: </a:t>
            </a:r>
            <a:r>
              <a:rPr sz="900">
                <a:solidFill>
                  <a:srgbClr val="1E293B"/>
                </a:solidFill>
              </a:rPr>
              <a:t>El proceso investigativo culmina en una herramienta aplicable in extenso en el Anexo 16.2 de la tesis.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630168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E7490"/>
                </a:solidFill>
                <a:latin typeface="Calibri"/>
              </a:defRPr>
            </a:pPr>
            <a:r>
              <a:t>CAPÍTULO III • DISEÑO METODOLÓGICO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Unidades de Análisis, Muestra Participante (N = 86) e Instrumentos de Campo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A192F"/>
                </a:solidFill>
                <a:latin typeface="Calibri"/>
              </a:defRPr>
            </a:pPr>
            <a:r>
              <a:t>9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493776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4937760" cy="457200"/>
          </a:xfrm>
          <a:prstGeom prst="roundRect">
            <a:avLst>
              <a:gd name="adj" fmla="val 8000"/>
            </a:avLst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🔍 CRITERIOS DE SELECCIÓN MUESTRAL</a:t>
            </a:r>
          </a:p>
        </p:txBody>
      </p:sp>
      <p:pic>
        <p:nvPicPr>
          <p:cNvPr id="13" name="Picture 12" descr="figura_02_criterios_inclusion_excl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65960"/>
            <a:ext cx="4663440" cy="31089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68680" y="516636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b="1" sz="950">
                <a:solidFill>
                  <a:srgbClr val="0A192F"/>
                </a:solidFill>
              </a:rPr>
              <a:t>Figura 2 (APA 7): </a:t>
            </a:r>
            <a:r>
              <a:rPr sz="900">
                <a:solidFill>
                  <a:srgbClr val="1E293B"/>
                </a:solidFill>
              </a:rPr>
              <a:t>Flujograma de inclusión y exclusión aplicado a estudiantes, facilitadores y docentes (Elaboración propia, 2026).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73775" y="1371600"/>
            <a:ext cx="548640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73775" y="1371600"/>
            <a:ext cx="5486400" cy="4572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👥 TRES UNIDADES DE ANÁLISIS (N = 86)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96596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500" b="1">
                <a:solidFill>
                  <a:srgbClr val="0A192F"/>
                </a:solidFill>
                <a:latin typeface="Calibri"/>
              </a:defRPr>
            </a:pPr>
            <a:r>
              <a:t>n = 68</a:t>
            </a:r>
          </a:p>
          <a:p>
            <a:pPr algn="ctr">
              <a:defRPr sz="850" b="1">
                <a:solidFill>
                  <a:srgbClr val="1E293B"/>
                </a:solidFill>
                <a:latin typeface="Calibri"/>
              </a:defRPr>
            </a:pPr>
            <a:r>
              <a:t>Estudiantes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7848" y="196596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500" b="1">
                <a:solidFill>
                  <a:srgbClr val="B45309"/>
                </a:solidFill>
                <a:latin typeface="Calibri"/>
              </a:defRPr>
            </a:pPr>
            <a:r>
              <a:t>n = 9</a:t>
            </a:r>
          </a:p>
          <a:p>
            <a:pPr algn="ctr">
              <a:defRPr sz="850" b="1">
                <a:solidFill>
                  <a:srgbClr val="1E293B"/>
                </a:solidFill>
                <a:latin typeface="Calibri"/>
              </a:defRPr>
            </a:pPr>
            <a:r>
              <a:t>Facilitadores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83496" y="196596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500" b="1">
                <a:solidFill>
                  <a:srgbClr val="0E7490"/>
                </a:solidFill>
                <a:latin typeface="Calibri"/>
              </a:defRPr>
            </a:pPr>
            <a:r>
              <a:t>n = 9</a:t>
            </a:r>
          </a:p>
          <a:p>
            <a:pPr algn="ctr">
              <a:defRPr sz="850" b="1">
                <a:solidFill>
                  <a:srgbClr val="1E293B"/>
                </a:solidFill>
                <a:latin typeface="Calibri"/>
              </a:defRPr>
            </a:pPr>
            <a:r>
              <a:t>Docentes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834640"/>
            <a:ext cx="51206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000">
                <a:solidFill>
                  <a:srgbClr val="0E7490"/>
                </a:solidFill>
              </a:rPr>
              <a:t>1. Estudiantes de Psicología (n = 68): </a:t>
            </a:r>
            <a:r>
              <a:rPr sz="950">
                <a:solidFill>
                  <a:srgbClr val="1E293B"/>
                </a:solidFill>
              </a:rPr>
              <a:t>53 de 4.° año (77.9%) y 15 de 5.° año (22.1%) en turnos matutino y sabatino. Cuestionario I1 (12 ítems Likert y selección múltiple en Google Forms).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B45309"/>
                </a:solidFill>
              </a:rPr>
              <a:t>2. Facilitadores Locales (n = 9): </a:t>
            </a:r>
            <a:r>
              <a:rPr sz="950">
                <a:solidFill>
                  <a:srgbClr val="1E293B"/>
                </a:solidFill>
              </a:rPr>
              <a:t>7 mujeres y 2 hombres con amplia trayectoria en Estelí. Cuestionario cualitativo semiestructurado I2 (11 preguntas abiertas).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0A192F"/>
                </a:solidFill>
              </a:rPr>
              <a:t>3. Claustro Docente-Psicólogos (n = 9): </a:t>
            </a:r>
            <a:r>
              <a:rPr sz="950">
                <a:solidFill>
                  <a:srgbClr val="1E293B"/>
                </a:solidFill>
              </a:rPr>
              <a:t>Profesores activos de grado y posgrado. Cuestionario reflexivo I3 (14 preguntas abiertas sobre pertinencia curricular).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516636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b="1" sz="950">
                <a:solidFill>
                  <a:srgbClr val="0E7490"/>
                </a:solidFill>
              </a:rPr>
              <a:t>Triangulación Concurrente: </a:t>
            </a:r>
            <a:r>
              <a:rPr sz="900">
                <a:solidFill>
                  <a:srgbClr val="1E293B"/>
                </a:solidFill>
              </a:rPr>
              <a:t>Convergencia de la medición estandarizada con la fenomenología territorial y pedagógica.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630168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E7490"/>
                </a:solidFill>
                <a:latin typeface="Calibri"/>
              </a:defRPr>
            </a:pPr>
            <a:r>
              <a:t>CAPÍTULO IV • RESULTADOS EMPÍRICOS (1/4)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Caracterización de la Muestra Estudiantil y Brecha de Conocimiento Normativo (OE1)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A192F"/>
                </a:solidFill>
                <a:latin typeface="Calibri"/>
              </a:defRPr>
            </a:pPr>
            <a:r>
              <a:t>10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21208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5212080" cy="457200"/>
          </a:xfrm>
          <a:prstGeom prst="roundRect">
            <a:avLst>
              <a:gd name="adj" fmla="val 8000"/>
            </a:avLst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📊 CARACTERIZACIÓN SOCIODEMOGRÁFICA (n = 68)</a:t>
            </a:r>
          </a:p>
        </p:txBody>
      </p:sp>
      <p:pic>
        <p:nvPicPr>
          <p:cNvPr id="13" name="Picture 12" descr="figura_03_demografia_estudian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4846320" cy="228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434340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• Feminización: 82.4% mujeres (n = 56) y 14.7% varones (n = 10).</a:t>
            </a:r>
            <a:br/>
            <a:r>
              <a:t>• Colectivo joven: 61.8% entre 20 y 22 años; 26.5% entre 23 y 25 años.</a:t>
            </a:r>
            <a:br/>
            <a:r>
              <a:t>• Nivel formativo: 77.9% en 4.º año y 22.1% en 5.º año preprofesional.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516636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b="1" sz="950">
                <a:solidFill>
                  <a:srgbClr val="0A192F"/>
                </a:solidFill>
              </a:rPr>
              <a:t>Perfil Formativo: </a:t>
            </a:r>
            <a:r>
              <a:rPr sz="900">
                <a:solidFill>
                  <a:srgbClr val="1E293B"/>
                </a:solidFill>
              </a:rPr>
              <a:t>Población predominantemente femenina, joven y en culminación de prácticas clínicas.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095" y="1371600"/>
            <a:ext cx="521208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8095" y="1371600"/>
            <a:ext cx="5212080" cy="45720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⚠️ BRECHA COGNITIVO-NORMATIVA EN ESTUDIANTES</a:t>
            </a:r>
          </a:p>
        </p:txBody>
      </p:sp>
      <p:pic>
        <p:nvPicPr>
          <p:cNvPr id="18" name="Picture 17" descr="figura_04_dominio_conceptual_normativo_estudian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975" y="1965960"/>
            <a:ext cx="4846320" cy="228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76695" y="434340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• Dominio Conceptual: 67.6% acierta la definición OMS, pero 75.0% no conoce su aplicación.</a:t>
            </a:r>
            <a:br/>
            <a:r>
              <a:t>• Desconocimiento Ley No. 774: 58.8% desconoce el marco legal de la MTCI en el país.</a:t>
            </a:r>
            <a:br/>
            <a:r>
              <a:t>• Desconocimiento Ley No. 292: 64.7% desconoce la inhabilitación para prescribir fármacos.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76695" y="516636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b="1" sz="950">
                <a:solidFill>
                  <a:srgbClr val="B91C1C"/>
                </a:solidFill>
              </a:rPr>
              <a:t>Alerta Formativa: </a:t>
            </a:r>
            <a:r>
              <a:rPr sz="900">
                <a:solidFill>
                  <a:srgbClr val="1E293B"/>
                </a:solidFill>
              </a:rPr>
              <a:t>La brecha jurídica expone a los futuros profesionales a dilemas deontológicos y riesgos de mala praxis.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630168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E7490"/>
                </a:solidFill>
                <a:latin typeface="Calibri"/>
              </a:defRPr>
            </a:pPr>
            <a:r>
              <a:t>CAPÍTULO IV • RESULTADOS EMPÍRICOS (2/4)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La Paradoja Formativa y la Eficacia Subjetiva del Autocuidado Somático (OE1)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A192F"/>
                </a:solidFill>
                <a:latin typeface="Calibri"/>
              </a:defRPr>
            </a:pPr>
            <a:r>
              <a:t>11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21208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5212080" cy="457200"/>
          </a:xfrm>
          <a:prstGeom prst="roundRect">
            <a:avLst>
              <a:gd name="adj" fmla="val 8000"/>
            </a:avLst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⚖️ LA GRAN PARADOJA FORMATIVA ESTUDIANTIL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1965960"/>
            <a:ext cx="4754880" cy="914400"/>
          </a:xfrm>
          <a:prstGeom prst="roundRect">
            <a:avLst>
              <a:gd name="adj" fmla="val 1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500" b="1">
                <a:solidFill>
                  <a:srgbClr val="0E7490"/>
                </a:solidFill>
                <a:latin typeface="Calibri"/>
              </a:defRPr>
            </a:pPr>
            <a:r>
              <a:t>89.7%</a:t>
            </a:r>
          </a:p>
          <a:p>
            <a:pPr algn="ctr">
              <a:defRPr sz="850" b="1">
                <a:solidFill>
                  <a:srgbClr val="1E293B"/>
                </a:solidFill>
                <a:latin typeface="Calibri"/>
              </a:defRPr>
            </a:pPr>
            <a:r>
              <a:t>VALIDA LA PERTINENCIA CLÍNICA DE LA MTCI EN PSICOTERAPIA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017520"/>
            <a:ext cx="4754880" cy="91440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500" b="1">
                <a:solidFill>
                  <a:srgbClr val="B91C1C"/>
                </a:solidFill>
                <a:latin typeface="Calibri"/>
              </a:defRPr>
            </a:pPr>
            <a:r>
              <a:t>88.2%</a:t>
            </a:r>
          </a:p>
          <a:p>
            <a:pPr algn="ctr">
              <a:defRPr sz="850" b="1">
                <a:solidFill>
                  <a:srgbClr val="1E293B"/>
                </a:solidFill>
                <a:latin typeface="Calibri"/>
              </a:defRPr>
            </a:pPr>
            <a:r>
              <a:t>AUTOPERCIBE PREPARACIÓN INSUFICIENTE O NULA PARA DERIVAR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069080"/>
            <a:ext cx="4754880" cy="91440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500" b="1">
                <a:solidFill>
                  <a:srgbClr val="B91C1C"/>
                </a:solidFill>
                <a:latin typeface="Calibri"/>
              </a:defRPr>
            </a:pPr>
            <a:r>
              <a:t>86.8%</a:t>
            </a:r>
          </a:p>
          <a:p>
            <a:pPr algn="ctr">
              <a:defRPr sz="850" b="1">
                <a:solidFill>
                  <a:srgbClr val="1E293B"/>
                </a:solidFill>
                <a:latin typeface="Calibri"/>
              </a:defRPr>
            </a:pPr>
            <a:r>
              <a:t>AUTOPERCIBE PREPARACIÓN INSUFICIENTE O NULA PARA PSICOEDUCAR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516636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b="1" sz="950">
                <a:solidFill>
                  <a:srgbClr val="B45309"/>
                </a:solidFill>
              </a:rPr>
              <a:t>Paradoja Medular: </a:t>
            </a:r>
            <a:r>
              <a:rPr sz="900">
                <a:solidFill>
                  <a:srgbClr val="1E293B"/>
                </a:solidFill>
              </a:rPr>
              <a:t>Convicción ética plena sobre el valor de la MTCI, pero con total desamparo procedimental y curricular.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8095" y="1371600"/>
            <a:ext cx="521208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8095" y="1371600"/>
            <a:ext cx="5212080" cy="4572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🧘 USO PERSONAL Y EFICACIA SOMÁTICA PERCIBIDA</a:t>
            </a:r>
          </a:p>
        </p:txBody>
      </p:sp>
      <p:pic>
        <p:nvPicPr>
          <p:cNvPr id="19" name="Picture 18" descr="figura_07_frecuencia_uso_estudian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975" y="1965960"/>
            <a:ext cx="4846320" cy="2286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76695" y="434340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• Carácter Reactivo: 52.9% no usa la MTCI de forma preventiva; acuden ante sobrecarga.</a:t>
            </a:r>
            <a:br/>
            <a:r>
              <a:t>• Bienestar Somático: 86.7% reporta efectos favorables o muy favorables en relajación.</a:t>
            </a:r>
            <a:br/>
            <a:r>
              <a:t>• Seguridad Clínico-Empírica: 0.0% de efectos adversos reportados en la muestra.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6695" y="516636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b="1" sz="950">
                <a:solidFill>
                  <a:srgbClr val="0E7490"/>
                </a:solidFill>
              </a:rPr>
              <a:t>Eficacia Somática: </a:t>
            </a:r>
            <a:r>
              <a:rPr sz="900">
                <a:solidFill>
                  <a:srgbClr val="1E293B"/>
                </a:solidFill>
              </a:rPr>
              <a:t>El estudiantado experimenta en primera persona la eficacia del alivio somático frente al estrés académico.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630168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E7490"/>
                </a:solidFill>
                <a:latin typeface="Calibri"/>
              </a:defRPr>
            </a:pPr>
            <a:r>
              <a:t>CAPÍTULO IV • RESULTADOS EMPÍRICOS (3/4)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Perspectiva de Facilitadores Locales de Estelí y Claustro Docente (OE2 y OE3)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A192F"/>
                </a:solidFill>
                <a:latin typeface="Calibri"/>
              </a:defRPr>
            </a:pPr>
            <a:r>
              <a:t>12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21208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5212080" cy="4572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🌿 FACILITADORES LOCALES DE ESTELÍ (n = 9)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1965960"/>
            <a:ext cx="1554480" cy="685800"/>
          </a:xfrm>
          <a:prstGeom prst="roundRect">
            <a:avLst>
              <a:gd name="adj" fmla="val 1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500" b="1">
                <a:solidFill>
                  <a:srgbClr val="0E7490"/>
                </a:solidFill>
                <a:latin typeface="Calibri"/>
              </a:defRPr>
            </a:pPr>
            <a:r>
              <a:t>77.8%</a:t>
            </a:r>
          </a:p>
          <a:p>
            <a:pPr algn="ctr">
              <a:defRPr sz="850" b="1">
                <a:solidFill>
                  <a:srgbClr val="1E293B"/>
                </a:solidFill>
                <a:latin typeface="Calibri"/>
              </a:defRPr>
            </a:pPr>
            <a:r>
              <a:t>Mujeres (n=7)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87752" y="1965960"/>
            <a:ext cx="1554480" cy="68580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500" b="1">
                <a:solidFill>
                  <a:srgbClr val="0A192F"/>
                </a:solidFill>
                <a:latin typeface="Calibri"/>
              </a:defRPr>
            </a:pPr>
            <a:r>
              <a:t>44.4%</a:t>
            </a:r>
          </a:p>
          <a:p>
            <a:pPr algn="ctr">
              <a:defRPr sz="850" b="1">
                <a:solidFill>
                  <a:srgbClr val="1E293B"/>
                </a:solidFill>
                <a:latin typeface="Calibri"/>
              </a:defRPr>
            </a:pPr>
            <a:r>
              <a:t>&gt;20 Años Exp.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15384" y="1965960"/>
            <a:ext cx="1554480" cy="68580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500" b="1">
                <a:solidFill>
                  <a:srgbClr val="B45309"/>
                </a:solidFill>
                <a:latin typeface="Calibri"/>
              </a:defRPr>
            </a:pPr>
            <a:r>
              <a:t>100%</a:t>
            </a:r>
          </a:p>
          <a:p>
            <a:pPr algn="ctr">
              <a:defRPr sz="850" b="1">
                <a:solidFill>
                  <a:srgbClr val="1E293B"/>
                </a:solidFill>
                <a:latin typeface="Calibri"/>
              </a:defRPr>
            </a:pPr>
            <a:r>
              <a:t>Alivio Somático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000">
                <a:solidFill>
                  <a:srgbClr val="0E7490"/>
                </a:solidFill>
              </a:rPr>
              <a:t>📍 Cobertura y Terapias: </a:t>
            </a:r>
            <a:r>
              <a:rPr sz="950">
                <a:solidFill>
                  <a:srgbClr val="1E293B"/>
                </a:solidFill>
              </a:rPr>
              <a:t>Concentrados en Estelí urbano (77.8%); oferta en masoterapia, fitoterapia, reflexología, ayurveda y reiki.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0E7490"/>
                </a:solidFill>
              </a:rPr>
              <a:t>⚡ Alivio Somático Directo (100%): </a:t>
            </a:r>
            <a:r>
              <a:rPr sz="950">
                <a:solidFill>
                  <a:srgbClr val="1E293B"/>
                </a:solidFill>
              </a:rPr>
              <a:t>Constatan reducción drástica de hiperactivación simpática y tensión miofascial; 88.9% observa mayor apertura emocional reflexiva.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0E7490"/>
                </a:solidFill>
              </a:rPr>
              <a:t>🛑 Estigma Sociocultural (100%): </a:t>
            </a:r>
            <a:r>
              <a:rPr sz="950">
                <a:solidFill>
                  <a:srgbClr val="1E293B"/>
                </a:solidFill>
              </a:rPr>
              <a:t>Enfrentan con frecuencia mitos, tabúes y prejuicios religiosos en la población urbana y rural sobre la medicina natural.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0E7490"/>
                </a:solidFill>
              </a:rPr>
              <a:t>💰 Factor Económico (77.8%): </a:t>
            </a:r>
            <a:r>
              <a:rPr sz="950">
                <a:solidFill>
                  <a:srgbClr val="1E293B"/>
                </a:solidFill>
              </a:rPr>
              <a:t>La limitada capacidad adquisitiva de usuarios vulnerables interrumpe la continuidad y adherencia a los tratamientos.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516636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b="1" sz="950">
                <a:solidFill>
                  <a:srgbClr val="B91C1C"/>
                </a:solidFill>
              </a:rPr>
              <a:t>Desafío Territorial: </a:t>
            </a:r>
            <a:r>
              <a:rPr sz="900">
                <a:solidFill>
                  <a:srgbClr val="1E293B"/>
                </a:solidFill>
              </a:rPr>
              <a:t>Persisten trabas burocráticas de acreditación (22.2%) y asimetría con el sistema biomédico hegemónico.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371600"/>
            <a:ext cx="521208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48095" y="1371600"/>
            <a:ext cx="5212080" cy="457200"/>
          </a:xfrm>
          <a:prstGeom prst="roundRect">
            <a:avLst>
              <a:gd name="adj" fmla="val 8000"/>
            </a:avLst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🎓 CLAUSTRO DOCENTE-PSICÓLOGOS (n = 9)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76695" y="1965960"/>
            <a:ext cx="1554480" cy="685800"/>
          </a:xfrm>
          <a:prstGeom prst="roundRect">
            <a:avLst>
              <a:gd name="adj" fmla="val 1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500" b="1">
                <a:solidFill>
                  <a:srgbClr val="0E7490"/>
                </a:solidFill>
                <a:latin typeface="Calibri"/>
              </a:defRPr>
            </a:pPr>
            <a:r>
              <a:t>100%</a:t>
            </a:r>
          </a:p>
          <a:p>
            <a:pPr algn="ctr">
              <a:defRPr sz="850" b="1">
                <a:solidFill>
                  <a:srgbClr val="1E293B"/>
                </a:solidFill>
                <a:latin typeface="Calibri"/>
              </a:defRPr>
            </a:pPr>
            <a:r>
              <a:t>Apoyo Curricular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327" y="1965960"/>
            <a:ext cx="1554480" cy="68580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500" b="1">
                <a:solidFill>
                  <a:srgbClr val="0A192F"/>
                </a:solidFill>
                <a:latin typeface="Calibri"/>
              </a:defRPr>
            </a:pPr>
            <a:r>
              <a:t>88.9%</a:t>
            </a:r>
          </a:p>
          <a:p>
            <a:pPr algn="ctr">
              <a:defRPr sz="850" b="1">
                <a:solidFill>
                  <a:srgbClr val="1E293B"/>
                </a:solidFill>
                <a:latin typeface="Calibri"/>
              </a:defRPr>
            </a:pPr>
            <a:r>
              <a:t>Talleres Vivenciales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1959" y="1965960"/>
            <a:ext cx="1554480" cy="68580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500" b="1">
                <a:solidFill>
                  <a:srgbClr val="B45309"/>
                </a:solidFill>
                <a:latin typeface="Calibri"/>
              </a:defRPr>
            </a:pPr>
            <a:r>
              <a:t>100%</a:t>
            </a:r>
          </a:p>
          <a:p>
            <a:pPr algn="ctr">
              <a:defRPr sz="850" b="1">
                <a:solidFill>
                  <a:srgbClr val="1E293B"/>
                </a:solidFill>
                <a:latin typeface="Calibri"/>
              </a:defRPr>
            </a:pPr>
            <a:r>
              <a:t>Base en Evidencia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6695" y="27889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000">
                <a:solidFill>
                  <a:srgbClr val="0A192F"/>
                </a:solidFill>
              </a:rPr>
              <a:t>🏛 Inserción Curricular Unánime: </a:t>
            </a:r>
            <a:r>
              <a:rPr sz="950">
                <a:solidFill>
                  <a:srgbClr val="1E293B"/>
                </a:solidFill>
              </a:rPr>
              <a:t>La totalidad del claustro (100%) respalda incorporar la MTCI en el currículo bajo enfoque crítico, laico, bioético y con base científica.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0A192F"/>
                </a:solidFill>
              </a:rPr>
              <a:t>🔬 Metodologías Priorizadas: </a:t>
            </a:r>
            <a:r>
              <a:rPr sz="950">
                <a:solidFill>
                  <a:srgbClr val="1E293B"/>
                </a:solidFill>
              </a:rPr>
              <a:t>Rechazan la enseñanza memorística; priorizan talleres prácticos (88.9%), intercambios dialógicos (77.8%) e investigación formativa (66.7%).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0A192F"/>
                </a:solidFill>
              </a:rPr>
              <a:t>⚖ Competencias Indispensables: </a:t>
            </a:r>
            <a:r>
              <a:rPr sz="950">
                <a:solidFill>
                  <a:srgbClr val="1E293B"/>
                </a:solidFill>
              </a:rPr>
              <a:t>Formar en juicio clínico crítico, delimitación estricta del rol, prevención de riesgos e interacciones adversas y derivación ética.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0A192F"/>
                </a:solidFill>
              </a:rPr>
              <a:t>📚 Formación Docente Continua: </a:t>
            </a:r>
            <a:r>
              <a:rPr sz="950">
                <a:solidFill>
                  <a:srgbClr val="1E293B"/>
                </a:solidFill>
              </a:rPr>
              <a:t>El profesorado demanda capacitación institucional en neurobiología somática y regulación Bottom-Up.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76695" y="516636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b="1" sz="950">
                <a:solidFill>
                  <a:srgbClr val="0A192F"/>
                </a:solidFill>
              </a:rPr>
              <a:t>Propuesta Docente: </a:t>
            </a:r>
            <a:r>
              <a:rPr sz="900">
                <a:solidFill>
                  <a:srgbClr val="1E293B"/>
                </a:solidFill>
              </a:rPr>
              <a:t>Creación urgente de un Comité de Ética y Delimitación Profesional en el CUR-Estelí.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469233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E7490"/>
                </a:solidFill>
                <a:latin typeface="Calibri"/>
              </a:defRPr>
            </a:pPr>
            <a:r>
              <a:t>CAPÍTULO V • PROPUESTA OPERATIVA (OE3)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Manual de Estrategias de MTCI para la Formación y Práctica Psicológica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A192F"/>
                </a:solidFill>
                <a:latin typeface="Calibri"/>
              </a:defRPr>
            </a:pPr>
            <a:r>
              <a:t>13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393192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3931920" cy="457200"/>
          </a:xfrm>
          <a:prstGeom prst="roundRect">
            <a:avLst>
              <a:gd name="adj" fmla="val 8000"/>
            </a:avLst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📘 PRODUCTO PROPOSITIVO (OE3)</a:t>
            </a:r>
          </a:p>
        </p:txBody>
      </p:sp>
      <p:pic>
        <p:nvPicPr>
          <p:cNvPr id="13" name="Picture 12" descr="portada_manu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3566160" cy="2240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429768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1E293B"/>
                </a:solidFill>
              </a:defRPr>
            </a:pPr>
            <a:r>
              <a:t>• Manual Técnico-Ético (18 páginas in extenso).</a:t>
            </a:r>
            <a:br/>
            <a:r>
              <a:t>• Destinatarios: Docentes y practicantes (4.° y 5.° año).</a:t>
            </a:r>
            <a:br/>
            <a:r>
              <a:t>• Dispositivo: Clínica Psicosocial CUR-Estelí.</a:t>
            </a:r>
            <a:br/>
            <a:r>
              <a:t>• Documento: Adjunto en Anexo 16.2.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516636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b="1" sz="950">
                <a:solidFill>
                  <a:srgbClr val="B45309"/>
                </a:solidFill>
              </a:rPr>
              <a:t>Propósito Central: </a:t>
            </a:r>
            <a:r>
              <a:rPr sz="900">
                <a:solidFill>
                  <a:srgbClr val="1E293B"/>
                </a:solidFill>
              </a:rPr>
              <a:t>No habilita como terapeutas alternativos; dota de discernimiento ético para explorar y derivar.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76495" y="1371600"/>
            <a:ext cx="658368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76495" y="1371600"/>
            <a:ext cx="6583680" cy="4572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📋 ESTRUCTURA MODULAR DEL MANUAL (8 MÓDULOS TEMÁTICOS)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1965960"/>
            <a:ext cx="3017520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950">
                <a:solidFill>
                  <a:srgbClr val="0E7490"/>
                </a:solidFill>
              </a:rPr>
              <a:t>▶ Módulo 1: Fundamentos y Marco Legal:
</a:t>
            </a:r>
            <a:r>
              <a:rPr sz="900">
                <a:solidFill>
                  <a:srgbClr val="1E293B"/>
                </a:solidFill>
              </a:rPr>
              <a:t>Definición OMS (2025); marco de Leyes 774, 759 y 292 de Nicaragua.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E7490"/>
                </a:solidFill>
              </a:rPr>
              <a:t>▶ Módulo 2: Principios Deontológicos:
</a:t>
            </a:r>
            <a:r>
              <a:rPr sz="900">
                <a:solidFill>
                  <a:srgbClr val="1E293B"/>
                </a:solidFill>
              </a:rPr>
              <a:t>Consentimiento informado intercultural; regla de oro: complementariedad sin sustitución.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E7490"/>
                </a:solidFill>
              </a:rPr>
              <a:t>▶ Módulo 3: Mapa Analítico de Prácticas:
</a:t>
            </a:r>
            <a:r>
              <a:rPr sz="900">
                <a:solidFill>
                  <a:srgbClr val="1E293B"/>
                </a:solidFill>
              </a:rPr>
              <a:t>Clasificación en 4 niveles de rol clínico (directo, psicoeducación, precaución, alerta).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E7490"/>
                </a:solidFill>
              </a:rPr>
              <a:t>▶ Módulo 4: Algoritmo de Toma de Decisiones:
</a:t>
            </a:r>
            <a:r>
              <a:rPr sz="900">
                <a:solidFill>
                  <a:srgbClr val="1E293B"/>
                </a:solidFill>
              </a:rPr>
              <a:t>Protocolo secuencial de 4 pasos para derivación clínica informada.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965960"/>
            <a:ext cx="3017520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950">
                <a:solidFill>
                  <a:srgbClr val="B45309"/>
                </a:solidFill>
              </a:rPr>
              <a:t>▶ Módulo 5: Habilidades Comunicacionales:
</a:t>
            </a:r>
            <a:r>
              <a:rPr sz="900">
                <a:solidFill>
                  <a:srgbClr val="1E293B"/>
                </a:solidFill>
              </a:rPr>
              <a:t>Técnicas de entrevista abierta para superar el ocultamiento terapéutico.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B45309"/>
                </a:solidFill>
              </a:rPr>
              <a:t>▶ Módulo 6: Articulación Intersectorial:
</a:t>
            </a:r>
            <a:r>
              <a:rPr sz="900">
                <a:solidFill>
                  <a:srgbClr val="1E293B"/>
                </a:solidFill>
              </a:rPr>
              <a:t>Criterios de idoneidad y referencia/contrarreferencia con facilitadores.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B45309"/>
                </a:solidFill>
              </a:rPr>
              <a:t>▶ Módulo 7: Ruta Formativa Universitaria:
</a:t>
            </a:r>
            <a:r>
              <a:rPr sz="900">
                <a:solidFill>
                  <a:srgbClr val="1E293B"/>
                </a:solidFill>
              </a:rPr>
              <a:t>Secuencia pedagógica en 3 etapas y propuesta de asignatura electiva.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B45309"/>
                </a:solidFill>
              </a:rPr>
              <a:t>▶ Módulo 8: Soporte Institucional CUR-Estelí:
</a:t>
            </a:r>
            <a:r>
              <a:rPr sz="900">
                <a:solidFill>
                  <a:srgbClr val="1E293B"/>
                </a:solidFill>
              </a:rPr>
              <a:t>Creación del Comité de Ética y 4 acciones de capacitación docente.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5166360"/>
            <a:ext cx="621792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b="1" sz="950">
                <a:solidFill>
                  <a:srgbClr val="0A192F"/>
                </a:solidFill>
              </a:rPr>
              <a:t>Herramienta Diagnóstica Anexa: </a:t>
            </a:r>
            <a:r>
              <a:rPr sz="900">
                <a:solidFill>
                  <a:srgbClr val="1E293B"/>
                </a:solidFill>
              </a:rPr>
              <a:t>El manual incorpora la adaptación transcultural del inventario I-CAM-Q para la exploración clínica estandarizada en Nicaragua.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066897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E7490"/>
                </a:solidFill>
                <a:latin typeface="Calibri"/>
              </a:defRPr>
            </a:pPr>
            <a:r>
              <a:t>CAPÍTULO VI • SÍNTESIS CONCLUSIVA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Conclusiones Centrales de la Investigación (Triangulación de Objetivos)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A192F"/>
                </a:solidFill>
                <a:latin typeface="Calibri"/>
              </a:defRPr>
            </a:pPr>
            <a:r>
              <a:t>14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10728655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10728655" cy="457200"/>
          </a:xfrm>
          <a:prstGeom prst="roundRect">
            <a:avLst>
              <a:gd name="adj" fmla="val 8000"/>
            </a:avLst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🎯 SÍNTESIS DE CONCLUSIONES POR OBJETIVO DE INVESTIGACIÓN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965960"/>
            <a:ext cx="101498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050">
                <a:solidFill>
                  <a:srgbClr val="0E7490"/>
                </a:solidFill>
              </a:rPr>
              <a:t>1. Cumplimiento del Objetivo General: </a:t>
            </a:r>
            <a:r>
              <a:rPr sz="1000">
                <a:solidFill>
                  <a:srgbClr val="1E293B"/>
                </a:solidFill>
              </a:rPr>
              <a:t>Los tres colectivos participantes (N = 86) validan unánimemente la pertinencia de la MTCI como coadyuvante en la atención psicológica, condicionada a un enfoque ético, científico y respetuoso de los límites profesionales.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B45309"/>
                </a:solidFill>
              </a:rPr>
              <a:t>2. Perfil y Paradoja Estudiantil (OE1): </a:t>
            </a:r>
            <a:r>
              <a:rPr sz="1000">
                <a:solidFill>
                  <a:srgbClr val="1E293B"/>
                </a:solidFill>
              </a:rPr>
              <a:t>El estudiantado posee buen dominio conceptual general (67.6%) y alta eficacia subjetiva de uso (86.7%), pero padece vacíos jurídicos (58.8% desconoce Ley 774; 64.7% desconoce Ley 292) y profunda desprotección para derivar (88.2%) y psicoeducar (86.8%).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0A192F"/>
                </a:solidFill>
              </a:rPr>
              <a:t>3. Oferta Territorial y Barreras de Estelí (OE2): </a:t>
            </a:r>
            <a:r>
              <a:rPr sz="1000">
                <a:solidFill>
                  <a:srgbClr val="1E293B"/>
                </a:solidFill>
              </a:rPr>
              <a:t>Facilitadores con hasta 30 años de experiencia constatan 100% de alivio de sobrecarga muscular y mayor receptividad afectiva (88.9%), debiendo sortear prejuicios socioculturales (100%) y barreras económicas de usuarios (77.8%).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0A192F"/>
                </a:solidFill>
              </a:rPr>
              <a:t>4. Consenso Curricular del Claustro Docente (OE3): </a:t>
            </a:r>
            <a:r>
              <a:rPr sz="1000">
                <a:solidFill>
                  <a:srgbClr val="1E293B"/>
                </a:solidFill>
              </a:rPr>
              <a:t>100% del profesorado apoya la inserción transversal de la MTCI bajo metodologías activas y vivenciales (88.9%), demandando formación profesoral en regulación somática y comités bioéticos.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0E7490"/>
                </a:solidFill>
              </a:rPr>
              <a:t>5. Logro Propositivo del Manual de Estrategias: </a:t>
            </a:r>
            <a:r>
              <a:rPr sz="1000">
                <a:solidFill>
                  <a:srgbClr val="1E293B"/>
                </a:solidFill>
              </a:rPr>
              <a:t>Se construyó exitosamente el Manual de Estrategias MTCI de 18 páginas (Anexo 16.2), dotando al CUR-Estelí de algoritmos de decisión clínica, pautas contra el ocultamiento y el inventario I-CAM-Q.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5166360"/>
            <a:ext cx="1014984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b="1" sz="950">
                <a:solidFill>
                  <a:srgbClr val="B45309"/>
                </a:solidFill>
              </a:rPr>
              <a:t>Conclusión Fundamental: </a:t>
            </a:r>
            <a:r>
              <a:rPr sz="900">
                <a:solidFill>
                  <a:srgbClr val="1E293B"/>
                </a:solidFill>
              </a:rPr>
              <a:t>La MTCI constituye un recurso de apoyo legítimo que robustece la alianza terapéutica cuando se aplica con rigor deontológico y delimitación del rol.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469233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E7490"/>
                </a:solidFill>
                <a:latin typeface="Calibri"/>
              </a:defRPr>
            </a:pPr>
            <a:r>
              <a:t>CAPÍTULO VI • DIRECTRICES PROSPECTIVAS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Recomendaciones Estratégicas para Estudiantes, Docentes, Universidad y MINSA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A192F"/>
                </a:solidFill>
                <a:latin typeface="Calibri"/>
              </a:defRPr>
            </a:pPr>
            <a:r>
              <a:t>15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212080" cy="2331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5212080" cy="4572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👩‍🎓 PARA EL ESTAMENTO ESTUDIANTIL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20240"/>
            <a:ext cx="475488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• Estudiar y respetar estrictamente las Leyes No. 774 y 292 (prohibición legal de prescribir fármacos).</a:t>
            </a:r>
            <a:br/>
            <a:r>
              <a:t>• Aplicar el algoritmo de decisión clínica del manual durante las prácticas en la Clínica Psicosocial.</a:t>
            </a:r>
            <a:br/>
            <a:r>
              <a:t>• Explorar empáticamente el uso de MTCI en consulta para erradicar el ocultamiento terapéutico.</a:t>
            </a:r>
            <a:br/>
            <a:r>
              <a:t>• Vivenciar el autocuidado somático (respiración diafragmática, escaneo corporal y distensión).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1371600"/>
            <a:ext cx="5212080" cy="2331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8095" y="1371600"/>
            <a:ext cx="5212080" cy="457200"/>
          </a:xfrm>
          <a:prstGeom prst="roundRect">
            <a:avLst>
              <a:gd name="adj" fmla="val 8000"/>
            </a:avLst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👨‍🏫 PARA EL CLAUSTRO DOCENTE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1920240"/>
            <a:ext cx="475488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• Transversalizar contenidos de MTCI en asignaturas de Psicología Clínica, Comunitaria y Ética.</a:t>
            </a:r>
            <a:br/>
            <a:r>
              <a:t>• Priorizar metodologías vivenciales activas: análisis de casos clínicos y talleres de autorregulación.</a:t>
            </a:r>
            <a:br/>
            <a:r>
              <a:t>• Enseñar la derivación interdisciplinaria hacia facilitadores certificados y médicos tratantes.</a:t>
            </a:r>
            <a:br/>
            <a:r>
              <a:t>• Capacitarse institucionalmente en neurobiología del estrés y regulación somática Bottom-Up.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5212080" cy="2331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5212080" cy="45720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🏛 PARA LA GESTIÓN DEL CUR-ESTELÍ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480560"/>
            <a:ext cx="475488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• Formalizar la aprobación institucional del Manual de Estrategias MTCI (Anexo 16.2).</a:t>
            </a:r>
            <a:br/>
            <a:r>
              <a:t>• Constituir el Comité de Ética y Delimitación Profesional en el recinto universitario.</a:t>
            </a:r>
            <a:br/>
            <a:r>
              <a:t>• Formalizar convenios de cooperación con el MINSA-Estelí para pasantías y ferias comunitarias.</a:t>
            </a:r>
            <a:br/>
            <a:r>
              <a:t>• Evaluar a mediano plazo la creación de la asignatura electiva 'Psicología Integrativa'.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8095" y="3931920"/>
            <a:ext cx="5212080" cy="2331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48095" y="3931920"/>
            <a:ext cx="5212080" cy="4572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🌿 PARA EL SISTEMA DE SALUD Y FACILITADORES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6695" y="4480560"/>
            <a:ext cx="475488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• Difundir los mecanismos de habilitación y registro oficial contemplados en la Ley No. 774.</a:t>
            </a:r>
            <a:br/>
            <a:r>
              <a:t>• Habilitar canales de interconsulta y referencia bidireccional entre psicólogos y terapeutas.</a:t>
            </a:r>
            <a:br/>
            <a:r>
              <a:t>• Fomentar la exploración desestigmatizada de remedios herbolarios en centros de salud primaria.</a:t>
            </a:r>
            <a:br/>
            <a:r>
              <a:t>• Mantener el compromiso ético de complementariedad sin pretender sustituir tratamientos médicos.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nan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"/>
            <a:ext cx="1576278" cy="8412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26080" y="22860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UNIVERSIDAD NACIONAL AUTÓNOMA DE NICARAGUA, MANAGUA</a:t>
            </a:r>
          </a:p>
          <a:p>
            <a:pPr>
              <a:defRPr b="1" sz="950">
                <a:solidFill>
                  <a:srgbClr val="D97706"/>
                </a:solidFill>
              </a:defRPr>
            </a:pPr>
            <a:r>
              <a:t>CENTRO UNIVERSITARIO REGIONAL DE ESTELÍ • RECINTO LEONEL RUGAMA RUGAMA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nan_shield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645920"/>
            <a:ext cx="785091" cy="1143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283464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700" i="1" b="1">
                <a:solidFill>
                  <a:srgbClr val="0A192F"/>
                </a:solidFill>
              </a:defRPr>
            </a:pPr>
            <a:r>
              <a:t>¡A la libertad por la Universidad!</a:t>
            </a:r>
          </a:p>
          <a:p>
            <a:pPr algn="ctr">
              <a:spcAft>
                <a:spcPts val="600"/>
              </a:spcAft>
              <a:defRPr sz="2800" b="1">
                <a:solidFill>
                  <a:srgbClr val="B45309"/>
                </a:solidFill>
              </a:defRPr>
            </a:pPr>
            <a:r>
              <a:t>Muchas Gracias por su Atención</a:t>
            </a:r>
          </a:p>
          <a:p>
            <a:pPr algn="ctr">
              <a:defRPr sz="1200" b="1">
                <a:solidFill>
                  <a:srgbClr val="1E293B"/>
                </a:solidFill>
              </a:defRPr>
            </a:pPr>
            <a:r>
              <a:t>Espacio Abierto para Preguntas, Comentarios y Defensa Oral ante el Honorable Tribunal Examinador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114800"/>
            <a:ext cx="3154680" cy="20116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spcAft>
                <a:spcPts val="800"/>
              </a:spcAft>
              <a:defRPr b="1" sz="1000">
                <a:solidFill>
                  <a:srgbClr val="0A192F"/>
                </a:solidFill>
              </a:defRPr>
            </a:pPr>
            <a:r>
              <a:t>👤 SUSTENTANTES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Dina Fabiola García Torres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Tatiana Paola López Ramos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Engel Enoc Zamora Velásquez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4114800"/>
            <a:ext cx="3154680" cy="201168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spcAft>
                <a:spcPts val="800"/>
              </a:spcAft>
              <a:defRPr b="1" sz="1000">
                <a:solidFill>
                  <a:srgbClr val="0E7490"/>
                </a:solidFill>
              </a:defRPr>
            </a:pPr>
            <a:r>
              <a:t>🎓 TUTORÍA ACADÉMICA</a:t>
            </a:r>
          </a:p>
          <a:p>
            <a:pPr>
              <a:spcAft>
                <a:spcPts val="300"/>
              </a:spcAft>
              <a:defRPr b="1" sz="1050">
                <a:solidFill>
                  <a:srgbClr val="1E293B"/>
                </a:solidFill>
              </a:defRPr>
            </a:pPr>
            <a:r>
              <a:t>• Dra. Tania Libertad Pérez Guevara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Docente Investigadora • CUR-Estelí</a:t>
            </a:r>
            <a:br/>
            <a:r>
              <a:t>Asesoría Temática y Metodológica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0416" y="4114800"/>
            <a:ext cx="3154680" cy="201168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spcAft>
                <a:spcPts val="800"/>
              </a:spcAft>
              <a:defRPr b="1" sz="1000">
                <a:solidFill>
                  <a:srgbClr val="B45309"/>
                </a:solidFill>
              </a:defRPr>
            </a:pPr>
            <a:r>
              <a:t>🏛 DEFENSA DE GRADO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Licenciatura en Psicología</a:t>
            </a:r>
            <a:br/>
            <a:r>
              <a:t>Recinto Leonel Rugama Rugama</a:t>
            </a:r>
            <a:br/>
            <a:r>
              <a:t>Estelí, Nicaragua • Octubre,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