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an_logo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1799013" cy="960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17520" y="594360"/>
            <a:ext cx="8412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UNIVERSIDAD NACIONAL AUTÓNOMA DE NICARAGUA, MANAGUA</a:t>
            </a:r>
          </a:p>
          <a:p>
            <a:pPr>
              <a:defRPr sz="1000" b="1">
                <a:solidFill>
                  <a:srgbClr val="D97706"/>
                </a:solidFill>
                <a:latin typeface="Calibri"/>
              </a:defRPr>
            </a:pPr>
            <a:r>
              <a:t>CENTRO UNIVERSITARIO REGIONAL DE ESTELÍ • RECINTO LEONEL RUGAMA RUGAMA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Departamento de Educación y Humanidades | Carrera de Psicología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728655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2DD4BF"/>
                </a:solidFill>
                <a:latin typeface="Calibri"/>
              </a:defRPr>
            </a:pPr>
            <a:r>
              <a:t>TRABAJO DE INVESTIGACIÓN PARA OPTAR AL GRADO DE LICENCIADOS EN PSICOLOGÍA</a:t>
            </a:r>
          </a:p>
          <a:p>
            <a:pPr>
              <a:spcAft>
                <a:spcPts val="1400"/>
              </a:spcAft>
              <a:defRPr sz="3200" b="1">
                <a:solidFill>
                  <a:srgbClr val="FFFFFF"/>
                </a:solidFill>
                <a:latin typeface="Cambria"/>
              </a:defRPr>
            </a:pPr>
            <a:r>
              <a:t>La Medicina Tradicional, Complementaria e Integrativa (MTCI) como Complemento en la Atención Psicológica</a:t>
            </a:r>
          </a:p>
          <a:p>
            <a:pPr>
              <a:defRPr sz="1500" b="1">
                <a:solidFill>
                  <a:srgbClr val="D97706"/>
                </a:solidFill>
                <a:latin typeface="Calibri"/>
              </a:defRPr>
            </a:pPr>
            <a:r>
              <a:t>Estudio Mixto con Estudiantes y Docentes del CUR-Estelí y Facilitadores Locales del Municipio de Estelí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D97706"/>
                </a:solidFill>
                <a:latin typeface="Calibri"/>
              </a:defRPr>
            </a:pPr>
            <a:r>
              <a:t>AUTORES / SUSTENTANTES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Dina Fabiola García Torres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Tatiana Paola López Ramos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Engel Enoc Zamora Velásquez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438912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2DD4BF"/>
                </a:solidFill>
                <a:latin typeface="Calibri"/>
              </a:defRPr>
            </a:pPr>
            <a:r>
              <a:t>TUTORÍA ACADÉMICA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• Dra. Tania Libertad Pérez Guevara</a:t>
            </a:r>
          </a:p>
          <a:p>
            <a:pPr algn="l">
              <a:defRPr sz="1050">
                <a:solidFill>
                  <a:srgbClr val="94A3B8"/>
                </a:solidFill>
                <a:latin typeface="Calibri"/>
              </a:defRPr>
            </a:pPr>
            <a:r>
              <a:t>Docente Investigadora • CUR-Estelí</a:t>
            </a:r>
            <a:br/>
            <a:r>
              <a:t>Asesoría Temática y Metodológica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438912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D97706"/>
                </a:solidFill>
                <a:latin typeface="Calibri"/>
              </a:defRPr>
            </a:pPr>
            <a:r>
              <a:t>DEFENSA DE GRADO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Licenciatura en Psicología</a:t>
            </a:r>
            <a:br/>
            <a:r>
              <a:t>Línea SAL-3 (Salud e Interculturalidad)</a:t>
            </a:r>
            <a:br/>
            <a:r>
              <a:t>Estelí, Nicaragua • 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 •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Encrucijada Asistencial, Vacío Formativo y Pertinencia Social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PLANTEAMIENTO DEL PROBLEMA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Asimetría Normativa: </a:t>
            </a:r>
            <a:r>
              <a:rPr sz="1200">
                <a:solidFill>
                  <a:srgbClr val="1E293B"/>
                </a:solidFill>
              </a:rPr>
              <a:t>La Ley 774 garantiza el acceso a MTCI como derecho, mientras la Ley 292 prohíbe tajantemente prescribir fármacos a psicólogos.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El Ocultamiento Terapéutico: </a:t>
            </a:r>
            <a:r>
              <a:rPr sz="1200">
                <a:solidFill>
                  <a:srgbClr val="1E293B"/>
                </a:solidFill>
              </a:rPr>
              <a:t>Los consultantes utilizan medicina natural pero lo silencian en sesión clínica por temor al rechazo o censura del terapeuta.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Vacío Curricular Crítico: </a:t>
            </a:r>
            <a:r>
              <a:rPr sz="1200">
                <a:solidFill>
                  <a:srgbClr val="1E293B"/>
                </a:solidFill>
              </a:rPr>
              <a:t>Los futuros graduados egresan sin pautas bioéticas para dialogar, psicoeducar o realizar derivaciones oportunas.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Pregunta de Investigación: </a:t>
            </a:r>
            <a:r>
              <a:rPr sz="1200">
                <a:solidFill>
                  <a:srgbClr val="1E293B"/>
                </a:solidFill>
              </a:rPr>
              <a:t>¿Cómo fundamenta el diagnóstico de MTCI en Estelí el diseño de un manual ético y pedagógico para Psicología?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JUSTIFICACIÓN Y RELEVANCIA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Ética y No Maleficencia: </a:t>
            </a:r>
            <a:r>
              <a:rPr sz="1200">
                <a:solidFill>
                  <a:srgbClr val="1E293B"/>
                </a:solidFill>
              </a:rPr>
              <a:t>Conocer las prácticas tradicionales del consultante protege la seguridad clínica y evita interacciones adversas.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Salud Mental Comunitaria: </a:t>
            </a:r>
            <a:r>
              <a:rPr sz="1200">
                <a:solidFill>
                  <a:srgbClr val="1E293B"/>
                </a:solidFill>
              </a:rPr>
              <a:t>Reconoce y articula la memoria etnobotánica viva y el rol de los facilitadores locales de Estelí.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Impacto Formativo Directo: </a:t>
            </a:r>
            <a:r>
              <a:rPr sz="1200">
                <a:solidFill>
                  <a:srgbClr val="1E293B"/>
                </a:solidFill>
              </a:rPr>
              <a:t>Dota a estudiantes de 4.° y 5.° año de criterios claros para sus prácticas en la Clínica Psicosocial del CUR-Estelí.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Aporte Propositivo Concreto: </a:t>
            </a:r>
            <a:r>
              <a:rPr sz="1200">
                <a:solidFill>
                  <a:srgbClr val="1E293B"/>
                </a:solidFill>
              </a:rPr>
              <a:t>Formaliza el primer Manual de Estrategias MTCI (18 págs.) como guía pedagógica y bioética institucional.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 • ESTADO DEL 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Esquema de Antecedentes Empíricos: Internacional, Nacional y Local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42900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83080"/>
            <a:ext cx="2971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INTERNACIONAL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F2043"/>
                </a:solidFill>
              </a:rPr>
              <a:t>Chafloque-Capuñay et al. (2025): </a:t>
            </a:r>
            <a:r>
              <a:rPr sz="1050">
                <a:solidFill>
                  <a:srgbClr val="1E293B"/>
                </a:solidFill>
              </a:rPr>
              <a:t>Revisión cualitativa (22 estudios). Los pacientes acuden a MTCI buscando escucha empática, autonomía y un trato horizontal ausente en el modelo biomédico.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F2043"/>
                </a:solidFill>
              </a:rPr>
              <a:t>Ortega Cadena et al. (2023): </a:t>
            </a:r>
            <a:r>
              <a:rPr sz="1050">
                <a:solidFill>
                  <a:srgbClr val="1E293B"/>
                </a:solidFill>
              </a:rPr>
              <a:t>Estudio en Colombia: el reduccionismo patologiza saberes populares y fractura la comunicación con el consultante.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F2043"/>
                </a:solidFill>
              </a:rPr>
              <a:t>Estrategia OMS (2025): </a:t>
            </a:r>
            <a:r>
              <a:rPr sz="1050">
                <a:solidFill>
                  <a:srgbClr val="1E293B"/>
                </a:solidFill>
              </a:rPr>
              <a:t>Insta a integrar medicinas tradicionales seguras y con evidencia en la atención primaria de salud mental.</a:t>
            </a:r>
          </a:p>
          <a:p>
            <a:pPr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b="1" sz="1000">
                <a:solidFill>
                  <a:srgbClr val="0F2043"/>
                </a:solidFill>
              </a:rPr>
              <a:t>✦ Eje Global: Humanización y autonomía del cuidado asistencial.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554480"/>
            <a:ext cx="342900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83080"/>
            <a:ext cx="2971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NACIONAL (NICARAGUA)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D97706"/>
                </a:solidFill>
              </a:rPr>
              <a:t>Ley No. 774 (2012): </a:t>
            </a:r>
            <a:r>
              <a:rPr sz="1050">
                <a:solidFill>
                  <a:srgbClr val="1E293B"/>
                </a:solidFill>
              </a:rPr>
              <a:t>Pionera en Centroamérica: declara el derecho de los ciudadanos al acceso a la medicina natural y terapias complementarias.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D97706"/>
                </a:solidFill>
              </a:rPr>
              <a:t>Romero Hernández (2021): </a:t>
            </a:r>
            <a:r>
              <a:rPr sz="1050">
                <a:solidFill>
                  <a:srgbClr val="1E293B"/>
                </a:solidFill>
              </a:rPr>
              <a:t>Etnobotánica en Masaya: sobadores y comadronas actúan como primer escudo de contención psicosomática.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D97706"/>
                </a:solidFill>
              </a:rPr>
              <a:t>Cunningham (2021): </a:t>
            </a:r>
            <a:r>
              <a:rPr sz="1050">
                <a:solidFill>
                  <a:srgbClr val="1E293B"/>
                </a:solidFill>
              </a:rPr>
              <a:t>Costa Caribe: articulación horizontal y sinérgica entre medicina occidental y médicos tradicionales miskitos.</a:t>
            </a:r>
          </a:p>
          <a:p>
            <a:pPr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b="1" sz="1000">
                <a:solidFill>
                  <a:srgbClr val="0F2043"/>
                </a:solidFill>
              </a:rPr>
              <a:t>✦ Eje Nacional: Respaldo legal y demanda de formación clínica.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54480"/>
            <a:ext cx="342900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783080"/>
            <a:ext cx="2971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LOCAL (CUR-ESTELÍ)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D6E5D"/>
                </a:solidFill>
              </a:rPr>
              <a:t>Aguilera Altamirano et al. (2019): </a:t>
            </a:r>
            <a:r>
              <a:rPr sz="1050">
                <a:solidFill>
                  <a:srgbClr val="1E293B"/>
                </a:solidFill>
              </a:rPr>
              <a:t>Arteterapia aplicada a internos de Medicina en el Hospital San Juan de Dios de Estelí: redujo sensiblemente el burnout.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D6E5D"/>
                </a:solidFill>
              </a:rPr>
              <a:t>Mora y Bellorín (2020): </a:t>
            </a:r>
            <a:r>
              <a:rPr sz="1050">
                <a:solidFill>
                  <a:srgbClr val="1E293B"/>
                </a:solidFill>
              </a:rPr>
              <a:t>Dramaterapia en estudiantes de Psicología del CUR-Estelí: incrementó significativamente la autoestima y autoconcepto.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100">
                <a:solidFill>
                  <a:srgbClr val="0D6E5D"/>
                </a:solidFill>
              </a:rPr>
              <a:t>Hallazgo Articulador Clave: </a:t>
            </a:r>
            <a:r>
              <a:rPr sz="1050">
                <a:solidFill>
                  <a:srgbClr val="1E293B"/>
                </a:solidFill>
              </a:rPr>
              <a:t>Los estudiantes ya utilizan empíricamente la MTCI como recurso de autocuidado somático ante sobrecarga académica.</a:t>
            </a:r>
          </a:p>
          <a:p>
            <a:pPr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b="1" sz="1000">
                <a:solidFill>
                  <a:srgbClr val="0F2043"/>
                </a:solidFill>
              </a:rPr>
              <a:t>✦ Eje Local: Viabilidad formativa probada en Estelí.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 • CONTEXTUALIZACIÓN INSTITUCIONAL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Coordenadas Territoriales, Dispositivos Clínicos y Vinculación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ESCENARIO INSTITUCIONAL Y TERRITORIAL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200">
                <a:solidFill>
                  <a:srgbClr val="0F2043"/>
                </a:solidFill>
              </a:rPr>
              <a:t>Municipio de Estelí: </a:t>
            </a:r>
            <a:r>
              <a:rPr sz="1150">
                <a:solidFill>
                  <a:srgbClr val="1E293B"/>
                </a:solidFill>
              </a:rPr>
              <a:t>Cabecera departamental del norte de Nicaragua con fuerte arraigo en etnobotánica viva, sobadores y botánicas populares.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200">
                <a:solidFill>
                  <a:srgbClr val="0F2043"/>
                </a:solidFill>
              </a:rPr>
              <a:t>Recinto Leonel Rugama Rugama: </a:t>
            </a:r>
            <a:r>
              <a:rPr sz="1150">
                <a:solidFill>
                  <a:srgbClr val="1E293B"/>
                </a:solidFill>
              </a:rPr>
              <a:t>Sede del CUR-Estelí donde convergen estudiantes de turnos matutino y sabatino procedentes de diversos municipios.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200">
                <a:solidFill>
                  <a:srgbClr val="0F2043"/>
                </a:solidFill>
              </a:rPr>
              <a:t>Clínica Psicosocial y Comunitaria: </a:t>
            </a:r>
            <a:r>
              <a:rPr sz="1150">
                <a:solidFill>
                  <a:srgbClr val="1E293B"/>
                </a:solidFill>
              </a:rPr>
              <a:t>Dispositivo asistencial clave donde alumnos de 4.° y 5.° año realizan sus prácticas de psicoterapia y talleres.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200">
                <a:solidFill>
                  <a:srgbClr val="0F2043"/>
                </a:solidFill>
              </a:rPr>
              <a:t>Consultorio Médico Universitario: </a:t>
            </a:r>
            <a:r>
              <a:rPr sz="1150">
                <a:solidFill>
                  <a:srgbClr val="1E293B"/>
                </a:solidFill>
              </a:rPr>
              <a:t>Espacio de salud primaria y enlace con el Centro de Salud Leonel Rugama (MINSA).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200">
                <a:solidFill>
                  <a:srgbClr val="0F2043"/>
                </a:solidFill>
              </a:rPr>
              <a:t>Línea de Investigación SAL-3: </a:t>
            </a:r>
            <a:r>
              <a:rPr sz="1150">
                <a:solidFill>
                  <a:srgbClr val="1E293B"/>
                </a:solidFill>
              </a:rPr>
              <a:t>Sublínea Terapias Alternativas, articulada al Plan Nacional de Lucha contra la Pobreza y Desarrollo Humano.</a:t>
            </a:r>
          </a:p>
        </p:txBody>
      </p:sp>
      <p:pic>
        <p:nvPicPr>
          <p:cNvPr id="9" name="Picture 8" descr="figura_01_ubicacion_cur_est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554480"/>
            <a:ext cx="5212080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095" y="57150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Figura 1. Delimitación del CUR-Estelí, recinto Leonel Rugama Rugama, Estelí, Nicaragua (Cartografía Institucional, 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 • ARQUITECTURA TELEOLÓGICA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Esquema Articulador de Objetivos de Investigación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150876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916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Calibri"/>
              </a:defRPr>
            </a:pPr>
            <a:r>
              <a:t>OBJETIVO GENERAL</a:t>
            </a:r>
          </a:p>
          <a:p>
            <a:pPr>
              <a:lnSpc>
                <a:spcPct val="120000"/>
              </a:lnSpc>
              <a:defRPr sz="1500" b="1">
                <a:solidFill>
                  <a:srgbClr val="0F2043"/>
                </a:solidFill>
                <a:latin typeface="Cambria"/>
              </a:defRPr>
            </a:pPr>
            <a:r>
              <a:t>Explorar la percepción de la Medicina Tradicional, Complementaria e Integrativa (MTCI) como recurso de apoyo en la atención psicológica desde la mirada de actores locales, estudiantes y docentes de Psicología del CUR-Estelí durante el segundo semestre de 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3429000" cy="29260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20440"/>
            <a:ext cx="29718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6E5D"/>
                </a:solidFill>
                <a:latin typeface="Calibri"/>
              </a:defRPr>
            </a:pPr>
            <a:r>
              <a:t>OBJETIVO ESPECÍFICO 1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Calibri"/>
              </a:defRPr>
            </a:pPr>
            <a:r>
              <a:t>DIAGNÓSTICO CUANTITATIVO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50" b="1">
                <a:solidFill>
                  <a:srgbClr val="1E293B"/>
                </a:solidFill>
                <a:latin typeface="Calibri"/>
              </a:defRPr>
            </a:pPr>
            <a:r>
              <a:t>Caracterizar conocimientos conceptuales, normativos y frecuencia de uso en estudiantes de 4.º y 5.º año.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Calibri"/>
              </a:defRPr>
            </a:pPr>
            <a:r>
              <a:t>• Muestra: 53 de 4.° y 15 de 5.° año (n = 68 participantes).</a:t>
            </a:r>
          </a:p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✦ Vía Cuantitativa • Cuestionario I1 (Likert)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3291840"/>
            <a:ext cx="3429000" cy="29260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3520440"/>
            <a:ext cx="29718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D97706"/>
                </a:solidFill>
                <a:latin typeface="Calibri"/>
              </a:defRPr>
            </a:pPr>
            <a:r>
              <a:t>OBJETIVO ESPECÍFICO 2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Calibri"/>
              </a:defRPr>
            </a:pPr>
            <a:r>
              <a:t>EXPLORACIÓN CUALITATIVA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50" b="1">
                <a:solidFill>
                  <a:srgbClr val="1E293B"/>
                </a:solidFill>
                <a:latin typeface="Calibri"/>
              </a:defRPr>
            </a:pPr>
            <a:r>
              <a:t>Describir beneficios percibidos y efectos adversos desde facilitadores tradicionales locales de Estelí.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Calibri"/>
              </a:defRPr>
            </a:pPr>
            <a:r>
              <a:t>• Muestra: 9 terapeutas con hasta 30 años de experiencia.</a:t>
            </a:r>
          </a:p>
          <a:p>
            <a:pPr>
              <a:defRPr sz="1000" b="1">
                <a:solidFill>
                  <a:srgbClr val="D97706"/>
                </a:solidFill>
                <a:latin typeface="Calibri"/>
              </a:defRPr>
            </a:pPr>
            <a:r>
              <a:t>✦ Vía Cualitativa • Entrevista Semiestructurada I2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3291840"/>
            <a:ext cx="3429000" cy="29260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3520440"/>
            <a:ext cx="29718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F2043"/>
                </a:solidFill>
                <a:latin typeface="Calibri"/>
              </a:defRPr>
            </a:pPr>
            <a:r>
              <a:t>OBJETIVO ESPECÍFICO 3</a:t>
            </a:r>
          </a:p>
          <a:p>
            <a:pPr>
              <a:spcAft>
                <a:spcPts val="800"/>
              </a:spcAft>
              <a:defRPr sz="950">
                <a:solidFill>
                  <a:srgbClr val="64748B"/>
                </a:solidFill>
                <a:latin typeface="Calibri"/>
              </a:defRPr>
            </a:pPr>
            <a:r>
              <a:t>FORMULACIÓN PROPOSITIVA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50" b="1">
                <a:solidFill>
                  <a:srgbClr val="1E293B"/>
                </a:solidFill>
                <a:latin typeface="Calibri"/>
              </a:defRPr>
            </a:pPr>
            <a:r>
              <a:t>Proponer estrategias complementarias para el abordaje de la MTCI formalizadas en un manual técnico-ético.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Calibri"/>
              </a:defRPr>
            </a:pPr>
            <a:r>
              <a:t>• Producto: Manual de 18 páginas (Anexo 16.2 de tesis).</a:t>
            </a:r>
          </a:p>
          <a:p>
            <a:pPr>
              <a:defRPr sz="1000" b="1">
                <a:solidFill>
                  <a:srgbClr val="0F2043"/>
                </a:solidFill>
                <a:latin typeface="Calibri"/>
              </a:defRPr>
            </a:pPr>
            <a:r>
              <a:t>✦ Vía Propositiva • Cuestionario I3 + Manual Clínico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II • MARCO TEÓRICO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Bases Conceptuales de la MTCI, Taxonomía OMS y Leyes Sanitarias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DESLINDE CONCEPTUAL (OMS / OPS)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Medicina Tradicional (MT): </a:t>
            </a:r>
            <a:r>
              <a:rPr sz="1200">
                <a:solidFill>
                  <a:srgbClr val="1E293B"/>
                </a:solidFill>
              </a:rPr>
              <a:t>Saberes y prácticas ancestrales e indígenas fundamentadas en cosmovisiones comunitarias para el cuidado psicosomático.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Medicina Complementaria (MC): </a:t>
            </a:r>
            <a:r>
              <a:rPr sz="1200">
                <a:solidFill>
                  <a:srgbClr val="1E293B"/>
                </a:solidFill>
              </a:rPr>
              <a:t>Prácticas de salud foráneas utilizadas como coadyuvantes sin pretender reemplazar a los tratamientos biomédicos.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Medicina Integrativa (MI): </a:t>
            </a:r>
            <a:r>
              <a:rPr sz="1200">
                <a:solidFill>
                  <a:srgbClr val="1E293B"/>
                </a:solidFill>
              </a:rPr>
              <a:t>Coordinación informada de terapias convencionales y complementarias respaldadas por evidencia de seguridad y eficacia.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Taxonomía Ley 774 (Art. 12): </a:t>
            </a:r>
            <a:r>
              <a:rPr sz="1200">
                <a:solidFill>
                  <a:srgbClr val="1E293B"/>
                </a:solidFill>
              </a:rPr>
              <a:t>Terapias energéticas (Reiki); manuales (masajes); fitoterapia, aromaterapia; hidroterapia y sistémicas.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97706"/>
                </a:solidFill>
                <a:latin typeface="Calibri"/>
              </a:defRPr>
            </a:pPr>
            <a:r>
              <a:t>MARCO JURÍDICO SANITARIO DE NICARAGUA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D97706"/>
                </a:solidFill>
              </a:rPr>
              <a:t>Ley No. 774 (2012) — Medicina Natural: </a:t>
            </a:r>
            <a:r>
              <a:rPr sz="1200">
                <a:solidFill>
                  <a:srgbClr val="1E293B"/>
                </a:solidFill>
              </a:rPr>
              <a:t>Reconoce las terapias complementarias como derecho inalienable e instruye su integración en la red pública de salud.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D97706"/>
                </a:solidFill>
              </a:rPr>
              <a:t>Ley No. 292 (1998) — Medicamentos y Farmacias: </a:t>
            </a:r>
            <a:r>
              <a:rPr sz="1200">
                <a:solidFill>
                  <a:srgbClr val="1E293B"/>
                </a:solidFill>
              </a:rPr>
              <a:t>Prohíbe de forma tajante al psicólogo prescribir fármacos, plantas medicinales con dosis terapéuticas o remedios alopáticos.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D97706"/>
                </a:solidFill>
              </a:rPr>
              <a:t>Ley No. 759 (2011) — Medicina Tradicional Ancestral: </a:t>
            </a:r>
            <a:r>
              <a:rPr sz="1200">
                <a:solidFill>
                  <a:srgbClr val="1E293B"/>
                </a:solidFill>
              </a:rPr>
              <a:t>Salvaguarda el patrimonio etnobotánico y saberes tradicionales de los pueblos originarios y afrodescendientes.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D97706"/>
                </a:solidFill>
              </a:rPr>
              <a:t>Delimitación Deontológica del Psicólogo: </a:t>
            </a:r>
            <a:r>
              <a:rPr sz="1200">
                <a:solidFill>
                  <a:srgbClr val="1E293B"/>
                </a:solidFill>
              </a:rPr>
              <a:t>El psicólogo explora y deriva con juicio clínico; nunca invade el acto prescriptivo ni la práctica médica.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II • MARCO TEÓRICO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Dimensión Psicofisiológica: Articulación Clínica Top-Down y Bottom-Up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7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29260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VÍA TOP-DOWN (CORTICAL / REFLEXIVA)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Mecanismo: Opera mediante la corteza prefrontal, reestructuración cognitiva y narrativa reflexiva autobiográfica.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Técnicas: Psicoterapia verbal, diálogo socrático, toma de decisiones y metacognición.</a:t>
            </a:r>
          </a:p>
          <a:p>
            <a:pPr>
              <a:defRPr sz="1200" b="1">
                <a:solidFill>
                  <a:srgbClr val="B91C1C"/>
                </a:solidFill>
              </a:defRPr>
            </a:pPr>
            <a:r>
              <a:t>• Límite en Crisis: La hiperactivación simpática y el desborde amigdalino anulan el procesamiento verbal superior.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29260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8308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VÍA BOTTOM-UP (SOMÁTICA / MTCI)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Mecanismo: Modula directamente el sistema nervioso autónomo, respuesta vagal y tono propioceptivo subcortical.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Técnicas MTCI: Respiración diafragmática, masoterapia tradicional, escaneo corporal e infusiones suaves.</a:t>
            </a:r>
          </a:p>
          <a:p>
            <a:pPr>
              <a:defRPr sz="1200" b="1">
                <a:solidFill>
                  <a:srgbClr val="0D6E5D"/>
                </a:solidFill>
              </a:defRPr>
            </a:pPr>
            <a:r>
              <a:t>• Efecto Facilitador: Reduce hipertonía muscular y devuelve al organismo a su ventana de tolerancia clínica.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8655" cy="15544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8463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6E5D"/>
                </a:solidFill>
                <a:latin typeface="Calibri"/>
              </a:defRPr>
            </a:pPr>
            <a:r>
              <a:t>LA SINERGIA CLÍNICA INTEGRATIVA EN SALUD MENTAL</a:t>
            </a:r>
          </a:p>
          <a:p>
            <a:pPr>
              <a:lnSpc>
                <a:spcPct val="125000"/>
              </a:lnSpc>
              <a:defRPr sz="1350" b="1">
                <a:solidFill>
                  <a:srgbClr val="0F2043"/>
                </a:solidFill>
                <a:latin typeface="Cambria"/>
              </a:defRPr>
            </a:pPr>
            <a:r>
              <a:t>La integración de la MTCI no reemplaza a la psicoterapia verbal; instaura la calma neurovegetativa somática necesaria (vía Bottom-Up) para que el paciente recupere la receptividad cortical y el procesamiento reflexivo (vía Top-Down) pueda ser eficaz.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III • DISEÑO METODOLÓGICO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Tipología de Estudio, Paradigma Pragmático y Fases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PILARES METODOLÓGICOS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Enfoque Mixto Concurrente (DIAC): </a:t>
            </a:r>
            <a:r>
              <a:rPr sz="1200">
                <a:solidFill>
                  <a:srgbClr val="1E293B"/>
                </a:solidFill>
              </a:rPr>
              <a:t>Articula datos cuantitativos (OE1) con hermenéutica cualitativa (OE2 y OE3), integrándolos dialógicamente en la discusión.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Paradigma Pragmático (Arias, 2023): </a:t>
            </a:r>
            <a:r>
              <a:rPr sz="1200">
                <a:solidFill>
                  <a:srgbClr val="1E293B"/>
                </a:solidFill>
              </a:rPr>
              <a:t>Supera pugnas dogmáticas; supedita el método a resolver la brecha real de competencias en las aulas y clínica del CUR-Estelí.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Nivel y Temporalidad: </a:t>
            </a:r>
            <a:r>
              <a:rPr sz="1200">
                <a:solidFill>
                  <a:srgbClr val="1E293B"/>
                </a:solidFill>
              </a:rPr>
              <a:t>Descriptivo con alcance exploratorio y propositivo; diseño no experimental y transversal (segundo semestre 2026).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Rigor y Validación: </a:t>
            </a:r>
            <a:r>
              <a:rPr sz="1200">
                <a:solidFill>
                  <a:srgbClr val="1E293B"/>
                </a:solidFill>
              </a:rPr>
              <a:t>Juicio crítico de 4 expertos universitarios para la validez de contenido de los cuestionarios I1, I2 e I3.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LAS CUATRO FASES DE LA INVESTIGACIÓN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FASE 1: Fundamentación — </a:t>
            </a:r>
            <a:r>
              <a:rPr sz="1200">
                <a:solidFill>
                  <a:srgbClr val="1E293B"/>
                </a:solidFill>
              </a:rPr>
              <a:t>Delimitación del problema, formulación de objetivos, revisión sistemática y marco de Leyes 774, 759 y 292.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FASE 2: Validación Instrumental — </a:t>
            </a:r>
            <a:r>
              <a:rPr sz="1200">
                <a:solidFill>
                  <a:srgbClr val="1E293B"/>
                </a:solidFill>
              </a:rPr>
              <a:t>Construcción de cuestionarios I1, I2 e I3; juicio crítico de 4 expertos universitarios en pertinencia y redacción.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FASE 3: Trabajo de Campo — </a:t>
            </a:r>
            <a:r>
              <a:rPr sz="1200">
                <a:solidFill>
                  <a:srgbClr val="1E293B"/>
                </a:solidFill>
              </a:rPr>
              <a:t>Levantamiento muestral (N = 86 participantes), procesamiento estadístico en SPSS v26 y análisis temático cualitativo.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D6E5D"/>
                </a:solidFill>
              </a:rPr>
              <a:t>FASE 4: Formulación Propositiva — </a:t>
            </a:r>
            <a:r>
              <a:rPr sz="1200">
                <a:solidFill>
                  <a:srgbClr val="1E293B"/>
                </a:solidFill>
              </a:rPr>
              <a:t>Elaboración del Manual de Estrategias MTCI de 18 páginas para la práctica clínica y docente en el CUR-Estelí.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III • DISEÑO METODOLÓGICO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Muestra Participante (N = 86), Criterios e Instrumentos de Campo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9 / 16</a:t>
            </a:r>
          </a:p>
        </p:txBody>
      </p:sp>
      <p:pic>
        <p:nvPicPr>
          <p:cNvPr id="7" name="Picture 6" descr="figura_02_criterios_inclusion_excl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4937760" cy="4069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715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t>Figura 2. Flujograma de criterios de inclusión y exclusión (Elaboración propia, 2026).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73775" y="1554480"/>
            <a:ext cx="548640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48095" y="1783080"/>
            <a:ext cx="4937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TRES COLECTIVOS DE ANÁLISIS (N = 86)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50">
                <a:solidFill>
                  <a:srgbClr val="0F2043"/>
                </a:solidFill>
              </a:rPr>
              <a:t>Estudiantes de Psicología (n = 68): </a:t>
            </a:r>
            <a:r>
              <a:rPr sz="1200">
                <a:solidFill>
                  <a:srgbClr val="1E293B"/>
                </a:solidFill>
              </a:rPr>
              <a:t>53 de 4.° año (77.9%) y 15 de 5.° año (22.1%) en turnos matutino y sabatino.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0D6E5D"/>
                </a:solidFill>
              </a:rPr>
              <a:t>✦ Instrumento I1: Cuestionario estandarizado en Google Forms (12 ítems Likert y selección múltiple).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50">
                <a:solidFill>
                  <a:srgbClr val="0F2043"/>
                </a:solidFill>
              </a:rPr>
              <a:t>Facilitadores Locales de Estelí (n = 9): </a:t>
            </a:r>
            <a:r>
              <a:rPr sz="1200">
                <a:solidFill>
                  <a:srgbClr val="1E293B"/>
                </a:solidFill>
              </a:rPr>
              <a:t>7 mujeres y 2 hombres con amplia trayectoria y reconocimiento en medicina natural.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0D6E5D"/>
                </a:solidFill>
              </a:rPr>
              <a:t>✦ Instrumento I2: Entrevista cualitativa semiestructurada (11 preguntas abiertas en profundidad).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250">
                <a:solidFill>
                  <a:srgbClr val="0F2043"/>
                </a:solidFill>
              </a:rPr>
              <a:t>Claustro Docente de Psicología (n = 9): </a:t>
            </a:r>
            <a:r>
              <a:rPr sz="1200">
                <a:solidFill>
                  <a:srgbClr val="1E293B"/>
                </a:solidFill>
              </a:rPr>
              <a:t>Docentes activos de grado y posgrado con experiencia en tutoría y clínica.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050">
                <a:solidFill>
                  <a:srgbClr val="0D6E5D"/>
                </a:solidFill>
              </a:rPr>
              <a:t>✦ Instrumento I3: Cuestionario reflexivo docente (14 preguntas abiertas de pertinencia curricular).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IV • RESULTADOS EMPÍRICOS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Caracterización de la Muestra y Brecha de Conocimiento Normativo (OE1)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10 / 16</a:t>
            </a:r>
          </a:p>
        </p:txBody>
      </p:sp>
      <p:pic>
        <p:nvPicPr>
          <p:cNvPr id="7" name="Picture 6" descr="figura_03_demografia_estudi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5212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Calibri"/>
              </a:defRPr>
            </a:pPr>
            <a:r>
              <a:t>PERFIL SOCIODEMOGRÁFICO ESTUDIANTIL</a:t>
            </a:r>
          </a:p>
          <a:p>
            <a:pPr>
              <a:lnSpc>
                <a:spcPct val="120000"/>
              </a:lnSpc>
              <a:defRPr sz="1150">
                <a:solidFill>
                  <a:srgbClr val="1E293B"/>
                </a:solidFill>
              </a:defRPr>
            </a:pPr>
            <a:r>
              <a:t>• Marcada Feminización: 82.4% mujeres (n = 56) y 14.7% varones (n = 10).</a:t>
            </a:r>
            <a:br/>
            <a:r>
              <a:t>• Colectivo Joven: 61.8% entre 20 y 22 años; 26.5% entre 23 y 25 años.</a:t>
            </a:r>
            <a:br/>
            <a:r>
              <a:t>• Momento Formativo: 77.9% cursa 4.º año y 22.1% culmina 5.º año en prácticas preprofesionales.</a:t>
            </a:r>
          </a:p>
        </p:txBody>
      </p:sp>
      <p:pic>
        <p:nvPicPr>
          <p:cNvPr id="9" name="Picture 8" descr="figura_04_dominio_conceptual_normativo_estudian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095" y="1554480"/>
            <a:ext cx="521208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095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B91C1C"/>
                </a:solidFill>
                <a:latin typeface="Calibri"/>
              </a:defRPr>
            </a:pPr>
            <a:r>
              <a:t>BRECHA COGNITIVO-NORMATIVA IDENTIFICADA</a:t>
            </a:r>
          </a:p>
          <a:p>
            <a:pPr>
              <a:lnSpc>
                <a:spcPct val="120000"/>
              </a:lnSpc>
              <a:defRPr sz="1150">
                <a:solidFill>
                  <a:srgbClr val="1E293B"/>
                </a:solidFill>
              </a:defRPr>
            </a:pPr>
            <a:r>
              <a:t>• Dominio Teórico Parcial: 67.6% acierta el concepto de MTCI según la OMS, pero el 75.0% ignora su aplicación clínica en salud mental.</a:t>
            </a:r>
            <a:br/>
            <a:r>
              <a:t>• Vacío Normativo Severo: 58.8% desconoce la Ley No. 774 y el 64.7% desconoce que la Ley No. 292 prohíbe formular psicofármacos.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IV • RESULTADOS EMPÍRICOS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La Paradoja Formativa y la Eficacia Subjetiva del Autocuidado (OE1)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LA GRAN PARADOJA FORMATIVA</a:t>
            </a:r>
          </a:p>
          <a:p>
            <a:pPr>
              <a:defRPr sz="3600" b="1">
                <a:solidFill>
                  <a:srgbClr val="0D6E5D"/>
                </a:solidFill>
                <a:latin typeface="Cambria"/>
              </a:defRPr>
            </a:pPr>
            <a:r>
              <a:t>89.7%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Considera pertinente y necesario integrar la MTCI en psicología clínica.</a:t>
            </a:r>
          </a:p>
          <a:p>
            <a:pPr>
              <a:defRPr sz="3600" b="1">
                <a:solidFill>
                  <a:srgbClr val="B91C1C"/>
                </a:solidFill>
                <a:latin typeface="Cambria"/>
              </a:defRPr>
            </a:pPr>
            <a:r>
              <a:t>88.2%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Reconoce no haber recibido preparación alguna para orientar o derivar a MTCI.</a:t>
            </a:r>
          </a:p>
          <a:p>
            <a:pPr>
              <a:defRPr sz="3600" b="1">
                <a:solidFill>
                  <a:srgbClr val="D97706"/>
                </a:solidFill>
                <a:latin typeface="Cambria"/>
              </a:defRPr>
            </a:pPr>
            <a:r>
              <a:t>86.8%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Autopercibe preparación insuficiente o nula para psicoeducar sobre MTCI.</a:t>
            </a:r>
          </a:p>
          <a:p>
            <a:pPr>
              <a:defRPr sz="1100" b="1">
                <a:solidFill>
                  <a:srgbClr val="0F2043"/>
                </a:solidFill>
              </a:defRPr>
            </a:pPr>
            <a:r>
              <a:t>✦ Hallazgo Medular: Convicción ética unánime sobre el valor terapéutico, frente a un absoluto desamparo curricular y procedimental.</a:t>
            </a:r>
          </a:p>
        </p:txBody>
      </p:sp>
      <p:pic>
        <p:nvPicPr>
          <p:cNvPr id="9" name="Picture 8" descr="figura_07_frecuencia_uso_estudi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95" y="1554480"/>
            <a:ext cx="5212080" cy="2926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8095" y="4663440"/>
            <a:ext cx="5212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6E5D"/>
                </a:solidFill>
                <a:latin typeface="Calibri"/>
              </a:defRPr>
            </a:pPr>
            <a:r>
              <a:t>USO PERSONAL Y EFICACIA SOMÁTICA PERCIBIDA</a:t>
            </a:r>
          </a:p>
          <a:p>
            <a:pPr>
              <a:lnSpc>
                <a:spcPct val="120000"/>
              </a:lnSpc>
              <a:defRPr sz="1150">
                <a:solidFill>
                  <a:srgbClr val="1E293B"/>
                </a:solidFill>
              </a:defRPr>
            </a:pPr>
            <a:r>
              <a:t>• Carácter Reactivo: 52.9% no usa MTCI preventivamente; acuden únicamente ante crisis o sobrecarga académica.</a:t>
            </a:r>
            <a:br/>
            <a:r>
              <a:t>• Eficacia Subjetiva Plena: 86.7% reporta efectos favorables o muy favorables en relajación y distensión muscular.</a:t>
            </a:r>
            <a:br/>
            <a:r>
              <a:t>• Seguridad Clínica: 0.0% reporta efectos adversos o complicaciones.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IV • RESULTADOS EMPÍRICOS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Perspectiva de Facilitadores Locales de Estelí y Claustro Docente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FACILITADORES LOCALES DE ESTELÍ (n = 9)</a:t>
            </a:r>
          </a:p>
          <a:p>
            <a:pPr>
              <a:defRPr sz="3600" b="1">
                <a:solidFill>
                  <a:srgbClr val="0D6E5D"/>
                </a:solidFill>
                <a:latin typeface="Cambria"/>
              </a:defRPr>
            </a:pPr>
            <a:r>
              <a:t>100%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Constatan alivio inmediato de sobrecarga psicosomática y tensión miofascial.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D6E5D"/>
                </a:solidFill>
              </a:rPr>
              <a:t>• Perfil Socioterritorial: </a:t>
            </a:r>
            <a:r>
              <a:rPr sz="1100">
                <a:solidFill>
                  <a:srgbClr val="1E293B"/>
                </a:solidFill>
              </a:rPr>
              <a:t>77.8% mujeres; 44.4% acumula entre 20 y 30 años de experiencia continuada en Estelí.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D6E5D"/>
                </a:solidFill>
              </a:rPr>
              <a:t>• Apertura Reflexiva (88.9%): </a:t>
            </a:r>
            <a:r>
              <a:rPr sz="1100">
                <a:solidFill>
                  <a:srgbClr val="1E293B"/>
                </a:solidFill>
              </a:rPr>
              <a:t>Tras el alivio somático, los pacientes muestran mayor receptividad afectiva para dialogar con el terapeuta.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D6E5D"/>
                </a:solidFill>
              </a:rPr>
              <a:t>• Estigma Sociocultural (100%): </a:t>
            </a:r>
            <a:r>
              <a:rPr sz="1100">
                <a:solidFill>
                  <a:srgbClr val="1E293B"/>
                </a:solidFill>
              </a:rPr>
              <a:t>Identifican con frecuencia mitos, tabúes y prejuicios religiosos respecto a la medicina natural.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D6E5D"/>
                </a:solidFill>
              </a:rPr>
              <a:t>• Desafío Económico (77.8%): </a:t>
            </a:r>
            <a:r>
              <a:rPr sz="1100">
                <a:solidFill>
                  <a:srgbClr val="1E293B"/>
                </a:solidFill>
              </a:rPr>
              <a:t>La limitada capacidad económica de consultantes vulnerables interrumpe la continuidad del cuidado.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B91C1C"/>
                </a:solidFill>
              </a:rPr>
              <a:t>✦ Desafío Territorial: Persisten trabas burocráticas de acreditación (22.2%) y asimetría asistencial.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8308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CLAUSTRO DOCENTE-PSICÓLOGOS (n = 9)</a:t>
            </a:r>
          </a:p>
          <a:p>
            <a:pPr>
              <a:defRPr sz="3600" b="1">
                <a:solidFill>
                  <a:srgbClr val="0F2043"/>
                </a:solidFill>
                <a:latin typeface="Cambria"/>
              </a:defRPr>
            </a:pPr>
            <a:r>
              <a:t>100%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</a:defRPr>
            </a:pPr>
            <a:r>
              <a:t>Respaldo unánime a la incorporación curricular bajo enfoque crítico y científico.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F2043"/>
                </a:solidFill>
              </a:rPr>
              <a:t>• Metodologías Priorizadas: </a:t>
            </a:r>
            <a:r>
              <a:rPr sz="1100">
                <a:solidFill>
                  <a:srgbClr val="1E293B"/>
                </a:solidFill>
              </a:rPr>
              <a:t>Rechazan la enseñanza memorística; 88.9% prioriza talleres prácticos y 77.8% intercambios dialógicos.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F2043"/>
                </a:solidFill>
              </a:rPr>
              <a:t>• Competencias Clave a Formar: </a:t>
            </a:r>
            <a:r>
              <a:rPr sz="1100">
                <a:solidFill>
                  <a:srgbClr val="1E293B"/>
                </a:solidFill>
              </a:rPr>
              <a:t>Juicio clínico crítico, prevención de riesgos, consentimiento informado y derivación bioética.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F2043"/>
                </a:solidFill>
              </a:rPr>
              <a:t>• Capacitación Propia Urgente: </a:t>
            </a:r>
            <a:r>
              <a:rPr sz="1100">
                <a:solidFill>
                  <a:srgbClr val="1E293B"/>
                </a:solidFill>
              </a:rPr>
              <a:t>El profesorado solicita formación en neurobiología somática y regulación Bottom-Up.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50">
                <a:solidFill>
                  <a:srgbClr val="0F2043"/>
                </a:solidFill>
              </a:rPr>
              <a:t>• Propuesta Institucional: </a:t>
            </a:r>
            <a:r>
              <a:rPr sz="1100">
                <a:solidFill>
                  <a:srgbClr val="1E293B"/>
                </a:solidFill>
              </a:rPr>
              <a:t>Creación del Comité de Ética y Delimitación Profesional en el CUR-Estelí.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F2043"/>
                </a:solidFill>
              </a:rPr>
              <a:t>✦ Aporte del Claustro: Demanda urgente de un Comité de Ética y Delimitación en el CUR-Estelí.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V • PROPUESTA OPERATIVA (OE3)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Manual de Estrategias de MTCI para la Formación y Práctica Psicológica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13 / 16</a:t>
            </a:r>
          </a:p>
        </p:txBody>
      </p:sp>
      <p:pic>
        <p:nvPicPr>
          <p:cNvPr id="7" name="Picture 6" descr="portada_manu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54480"/>
            <a:ext cx="3931920" cy="2834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526280"/>
            <a:ext cx="3931920" cy="169164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36576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2043"/>
                </a:solidFill>
                <a:latin typeface="Calibri"/>
              </a:defRPr>
            </a:pPr>
            <a:r>
              <a:t>FICHA TÉCNICA DEL PRODUCTO</a:t>
            </a:r>
          </a:p>
          <a:p>
            <a:pPr>
              <a:lnSpc>
                <a:spcPct val="115000"/>
              </a:lnSpc>
              <a:defRPr sz="1050">
                <a:solidFill>
                  <a:srgbClr val="1E293B"/>
                </a:solidFill>
              </a:defRPr>
            </a:pPr>
            <a:r>
              <a:t>• Extensión: 18 páginas in extenso (Anexo 16.2).</a:t>
            </a:r>
            <a:br/>
            <a:r>
              <a:t>• Destinatarios: Alumnos y docentes de la Clínica Psicosocial.</a:t>
            </a:r>
            <a:br/>
            <a:r>
              <a:t>• Propósito: Dotar de discernimiento ético para explorar y derivar, sin habilitar como terapeutas alternativos.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495" y="1554480"/>
            <a:ext cx="6583680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0" y="1783080"/>
            <a:ext cx="6126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D6E5D"/>
                </a:solidFill>
                <a:latin typeface="Calibri"/>
              </a:defRPr>
            </a:pPr>
            <a:r>
              <a:t>ESTRUCTURA MODULAR DEL MANUAL (8 MÓDULOS)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1. Módulo 1: Fundamentos y Marco Legal: </a:t>
            </a:r>
            <a:r>
              <a:rPr sz="1050">
                <a:solidFill>
                  <a:srgbClr val="1E293B"/>
                </a:solidFill>
              </a:rPr>
              <a:t>Definición OMS (2025) y articulación de Leyes 774, 759 y 292 de Nicaragua.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2. Módulo 2: Principios Deontológicos: </a:t>
            </a:r>
            <a:r>
              <a:rPr sz="1050">
                <a:solidFill>
                  <a:srgbClr val="1E293B"/>
                </a:solidFill>
              </a:rPr>
              <a:t>Consentimiento informado intercultural y complementariedad sin sustitución.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3. Módulo 3: Mapa de Prácticas: </a:t>
            </a:r>
            <a:r>
              <a:rPr sz="1050">
                <a:solidFill>
                  <a:srgbClr val="1E293B"/>
                </a:solidFill>
              </a:rPr>
              <a:t>Clasificación clínica en 4 niveles (directo, psicoeducación, precaución, alerta).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4. Módulo 4: Algoritmo de Derivación: </a:t>
            </a:r>
            <a:r>
              <a:rPr sz="1050">
                <a:solidFill>
                  <a:srgbClr val="1E293B"/>
                </a:solidFill>
              </a:rPr>
              <a:t>Protocolo secuencial de 4 pasos para derivación clínica informada.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5. Módulo 5: Habilidades de Diálogo: </a:t>
            </a:r>
            <a:r>
              <a:rPr sz="1050">
                <a:solidFill>
                  <a:srgbClr val="1E293B"/>
                </a:solidFill>
              </a:rPr>
              <a:t>Técnicas de entrevista abierta para erradicar el ocultamiento terapéutico.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6. Módulo 6: Red Intersectorial: </a:t>
            </a:r>
            <a:r>
              <a:rPr sz="1050">
                <a:solidFill>
                  <a:srgbClr val="1E293B"/>
                </a:solidFill>
              </a:rPr>
              <a:t>Criterios de referencia bidireccional y trabajo colaborativo con facilitadores.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7. Módulo 7: Ruta Formativa: </a:t>
            </a:r>
            <a:r>
              <a:rPr sz="1050">
                <a:solidFill>
                  <a:srgbClr val="1E293B"/>
                </a:solidFill>
              </a:rPr>
              <a:t>Secuencia pedagógica en 3 etapas y propuesta de asignatura electiva.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0F2043"/>
                </a:solidFill>
              </a:rPr>
              <a:t>8. Módulo 8: Soporte CUR-Estelí: </a:t>
            </a:r>
            <a:r>
              <a:rPr sz="1050">
                <a:solidFill>
                  <a:srgbClr val="1E293B"/>
                </a:solidFill>
              </a:rPr>
              <a:t>Creación del Comité de Bioética y plan de capacitación docente continua.</a:t>
            </a:r>
          </a:p>
          <a:p>
            <a:pPr>
              <a:spcBef>
                <a:spcPts val="800"/>
              </a:spcBef>
            </a:pPr>
            <a:r>
              <a:rPr b="1" sz="1000">
                <a:solidFill>
                  <a:srgbClr val="0D6E5D"/>
                </a:solidFill>
              </a:rPr>
              <a:t>✦ Herramienta Anexa: Incorpora la adaptación transcultural del cuestionario I-CAM-Q para tamizaje clínico estandarizado.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VI • SÍNTESIS CONCLUSIVA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Conclusiones Centrales de la Investigación (Triangulación de Objetivos)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0728655" cy="4663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83080"/>
            <a:ext cx="100584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F2043"/>
                </a:solidFill>
                <a:latin typeface="Calibri"/>
              </a:defRPr>
            </a:pPr>
            <a:r>
              <a:t>SÍNTESIS CONCLUSIVA POR OBJETIVOS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1. Cumplimiento del Objetivo General: </a:t>
            </a:r>
            <a:r>
              <a:rPr sz="1200">
                <a:solidFill>
                  <a:srgbClr val="1E293B"/>
                </a:solidFill>
              </a:rPr>
              <a:t>Los tres colectivos participantes (N = 86) validan unánimemente la MTCI como recurso complementario legítimo en salud mental, condicionado a un ejercicio bioético, científico y respetuoso de los límites profesionales.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2. Perfil y Paradoja Estudiantil (OE1): </a:t>
            </a:r>
            <a:r>
              <a:rPr sz="1200">
                <a:solidFill>
                  <a:srgbClr val="1E293B"/>
                </a:solidFill>
              </a:rPr>
              <a:t>El estudiantado posee buen dominio conceptual básico (67.6%) y alta satisfacción somática subjetiva (86.7%), pero padece desinformación legal (58.8% desconoce Ley 774; 64.7% desconoce Ley 292) y alta inseguridad para derivar (88.2%).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3. Oferta y Resiliencia Territorial (OE2): </a:t>
            </a:r>
            <a:r>
              <a:rPr sz="1200">
                <a:solidFill>
                  <a:srgbClr val="1E293B"/>
                </a:solidFill>
              </a:rPr>
              <a:t>Los facilitadores de Estelí constatan 100% de alivio de sobrecarga muscular y mayor apertura reflexiva (88.9%), enfrentando barreras de estigma sociocultural (100%) y limitaciones económicas de los usuarios (77.8%).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4. Consenso Curricular Docente (OE3): </a:t>
            </a:r>
            <a:r>
              <a:rPr sz="1200">
                <a:solidFill>
                  <a:srgbClr val="1E293B"/>
                </a:solidFill>
              </a:rPr>
              <a:t>El 100% del claustro apoya transversalizar la MTCI bajo metodologías activas y vivenciales (88.9%), demandando formación en regulación neurovegetativa y comités de bioética.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b="1" sz="1250">
                <a:solidFill>
                  <a:srgbClr val="0F2043"/>
                </a:solidFill>
              </a:rPr>
              <a:t>5. Logro Propositivo del Manual de Estrategias: </a:t>
            </a:r>
            <a:r>
              <a:rPr sz="1200">
                <a:solidFill>
                  <a:srgbClr val="1E293B"/>
                </a:solidFill>
              </a:rPr>
              <a:t>Se construyó exitosamente el Manual de Estrategias MTCI de 18 páginas (Anexo 16.2), dotando al CUR-Estelí de algoritmos de decisión clínica, pautas contra el ocultamiento y el inventario I-CAM-Q.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7548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D6E5D"/>
                </a:solidFill>
                <a:latin typeface="Calibri"/>
              </a:defRPr>
            </a:pPr>
            <a:r>
              <a:t>CAPÍTULO VI • DIRECTRICES PROSPECTIVAS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4980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2043"/>
                </a:solidFill>
                <a:latin typeface="Cambria"/>
              </a:defRPr>
            </a:pPr>
            <a:r>
              <a:t>Recomendaciones Estratégicas para Estudiantes, Docentes, Universidad y MINSA</a:t>
            </a:r>
          </a:p>
        </p:txBody>
      </p:sp>
      <p:pic>
        <p:nvPicPr>
          <p:cNvPr id="4" name="Picture 3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438912"/>
            <a:ext cx="533862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9601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UNAN-Managua • CUR-Estelí | Carrera de Psicología • Segundo Semestre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00" b="1">
                <a:solidFill>
                  <a:srgbClr val="0F2043"/>
                </a:solidFill>
                <a:latin typeface="Calibri"/>
              </a:defRPr>
            </a:pPr>
            <a:r>
              <a:t>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5212080" cy="2240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47548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D6E5D"/>
                </a:solidFill>
                <a:latin typeface="Calibri"/>
              </a:defRPr>
            </a:pPr>
            <a:r>
              <a:t>PARA EL ESTAMENTO ESTUDIANTIL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Límites Legales: </a:t>
            </a:r>
            <a:r>
              <a:rPr sz="1050">
                <a:solidFill>
                  <a:srgbClr val="1E293B"/>
                </a:solidFill>
              </a:rPr>
              <a:t>Respetar estrictamente las Leyes 774 y 292 (prohibición terminante de formular fármacos).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Algoritmo Clínico: </a:t>
            </a:r>
            <a:r>
              <a:rPr sz="1050">
                <a:solidFill>
                  <a:srgbClr val="1E293B"/>
                </a:solidFill>
              </a:rPr>
              <a:t>Aplicar el árbol de decisión del manual en las prácticas de la Clínica Psicosocial.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Diálogo Abierto: </a:t>
            </a:r>
            <a:r>
              <a:rPr sz="1050">
                <a:solidFill>
                  <a:srgbClr val="1E293B"/>
                </a:solidFill>
              </a:rPr>
              <a:t>Explorar empáticamente el uso de MTCI en consulta para erradicar el ocultamiento terapéutico.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Autocuidado Personal: </a:t>
            </a:r>
            <a:r>
              <a:rPr sz="1050">
                <a:solidFill>
                  <a:srgbClr val="1E293B"/>
                </a:solidFill>
              </a:rPr>
              <a:t>Vivenciar la regulación somática (respiración diafragmática) ante sobrecarga académica.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554480"/>
            <a:ext cx="5212080" cy="2240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6695" y="1719072"/>
            <a:ext cx="47548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F2043"/>
                </a:solidFill>
                <a:latin typeface="Calibri"/>
              </a:defRPr>
            </a:pPr>
            <a:r>
              <a:t>PARA EL CLAUSTRO DOCENTE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F2043"/>
                </a:solidFill>
              </a:rPr>
              <a:t>✓ Transversalidad Curricular: </a:t>
            </a:r>
            <a:r>
              <a:rPr sz="1050">
                <a:solidFill>
                  <a:srgbClr val="1E293B"/>
                </a:solidFill>
              </a:rPr>
              <a:t>Integrar contenidos de MTCI en Psicología Clínica, Comunitaria y Ética Profesional.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F2043"/>
                </a:solidFill>
              </a:rPr>
              <a:t>✓ Pedagogía Vivencial: </a:t>
            </a:r>
            <a:r>
              <a:rPr sz="1050">
                <a:solidFill>
                  <a:srgbClr val="1E293B"/>
                </a:solidFill>
              </a:rPr>
              <a:t>Priorizar análisis de casos clínicos y talleres de autorregulación somática.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F2043"/>
                </a:solidFill>
              </a:rPr>
              <a:t>✓ Capacitación Continua: </a:t>
            </a:r>
            <a:r>
              <a:rPr sz="1050">
                <a:solidFill>
                  <a:srgbClr val="1E293B"/>
                </a:solidFill>
              </a:rPr>
              <a:t>Formarse institucionalmente en neurobiología del estrés y regulación Bottom-Up.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F2043"/>
                </a:solidFill>
              </a:rPr>
              <a:t>✓ Derivación Ética: </a:t>
            </a:r>
            <a:r>
              <a:rPr sz="1050">
                <a:solidFill>
                  <a:srgbClr val="1E293B"/>
                </a:solidFill>
              </a:rPr>
              <a:t>Instruir en criterios claros de referencia intersectorial hacia facilitadores e interconsulta médica.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240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42231"/>
            <a:ext cx="47548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D97706"/>
                </a:solidFill>
                <a:latin typeface="Calibri"/>
              </a:defRPr>
            </a:pPr>
            <a:r>
              <a:t>PARA LA GESTIÓN DEL CUR-ESTELÍ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D97706"/>
                </a:solidFill>
              </a:rPr>
              <a:t>✓ Adopción Oficial: </a:t>
            </a:r>
            <a:r>
              <a:rPr sz="1050">
                <a:solidFill>
                  <a:srgbClr val="1E293B"/>
                </a:solidFill>
              </a:rPr>
              <a:t>Formalizar la aprobación institucional del Manual de Estrategias MTCI (Anexo 16.2).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D97706"/>
                </a:solidFill>
              </a:rPr>
              <a:t>✓ Comité de Bioética: </a:t>
            </a:r>
            <a:r>
              <a:rPr sz="1050">
                <a:solidFill>
                  <a:srgbClr val="1E293B"/>
                </a:solidFill>
              </a:rPr>
              <a:t>Constituir el Comité de Ética y Delimitación Profesional en el recinto universitario.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D97706"/>
                </a:solidFill>
              </a:rPr>
              <a:t>✓ Alianza con MINSA: </a:t>
            </a:r>
            <a:r>
              <a:rPr sz="1050">
                <a:solidFill>
                  <a:srgbClr val="1E293B"/>
                </a:solidFill>
              </a:rPr>
              <a:t>Consolidar convenios interinstitucionales para pasantías y ferias comunitarias de salud.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D97706"/>
                </a:solidFill>
              </a:rPr>
              <a:t>✓ Asignatura Electiva: </a:t>
            </a:r>
            <a:r>
              <a:rPr sz="1050">
                <a:solidFill>
                  <a:srgbClr val="1E293B"/>
                </a:solidFill>
              </a:rPr>
              <a:t>Evaluar a mediano plazo la creación formal del curso electivo 'Psicología Integrativa'.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3977639"/>
            <a:ext cx="5212080" cy="2240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6695" y="4142231"/>
            <a:ext cx="475488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D6E5D"/>
                </a:solidFill>
                <a:latin typeface="Calibri"/>
              </a:defRPr>
            </a:pPr>
            <a:r>
              <a:t>PARA EL SISTEMA DE SALUD Y FACILITADORES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Registro Oficial: </a:t>
            </a:r>
            <a:r>
              <a:rPr sz="1050">
                <a:solidFill>
                  <a:srgbClr val="1E293B"/>
                </a:solidFill>
              </a:rPr>
              <a:t>Difundir mecanismos de acreditación para facilitadores contemplados en la Ley No. 774.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Red de Interconsulta: </a:t>
            </a:r>
            <a:r>
              <a:rPr sz="1050">
                <a:solidFill>
                  <a:srgbClr val="1E293B"/>
                </a:solidFill>
              </a:rPr>
              <a:t>Habilitar canales de referencia bidireccional entre psicólogos y terapeutas locales.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Atención Primaria: </a:t>
            </a:r>
            <a:r>
              <a:rPr sz="1050">
                <a:solidFill>
                  <a:srgbClr val="1E293B"/>
                </a:solidFill>
              </a:rPr>
              <a:t>Fomentar la exploración desestigmatizada de saberes herbolarios en centros de salud comunitaria.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00">
                <a:solidFill>
                  <a:srgbClr val="0D6E5D"/>
                </a:solidFill>
              </a:rPr>
              <a:t>✓ Principio Bioético: </a:t>
            </a:r>
            <a:r>
              <a:rPr sz="1050">
                <a:solidFill>
                  <a:srgbClr val="1E293B"/>
                </a:solidFill>
              </a:rPr>
              <a:t>Mantener el compromiso de complementariedad sin pretender sustituir tratamientos médicos.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92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an_shiel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31520"/>
            <a:ext cx="879302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148840"/>
            <a:ext cx="103628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800"/>
              </a:spcAft>
              <a:defRPr sz="1700" i="1" b="1">
                <a:solidFill>
                  <a:srgbClr val="D97706"/>
                </a:solidFill>
                <a:latin typeface="Cambria"/>
              </a:defRPr>
            </a:pPr>
            <a:r>
              <a:t>«¡A la libertad por la Universidad!»</a:t>
            </a:r>
          </a:p>
          <a:p>
            <a:pPr algn="ctr">
              <a:spcAft>
                <a:spcPts val="1000"/>
              </a:spcAft>
              <a:defRPr sz="3600" b="1">
                <a:solidFill>
                  <a:srgbClr val="FFFFFF"/>
                </a:solidFill>
                <a:latin typeface="Cambria"/>
              </a:defRPr>
            </a:pPr>
            <a:r>
              <a:t>Muchas Gracias por su Atención</a:t>
            </a:r>
          </a:p>
          <a:p>
            <a:pPr algn="ctr">
              <a:defRPr sz="1300">
                <a:solidFill>
                  <a:srgbClr val="94A3B8"/>
                </a:solidFill>
                <a:latin typeface="Calibri"/>
              </a:defRPr>
            </a:pPr>
            <a:r>
              <a:t>Espacio Abierto para Preguntas, Comentarios y Defensa Oral ante el Honorable Tribunal Examinador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9768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D97706"/>
                </a:solidFill>
                <a:latin typeface="Calibri"/>
              </a:defRPr>
            </a:pPr>
            <a:r>
              <a:t>SUSTENTANTES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Dina Fabiola García Torres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Tatiana Paola López Ramos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• Engel Enoc Zamora Velásquez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9976" y="429768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2DD4BF"/>
                </a:solidFill>
                <a:latin typeface="Calibri"/>
              </a:defRPr>
            </a:pPr>
            <a:r>
              <a:t>TUTORÍA ACADÉMICA</a:t>
            </a:r>
          </a:p>
          <a:p>
            <a:pPr algn="l">
              <a:spcAft>
                <a:spcPts val="40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• Dra. Tania Libertad Pérez Guevara</a:t>
            </a:r>
          </a:p>
          <a:p>
            <a:pPr algn="l">
              <a:defRPr sz="1050">
                <a:solidFill>
                  <a:srgbClr val="94A3B8"/>
                </a:solidFill>
                <a:latin typeface="Calibri"/>
              </a:defRPr>
            </a:pPr>
            <a:r>
              <a:t>Docente Investigadora • CUR-Estelí</a:t>
            </a:r>
            <a:br/>
            <a:r>
              <a:t>Asesoría Temática y Metodológica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28432" y="4297680"/>
            <a:ext cx="3429000" cy="1737360"/>
          </a:xfrm>
          <a:prstGeom prst="roundRect">
            <a:avLst>
              <a:gd name="adj" fmla="val 4000"/>
            </a:avLst>
          </a:prstGeom>
          <a:solidFill>
            <a:srgbClr val="1122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>
              <a:spcAft>
                <a:spcPts val="800"/>
              </a:spcAft>
              <a:defRPr sz="1000" b="1">
                <a:solidFill>
                  <a:srgbClr val="D97706"/>
                </a:solidFill>
                <a:latin typeface="Calibri"/>
              </a:defRPr>
            </a:pPr>
            <a:r>
              <a:t>DEFENSA DE GRADO</a:t>
            </a:r>
          </a:p>
          <a:p>
            <a:pPr algn="l">
              <a:spcAft>
                <a:spcPts val="400"/>
              </a:spcAft>
              <a:defRPr sz="1100">
                <a:solidFill>
                  <a:srgbClr val="FFFFFF"/>
                </a:solidFill>
                <a:latin typeface="Calibri"/>
              </a:defRPr>
            </a:pPr>
            <a:r>
              <a:t>Licenciatura en Psicología</a:t>
            </a:r>
            <a:br/>
            <a:r>
              <a:t>Recinto Leonel Rugama Rugama</a:t>
            </a:r>
            <a:br/>
            <a:r>
              <a:t>Estelí, Nicaragua • Octubre,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