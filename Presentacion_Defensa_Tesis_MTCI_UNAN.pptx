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an_logo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1799013" cy="9601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834640" y="777240"/>
            <a:ext cx="85039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UNIVERSIDAD NACIONAL AUTÓNOMA DE NICARAGUA, MANAGUA</a:t>
            </a:r>
          </a:p>
          <a:p>
            <a:pPr>
              <a:defRPr sz="1050" b="1">
                <a:solidFill>
                  <a:srgbClr val="F59E0B"/>
                </a:solidFill>
                <a:latin typeface="Calibri"/>
              </a:defRPr>
            </a:pPr>
            <a:r>
              <a:t>CENTRO UNIVERSITARIO REGIONAL DE ESTELÍ • RECINTO LEONEL RUGAMA RUGAMA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Departamento de Educación y Humanidades | Carrera de Psicología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10515600" cy="12700"/>
          </a:xfrm>
          <a:prstGeom prst="rect">
            <a:avLst/>
          </a:prstGeom>
          <a:noFill/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10515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14B8A6"/>
                </a:solidFill>
                <a:latin typeface="Calibri"/>
              </a:defRPr>
            </a:pPr>
            <a:r>
              <a:t>TRABAJO DE INVESTIGACIÓN PARA OPTAR AL GRADO DE LICENCIADOS EN PSICOLOGÍA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Cambria"/>
              </a:defRPr>
            </a:pPr>
            <a:r>
              <a:t>La Medicina Tradicional, Complementaria e Integrativa</a:t>
            </a:r>
            <a:br/>
            <a:r>
              <a:t>(MTCI) como Complemento en la Atención Psicológica</a:t>
            </a:r>
          </a:p>
          <a:p>
            <a:pPr>
              <a:defRPr sz="1350">
                <a:solidFill>
                  <a:srgbClr val="E2E8F0"/>
                </a:solidFill>
                <a:latin typeface="Calibri"/>
              </a:defRPr>
            </a:pPr>
            <a:r>
              <a:t>Estudio Mixto con Estudiantes y Docentes del CUR-Estelí y Facilitadores Locales del Municipio de Estelí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663440"/>
            <a:ext cx="10515600" cy="12700"/>
          </a:xfrm>
          <a:prstGeom prst="rect">
            <a:avLst/>
          </a:prstGeom>
          <a:noFill/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AUTORES / SUSTENTANTES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Dina Fabiola García Torres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Tatiana Paola López Ramos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• Engel Enoc Zamora Velásquez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4892040"/>
            <a:ext cx="12700" cy="1371600"/>
          </a:xfrm>
          <a:prstGeom prst="rect">
            <a:avLst/>
          </a:prstGeom>
          <a:noFill/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48920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4B8A6"/>
                </a:solidFill>
                <a:latin typeface="Calibri"/>
              </a:defRPr>
            </a:pPr>
            <a:r>
              <a:t>TUTORÍA ACADÉMICA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• Dra. Tania Libertad Pérez Guevara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Docente Investigadora • Asesoría Temática y Metodológica</a:t>
            </a:r>
            <a:br/>
            <a:r>
              <a:t>CUR-Estelí, UNAN-Managua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4892040"/>
            <a:ext cx="12700" cy="1371600"/>
          </a:xfrm>
          <a:prstGeom prst="rect">
            <a:avLst/>
          </a:prstGeom>
          <a:noFill/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48920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E2E8F0"/>
                </a:solidFill>
                <a:latin typeface="Calibri"/>
              </a:defRPr>
            </a:pPr>
            <a:r>
              <a:t>DEFENSA DE GRADO</a:t>
            </a:r>
          </a:p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Licenciatura en Psicología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Línea SAL-3 (Salud e Interculturalidad)</a:t>
            </a:r>
            <a:br/>
            <a:r>
              <a:t>Estelí, Nicaragua • Octubre, 2026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 • PLANTEAMIENTO DEL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Encrucijada Asistencial, Vacío Formativo y Pertinencia Social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El Conflicto Estructural en Salud Mental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01  </a:t>
            </a:r>
            <a:r>
              <a:rPr b="1" sz="1200">
                <a:solidFill>
                  <a:srgbClr val="0F172A"/>
                </a:solidFill>
                <a:latin typeface="Calibri"/>
              </a:rPr>
              <a:t>Asimetría Normativa: </a:t>
            </a:r>
            <a:r>
              <a:rPr sz="1150">
                <a:solidFill>
                  <a:srgbClr val="1E293B"/>
                </a:solidFill>
                <a:latin typeface="Calibri"/>
              </a:rPr>
              <a:t>La Ley No. 774 garantiza el derecho y acceso ciudadano a las MTCI, pero la Ley No. 292 prohíbe taxativamente al psicólogo formular cualquier fármaco o sustancia.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02  </a:t>
            </a:r>
            <a:r>
              <a:rPr b="1" sz="1200">
                <a:solidFill>
                  <a:srgbClr val="0F172A"/>
                </a:solidFill>
                <a:latin typeface="Calibri"/>
              </a:rPr>
              <a:t>Ocultamiento Terapéutico: </a:t>
            </a:r>
            <a:r>
              <a:rPr sz="1150">
                <a:solidFill>
                  <a:srgbClr val="1E293B"/>
                </a:solidFill>
                <a:latin typeface="Calibri"/>
              </a:rPr>
              <a:t>Los consultantes recurren activamente a terapias tradicionales pero las silencian en sesión clínica por temor al reproche, burla o escepticismo del terapeuta.</a:t>
            </a:r>
          </a:p>
          <a:p>
            <a:pPr>
              <a:spcAft>
                <a:spcPts val="12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03  </a:t>
            </a:r>
            <a:r>
              <a:rPr b="1" sz="1200">
                <a:solidFill>
                  <a:srgbClr val="0F172A"/>
                </a:solidFill>
                <a:latin typeface="Calibri"/>
              </a:rPr>
              <a:t>Vacío Curricular Crítico: </a:t>
            </a:r>
            <a:r>
              <a:rPr sz="1150">
                <a:solidFill>
                  <a:srgbClr val="1E293B"/>
                </a:solidFill>
                <a:latin typeface="Calibri"/>
              </a:rPr>
              <a:t>El estudiantado egresa sin lineamientos bioéticos para entablar un diálogo seguro, identificar interacciones adversas o realizar derivaciones oportunas.</a:t>
            </a:r>
          </a:p>
          <a:p>
            <a:r>
              <a:rPr b="1">
                <a:solidFill>
                  <a:srgbClr val="D97706"/>
                </a:solidFill>
              </a:rPr>
              <a:t>✦ Pregunta Central: </a:t>
            </a:r>
            <a:r>
              <a:rPr i="1">
                <a:solidFill>
                  <a:srgbClr val="0F172A"/>
                </a:solidFill>
              </a:rPr>
              <a:t>¿Cómo fundamenta el diagnóstico de MTCI en Estelí el diseño de un manual ético y pedagógico para Psicología?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691640"/>
            <a:ext cx="12700" cy="42976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00200"/>
            <a:ext cx="5029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0F172A"/>
                </a:solidFill>
                <a:latin typeface="Cambria"/>
              </a:defRPr>
            </a:pPr>
            <a:r>
              <a:t>Justificación y Relevancia Social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</a:rPr>
              <a:t>✦ </a:t>
            </a:r>
            <a:r>
              <a:rPr b="1" sz="1200">
                <a:solidFill>
                  <a:srgbClr val="0F172A"/>
                </a:solidFill>
                <a:latin typeface="Calibri"/>
              </a:rPr>
              <a:t>Ética y No Maleficencia: </a:t>
            </a:r>
            <a:r>
              <a:rPr sz="1150">
                <a:solidFill>
                  <a:srgbClr val="1E293B"/>
                </a:solidFill>
                <a:latin typeface="Calibri"/>
              </a:rPr>
              <a:t>Explorar el uso de hierbas y remedios tradicionales previene intoxicaciones o interacciones fitofarmacológicas con psicofármacos prescritos.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</a:rPr>
              <a:t>✦ </a:t>
            </a:r>
            <a:r>
              <a:rPr b="1" sz="1200">
                <a:solidFill>
                  <a:srgbClr val="0F172A"/>
                </a:solidFill>
                <a:latin typeface="Calibri"/>
              </a:rPr>
              <a:t>Salud Mental Comunitaria: </a:t>
            </a:r>
            <a:r>
              <a:rPr sz="1150">
                <a:solidFill>
                  <a:srgbClr val="1E293B"/>
                </a:solidFill>
                <a:latin typeface="Calibri"/>
              </a:rPr>
              <a:t>Reconoce y articula la memoria etnobotánica viva del norte segoviano y dignifica la labor de los facilitadores tradicionales de Estelí.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</a:rPr>
              <a:t>✦ </a:t>
            </a:r>
            <a:r>
              <a:rPr b="1" sz="1200">
                <a:solidFill>
                  <a:srgbClr val="0F172A"/>
                </a:solidFill>
                <a:latin typeface="Calibri"/>
              </a:rPr>
              <a:t>Impacto Formativo Directo: </a:t>
            </a:r>
            <a:r>
              <a:rPr sz="1150">
                <a:solidFill>
                  <a:srgbClr val="1E293B"/>
                </a:solidFill>
                <a:latin typeface="Calibri"/>
              </a:rPr>
              <a:t>Dota a los estudiantes de 4.º y 5.º año de criterios de discernimiento para su práctica en la Clínica Psicosocial del CUR-Estelí.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</a:rPr>
              <a:t>✦ </a:t>
            </a:r>
            <a:r>
              <a:rPr b="1" sz="1200">
                <a:solidFill>
                  <a:srgbClr val="0F172A"/>
                </a:solidFill>
                <a:latin typeface="Calibri"/>
              </a:rPr>
              <a:t>Aporte Propositivo Concreto: </a:t>
            </a:r>
            <a:r>
              <a:rPr sz="1150">
                <a:solidFill>
                  <a:srgbClr val="1E293B"/>
                </a:solidFill>
                <a:latin typeface="Calibri"/>
              </a:rPr>
              <a:t>Entrega formalmente un Manual de Estrategias MTCI de 18 páginas (Anexo 16.2) validado como herramienta bioética y pedagógica institucional.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 • 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Trayectoria de la Evidencia Internacional, Regional y Local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3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11680"/>
            <a:ext cx="10607040" cy="12700"/>
          </a:xfrm>
          <a:prstGeom prst="rect">
            <a:avLst/>
          </a:prstGeom>
          <a:noFill/>
          <a:ln w="952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33375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300">
                <a:solidFill>
                  <a:srgbClr val="0D9488"/>
                </a:solidFill>
                <a:latin typeface="Cambria"/>
              </a:defRPr>
            </a:pPr>
            <a:r>
              <a:t>●  2014 – 2019</a:t>
            </a:r>
          </a:p>
          <a:p>
            <a:pPr>
              <a:defRPr b="1" sz="1100">
                <a:solidFill>
                  <a:srgbClr val="0F172A"/>
                </a:solidFill>
                <a:latin typeface="Calibri"/>
              </a:defRPr>
            </a:pPr>
            <a:r>
              <a:t>ÁMBITO GLOBAL • OMS y Salud Integrativa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337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Estrategia OMS sobre MTCI: </a:t>
            </a:r>
            <a:r>
              <a:rPr sz="1100">
                <a:solidFill>
                  <a:srgbClr val="1E293B"/>
                </a:solidFill>
                <a:latin typeface="Calibri"/>
              </a:rPr>
              <a:t>Marco global que insta a los sistemas de salud a integrar medicinas tradicionales con base en evidencia.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Metanálisis de Acupuntura y Fitoterapia: </a:t>
            </a:r>
            <a:r>
              <a:rPr sz="1100">
                <a:solidFill>
                  <a:srgbClr val="1E293B"/>
                </a:solidFill>
                <a:latin typeface="Calibri"/>
              </a:rPr>
              <a:t>Furlan et al. (2012) y Guo et al. (2024) comprueban eficacia en dolor crónico, fibromialgia y estrés somático.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Salud Mental Global: </a:t>
            </a:r>
            <a:r>
              <a:rPr sz="1100">
                <a:solidFill>
                  <a:srgbClr val="1E293B"/>
                </a:solidFill>
                <a:latin typeface="Calibri"/>
              </a:rPr>
              <a:t>Sotiropoulos et al. (2025) validan técnicas mente-cuerpo en comorbilidades afectivas.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3375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300">
                <a:solidFill>
                  <a:srgbClr val="0D9488"/>
                </a:solidFill>
                <a:latin typeface="Cambria"/>
              </a:defRPr>
            </a:pPr>
            <a:r>
              <a:t>●  2020 – 2023</a:t>
            </a:r>
          </a:p>
          <a:p>
            <a:pPr>
              <a:defRPr b="1" sz="1100">
                <a:solidFill>
                  <a:srgbClr val="0F172A"/>
                </a:solidFill>
                <a:latin typeface="Calibri"/>
              </a:defRPr>
            </a:pPr>
            <a:r>
              <a:t>ÁMBITO REGIONAL • Iberoamérica y la Paradoja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423160"/>
            <a:ext cx="3337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Estudios en Educación Superior: </a:t>
            </a:r>
            <a:r>
              <a:rPr sz="1100">
                <a:solidFill>
                  <a:srgbClr val="1E293B"/>
                </a:solidFill>
                <a:latin typeface="Calibri"/>
              </a:rPr>
              <a:t>Investigaciones en Argentina (Papalini, 2022) y Chile evidencian uso masivo de MTCI en universitarios.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Paradoja Formativa Identificada: </a:t>
            </a:r>
            <a:r>
              <a:rPr sz="1100">
                <a:solidFill>
                  <a:srgbClr val="1E293B"/>
                </a:solidFill>
                <a:latin typeface="Calibri"/>
              </a:rPr>
              <a:t>Más del 80% del alumnado en carreras de salud recurre a MTCI pero reporta cero instrucción universitaria.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Falta de Protocolos: </a:t>
            </a:r>
            <a:r>
              <a:rPr sz="1100">
                <a:solidFill>
                  <a:srgbClr val="1E293B"/>
                </a:solidFill>
                <a:latin typeface="Calibri"/>
              </a:rPr>
              <a:t>Ausencia de guías clínicas de derivación entre psicólogos y terapeutas complementarios.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00200"/>
            <a:ext cx="333756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b="1" sz="1300">
                <a:solidFill>
                  <a:srgbClr val="0D9488"/>
                </a:solidFill>
                <a:latin typeface="Cambria"/>
              </a:defRPr>
            </a:pPr>
            <a:r>
              <a:t>●  2024 – 2026</a:t>
            </a:r>
          </a:p>
          <a:p>
            <a:pPr>
              <a:defRPr b="1" sz="1100">
                <a:solidFill>
                  <a:srgbClr val="0F172A"/>
                </a:solidFill>
                <a:latin typeface="Calibri"/>
              </a:defRPr>
            </a:pPr>
            <a:r>
              <a:t>ÁMBITO LOCAL • Nicaragua y Vacío Curricular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423160"/>
            <a:ext cx="333756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Marco Jurídico de Vanguardia: </a:t>
            </a:r>
            <a:r>
              <a:rPr sz="1100">
                <a:solidFill>
                  <a:srgbClr val="1E293B"/>
                </a:solidFill>
                <a:latin typeface="Calibri"/>
              </a:rPr>
              <a:t>Leyes 774 y 759 establecen el Instituto de Medicina Natural, pionero en Centroamérica.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Vacío en Facultades de Psicología: </a:t>
            </a:r>
            <a:r>
              <a:rPr sz="1100">
                <a:solidFill>
                  <a:srgbClr val="1E293B"/>
                </a:solidFill>
                <a:latin typeface="Calibri"/>
              </a:rPr>
              <a:t>Cero asignaturas electivas o transversales sobre diálogo intercultural en salud mental.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Estudio CUR-Estelí (2026): </a:t>
            </a:r>
            <a:r>
              <a:rPr sz="1100">
                <a:solidFill>
                  <a:srgbClr val="1E293B"/>
                </a:solidFill>
                <a:latin typeface="Calibri"/>
              </a:rPr>
              <a:t>Primera investigación empírica mixta que articula estudiantes, claustro docente y facilitadores territoriales.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 • CONTEXTUALIZACIÓN SITUACIONAL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El Escenario de Investigación: CUR-Estelí y el Territorio Segoviano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Cambria"/>
              </a:defRPr>
            </a:pPr>
            <a:r>
              <a:t>Municipio de Estelí: Matriz Sociocultural y Saberes Vivos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  <a:latin typeface="Calibri"/>
              </a:rPr>
              <a:t>✦ Memoria Etnobotánica del Norte
</a:t>
            </a:r>
            <a:r>
              <a:rPr sz="1150">
                <a:solidFill>
                  <a:srgbClr val="1E293B"/>
                </a:solidFill>
                <a:latin typeface="Calibri"/>
              </a:rPr>
              <a:t>Estelí y la región de Las Segovias conservan una arraigada tradición de uso de plantas medicinales, sobandería y medicina popular transmitida intergeneracionalmente.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  <a:latin typeface="Calibri"/>
              </a:rPr>
              <a:t>✦ Red Comunitaria de Facilitadores
</a:t>
            </a:r>
            <a:r>
              <a:rPr sz="1150">
                <a:solidFill>
                  <a:srgbClr val="1E293B"/>
                </a:solidFill>
                <a:latin typeface="Calibri"/>
              </a:rPr>
              <a:t>Sobadores, naturópatas y curanderos tradicionales constituyen el primer escalón asistencial para dolencias músculo-esqueléticas y malestares emocionales (nervios, aflicción).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  <a:latin typeface="Calibri"/>
              </a:rPr>
              <a:t>✦ Barreras de Articulación Sanitaria
</a:t>
            </a:r>
            <a:r>
              <a:rPr sz="1150">
                <a:solidFill>
                  <a:srgbClr val="1E293B"/>
                </a:solidFill>
                <a:latin typeface="Calibri"/>
              </a:rPr>
              <a:t>Persiste una desarticulación burocrática y asistencial entre los terapeutas comunitarios y los centros de salud formales, generando estigma y derivaciones tardías.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12700" cy="42976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Cambria"/>
              </a:defRPr>
            </a:pPr>
            <a:r>
              <a:t>UNAN-Managua CUR-Estelí: Clínica y Formación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D97706"/>
                </a:solidFill>
                <a:latin typeface="Calibri"/>
              </a:rPr>
              <a:t>✦ Recinto Leonel Rugama Rugama
</a:t>
            </a:r>
            <a:r>
              <a:rPr sz="1150">
                <a:solidFill>
                  <a:srgbClr val="1E293B"/>
                </a:solidFill>
                <a:latin typeface="Calibri"/>
              </a:rPr>
              <a:t>Sede de formación universitaria de la Carrera de Psicología, formando profesionales orientados al desarrollo psicosocial y comunitario del norte del país.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D97706"/>
                </a:solidFill>
                <a:latin typeface="Calibri"/>
              </a:rPr>
              <a:t>✦ Clínica Psicosocial del CUR-Estelí
</a:t>
            </a:r>
            <a:r>
              <a:rPr sz="1150">
                <a:solidFill>
                  <a:srgbClr val="1E293B"/>
                </a:solidFill>
                <a:latin typeface="Calibri"/>
              </a:rPr>
              <a:t>Espacio asistencial y docente donde los estudiantes de 4.º y 5.º año brindan atención supervisada a usuarios con problemas de salud mental y estrés adaptativo.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D97706"/>
                </a:solidFill>
                <a:latin typeface="Calibri"/>
              </a:rPr>
              <a:t>✦ Oportunidad de Liderazgo Institucional
</a:t>
            </a:r>
            <a:r>
              <a:rPr sz="1150">
                <a:solidFill>
                  <a:srgbClr val="1E293B"/>
                </a:solidFill>
                <a:latin typeface="Calibri"/>
              </a:rPr>
              <a:t>La investigación ofrece al CUR-Estelí la oportunidad pionera de implementar el primer protocolo universitario formal de abordaje ético de las MTCI en psicología.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 • PROPÓSITO INVESTIGATIVO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Objetivos de la Investigación: Del Diagnóstico a la Propuesta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5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6070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D97706"/>
                </a:solidFill>
                <a:latin typeface="Calibri"/>
              </a:defRPr>
            </a:pPr>
            <a:r>
              <a:t>OBJETIVO GENERAL</a:t>
            </a:r>
          </a:p>
          <a:p>
            <a:pPr>
              <a:defRPr b="1" sz="1550">
                <a:solidFill>
                  <a:srgbClr val="0F172A"/>
                </a:solidFill>
                <a:latin typeface="Cambria"/>
              </a:defRPr>
            </a:pPr>
            <a:r>
              <a:t>Analizar la integración de la Medicina Tradicional, Complementaria e Integrativa (MTCI) como recurso complementario en la atención psicológica, a partir de las percepciones, conocimientos y prácticas de estudiantes, docentes y facilitadores locales, formulando un manual de estrategias bioéticas y formativas en el CUR-Estelí.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10607040" cy="127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3600">
                <a:solidFill>
                  <a:srgbClr val="0D9488"/>
                </a:solidFill>
                <a:latin typeface="Cambria"/>
              </a:defRPr>
            </a:pPr>
            <a:r>
              <a:t>01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OE1 • DIAGNÓSTICO ESTUDIANTIL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Caracterizar la percepción, nivel de conocimiento, frecuencia de uso y barreras autopercibidas en los estudiantes de 4.º y 5.º año de la Carrera de Psicología respecto a las MTCI.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324612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3600">
                <a:solidFill>
                  <a:srgbClr val="2563EB"/>
                </a:solidFill>
                <a:latin typeface="Cambria"/>
              </a:defRPr>
            </a:pPr>
            <a:r>
              <a:t>02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OE2 • SABERES DE FACILITADORES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Explorar las experiencias terapéuticas, prácticas tradicionales y barreras socioculturales que enfrentan los facilitadores locales de medicina tradicional en el municipio de Estelí.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246120"/>
            <a:ext cx="3291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3600">
                <a:solidFill>
                  <a:srgbClr val="D97706"/>
                </a:solidFill>
                <a:latin typeface="Cambria"/>
              </a:defRPr>
            </a:pPr>
            <a:r>
              <a:t>03</a:t>
            </a:r>
          </a:p>
          <a:p>
            <a:pPr>
              <a:spcAft>
                <a:spcPts val="8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OE3 • PROPUESTA DEL MANUAL</a:t>
            </a:r>
          </a:p>
          <a:p>
            <a:pPr>
              <a:defRPr sz="1150">
                <a:solidFill>
                  <a:srgbClr val="1E293B"/>
                </a:solidFill>
                <a:latin typeface="Calibri"/>
              </a:defRPr>
            </a:pPr>
            <a:r>
              <a:t>Diseñar un Manual de Estrategias de MTCI para la formación y práctica psicológica, articulando pautas bioéticas, algoritmos de derivación y contenidos curriculares para el CUR-Estelí.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II • FUNDAMENTOS TEÓRICOS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Epistemología Médica, Pluralismo Asistencial y Principios Bioéticos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6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337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01 • Modelo Biopsicosocial Ampliado</a:t>
            </a:r>
          </a:p>
          <a:p>
            <a:pPr>
              <a:spcAft>
                <a:spcPts val="1200"/>
              </a:spcAft>
              <a:defRPr sz="1000" b="1">
                <a:solidFill>
                  <a:srgbClr val="0D9488"/>
                </a:solidFill>
                <a:latin typeface="Calibri"/>
              </a:defRPr>
            </a:pPr>
            <a:r>
              <a:t>Engel (1977); Babic et al. (2024)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Superación del reduccionismo mecanicista biomédico.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Reconocimiento de la mente, cuerpo y entorno cultural como unidad dinámica indisoluble.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Regulación somato-autonómica (teoría polivagal y eje cerebro-intestino) como base del autocuidado.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691640"/>
            <a:ext cx="3337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02 • Pluralismo Médico y Coexistencia</a:t>
            </a:r>
          </a:p>
          <a:p>
            <a:pPr>
              <a:spcAft>
                <a:spcPts val="1200"/>
              </a:spcAft>
              <a:defRPr sz="1000" b="1">
                <a:solidFill>
                  <a:srgbClr val="0D9488"/>
                </a:solidFill>
                <a:latin typeface="Calibri"/>
              </a:defRPr>
            </a:pPr>
            <a:r>
              <a:t>Menéndez (2020); OMS (2025)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Coexistencia de saberes: Modelo Médico Hegemónico vs Prácticas Tradicionales y de Autoatención.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Desjerarquización de saberes sin pérdida del juicio científico riguroso.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Erradicación del ocultamiento terapéutico mediante la escucha clínica desprejuiciada.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337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03 • Bioética y Delimitación Profesional</a:t>
            </a:r>
          </a:p>
          <a:p>
            <a:pPr>
              <a:spcAft>
                <a:spcPts val="1200"/>
              </a:spcAft>
              <a:defRPr sz="1000" b="1">
                <a:solidFill>
                  <a:srgbClr val="0D9488"/>
                </a:solidFill>
                <a:latin typeface="Calibri"/>
              </a:defRPr>
            </a:pPr>
            <a:r>
              <a:t>Beauchamp &amp; Childress (2019); Ley 292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Principio de No Maleficencia: prevención de interacciones adversas por fitoterapia o suplementos.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Principio de Autonomía: respeto irrestricto a los valores y decisiones culturales del consultante.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 Límites de Rol: el psicólogo NO prescribe ni sustituye la medicina; dialoga y deriva éticamente.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II • FUNDAMENTOS TEÓRICOS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Marco Jurídico Nicaragüense y Evidencia de Eficacia Clínica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Cambria"/>
              </a:defRPr>
            </a:pPr>
            <a:r>
              <a:t>Marco Normativo Nacional (Nicaragua)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  <a:latin typeface="Calibri"/>
              </a:rPr>
              <a:t>⚖ Ley No. 774 (2012) — </a:t>
            </a:r>
            <a:r>
              <a:rPr b="1" sz="1100">
                <a:solidFill>
                  <a:srgbClr val="0F172A"/>
                </a:solidFill>
                <a:latin typeface="Calibri"/>
              </a:rPr>
              <a:t>Medicina Natural, Terapias Complementarias y Productos Naturales
</a:t>
            </a:r>
            <a:r>
              <a:rPr sz="1100">
                <a:solidFill>
                  <a:srgbClr val="1E293B"/>
                </a:solidFill>
                <a:latin typeface="Calibri"/>
              </a:rPr>
              <a:t>Reconoce el derecho a la MTCI en el sistema de salud, promoviendo su articulación respetuosa.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  <a:latin typeface="Calibri"/>
              </a:rPr>
              <a:t>⚖ Ley No. 292 (1998) — </a:t>
            </a:r>
            <a:r>
              <a:rPr b="1" sz="1100">
                <a:solidFill>
                  <a:srgbClr val="0F172A"/>
                </a:solidFill>
                <a:latin typeface="Calibri"/>
              </a:rPr>
              <a:t>Ley de Medicamentos y Farmacias de Nicaragua
</a:t>
            </a:r>
            <a:r>
              <a:rPr sz="1100">
                <a:solidFill>
                  <a:srgbClr val="1E293B"/>
                </a:solidFill>
                <a:latin typeface="Calibri"/>
              </a:rPr>
              <a:t>Límite legal taxativo: prohíbe formular o despachar psicofármacos o sustancias a quienes no posean título de médico.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D9488"/>
                </a:solidFill>
                <a:latin typeface="Calibri"/>
              </a:rPr>
              <a:t>⚖ Ley No. 759 (2011) — </a:t>
            </a:r>
            <a:r>
              <a:rPr b="1" sz="1100">
                <a:solidFill>
                  <a:srgbClr val="0F172A"/>
                </a:solidFill>
                <a:latin typeface="Calibri"/>
              </a:rPr>
              <a:t>Medicina Tradicional Ancestral
</a:t>
            </a:r>
            <a:r>
              <a:rPr sz="1100">
                <a:solidFill>
                  <a:srgbClr val="1E293B"/>
                </a:solidFill>
                <a:latin typeface="Calibri"/>
              </a:rPr>
              <a:t>Protege los saberes ancestrales y la propiedad intelectual de pueblos originarios y afrodescendientes.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12700" cy="42976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Cambria"/>
              </a:defRPr>
            </a:pPr>
            <a:r>
              <a:t>Evidencia Clínica y Eficacia Empírica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563EB"/>
                </a:solidFill>
                <a:latin typeface="Calibri"/>
              </a:rPr>
              <a:t>✦ Fitoterapia con Respaldo Científico
</a:t>
            </a:r>
            <a:r>
              <a:rPr sz="1100">
                <a:solidFill>
                  <a:srgbClr val="1E293B"/>
                </a:solidFill>
                <a:latin typeface="Calibri"/>
              </a:rPr>
              <a:t>Manzanilla (Matricaria chamomilla) y Pasiflora con efecto gabaérgico comprobado en ansiedad leve a moderada.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563EB"/>
                </a:solidFill>
                <a:latin typeface="Calibri"/>
              </a:rPr>
              <a:t>✦ Técnicas Mente-Cuerpo y Regulación Vagal
</a:t>
            </a:r>
            <a:r>
              <a:rPr sz="1100">
                <a:solidFill>
                  <a:srgbClr val="1E293B"/>
                </a:solidFill>
                <a:latin typeface="Calibri"/>
              </a:rPr>
              <a:t>Respiración diafragmática, mindfulness y yoga inducen activación parasimpática y reducción de cortisol.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563EB"/>
                </a:solidFill>
                <a:latin typeface="Calibri"/>
              </a:rPr>
              <a:t>✦ Terapias Manuales y Alivio Psicosomático
</a:t>
            </a:r>
            <a:r>
              <a:rPr sz="1100">
                <a:solidFill>
                  <a:srgbClr val="1E293B"/>
                </a:solidFill>
                <a:latin typeface="Calibri"/>
              </a:rPr>
              <a:t>Masoterapia y reflexología desarticulan corazas musculares y contracturas por estrés sostenido.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III • DISEÑO METODOLÓGICO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Paradigma Pragmático, Enfoque Mixto Secuencial y Fases del Estudio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8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468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D9488"/>
                </a:solidFill>
                <a:latin typeface="Calibri"/>
              </a:defRPr>
            </a:pPr>
            <a:r>
              <a:t>PARADIGMA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Pragmático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Articula métodos cuantitativos y cualitativos según su utilidad empírica y propositiva para resolver problemas reales.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645920"/>
            <a:ext cx="2468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D9488"/>
                </a:solidFill>
                <a:latin typeface="Calibri"/>
              </a:defRPr>
            </a:pPr>
            <a:r>
              <a:t>ENFOQUE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Mixto Secuencial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Diseño DEXPLIS (Derivativo): recolección cuantitativa inicial seguida de exploración cualitativa en profundidad.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2468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D9488"/>
                </a:solidFill>
                <a:latin typeface="Calibri"/>
              </a:defRPr>
            </a:pPr>
            <a:r>
              <a:t>ALCANCE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Descriptivo-Transversal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Mide el estado actual de conocimientos, actitudes y prácticas en un momento temporal definido (2026).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45920"/>
            <a:ext cx="2468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950">
                <a:solidFill>
                  <a:srgbClr val="0D9488"/>
                </a:solidFill>
                <a:latin typeface="Calibri"/>
              </a:defRPr>
            </a:pPr>
            <a:r>
              <a:t>TÉCNICAS</a:t>
            </a:r>
          </a:p>
          <a:p>
            <a:pPr>
              <a:spcAft>
                <a:spcPts val="6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Multi-Instrumento</a:t>
            </a:r>
          </a:p>
          <a:p>
            <a:pPr>
              <a:defRPr sz="1050">
                <a:solidFill>
                  <a:srgbClr val="1E293B"/>
                </a:solidFill>
                <a:latin typeface="Calibri"/>
              </a:defRPr>
            </a:pPr>
            <a:r>
              <a:t>Encuesta estructurada (Likert), entrevistas semiestructuradas a profundidad y grupos focales.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931920"/>
            <a:ext cx="10607040" cy="127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106070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F172A"/>
                </a:solidFill>
                <a:latin typeface="Cambria"/>
              </a:defRPr>
            </a:pPr>
            <a:r>
              <a:t>Fases Metodológicas de la Investigación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D97706"/>
                </a:solidFill>
                <a:latin typeface="Calibri"/>
              </a:rPr>
              <a:t>▶ Fase 1 (Cuantitativa) • Censo y Encuesta: </a:t>
            </a:r>
            <a:r>
              <a:rPr sz="1100">
                <a:solidFill>
                  <a:srgbClr val="1E293B"/>
                </a:solidFill>
                <a:latin typeface="Calibri"/>
              </a:rPr>
              <a:t>Aplicación de cuestionario estandarizado a n=68 estudiantes de 4.º y 5.º año de Psicología.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D97706"/>
                </a:solidFill>
                <a:latin typeface="Calibri"/>
              </a:rPr>
              <a:t>▶ Fase 2 (Cualitativa) • Entrevistas en Profundidad: </a:t>
            </a:r>
            <a:r>
              <a:rPr sz="1100">
                <a:solidFill>
                  <a:srgbClr val="1E293B"/>
                </a:solidFill>
                <a:latin typeface="Calibri"/>
              </a:rPr>
              <a:t>Inmersión territorial con n=9 facilitadores locales y entrevistas focales a n=9 docentes del CUR-Estelí.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D97706"/>
                </a:solidFill>
                <a:latin typeface="Calibri"/>
              </a:rPr>
              <a:t>▶ Fase 3 (Propositiva) • Construcción del Manual: </a:t>
            </a:r>
            <a:r>
              <a:rPr sz="1100">
                <a:solidFill>
                  <a:srgbClr val="1E293B"/>
                </a:solidFill>
                <a:latin typeface="Calibri"/>
              </a:rPr>
              <a:t>Triangulación de hallazgos empíricos y formulación modular del Manual de Estrategias MTCI (Anexo 16.2).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III • DISEÑO METODOLÓGICO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Delimitación Muestral Consolidada (N = 86) y Criterios de Selección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9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3337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3600">
                <a:solidFill>
                  <a:srgbClr val="0D9488"/>
                </a:solidFill>
                <a:latin typeface="Cambria"/>
              </a:defRPr>
            </a:pPr>
            <a:r>
              <a:t>n = 68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ESTUDIANTES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Muestra Censal: </a:t>
            </a:r>
            <a:r>
              <a:rPr sz="1100">
                <a:solidFill>
                  <a:srgbClr val="1E293B"/>
                </a:solidFill>
                <a:latin typeface="Calibri"/>
              </a:rPr>
              <a:t>Totalidad de estudiantes activos en 4.º año (n=53, 77.9%) y 5.º año (n=15, 22.1%).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Criterio Inclusión: </a:t>
            </a:r>
            <a:r>
              <a:rPr sz="1100">
                <a:solidFill>
                  <a:srgbClr val="1E293B"/>
                </a:solidFill>
                <a:latin typeface="Calibri"/>
              </a:rPr>
              <a:t>Matrícula activa en el II Semestre 2026; cursando o habiendo cursado prácticas clínicas.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Criterio Exclusión: </a:t>
            </a:r>
            <a:r>
              <a:rPr sz="1100">
                <a:solidFill>
                  <a:srgbClr val="1E293B"/>
                </a:solidFill>
                <a:latin typeface="Calibri"/>
              </a:rPr>
              <a:t>Estudiantes de 1.º a 3.er año o con baja académica temporal.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1691640"/>
            <a:ext cx="3337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3600">
                <a:solidFill>
                  <a:srgbClr val="D97706"/>
                </a:solidFill>
                <a:latin typeface="Cambria"/>
              </a:defRPr>
            </a:pPr>
            <a:r>
              <a:t>n = 9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FACILITADORES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Muestreo Intencional: </a:t>
            </a:r>
            <a:r>
              <a:rPr sz="1100">
                <a:solidFill>
                  <a:srgbClr val="1E293B"/>
                </a:solidFill>
                <a:latin typeface="Calibri"/>
              </a:rPr>
              <a:t>Diversidad de saberes: sobadores, naturópatas, terapeutas florales y curanderos de Estelí.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Criterio Inclusión: </a:t>
            </a:r>
            <a:r>
              <a:rPr sz="1100">
                <a:solidFill>
                  <a:srgbClr val="1E293B"/>
                </a:solidFill>
                <a:latin typeface="Calibri"/>
              </a:rPr>
              <a:t>Práctica activa continua mayor a 5 años en el casco urbano o rural de Estelí.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Criterio Exclusión: </a:t>
            </a:r>
            <a:r>
              <a:rPr sz="1100">
                <a:solidFill>
                  <a:srgbClr val="1E293B"/>
                </a:solidFill>
                <a:latin typeface="Calibri"/>
              </a:rPr>
              <a:t>Comercializadores ambulantes sin arraigo comunitario reconocido.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1691640"/>
            <a:ext cx="33375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b="1" sz="3600">
                <a:solidFill>
                  <a:srgbClr val="2563EB"/>
                </a:solidFill>
                <a:latin typeface="Cambria"/>
              </a:defRPr>
            </a:pPr>
            <a:r>
              <a:t>n = 9</a:t>
            </a:r>
          </a:p>
          <a:p>
            <a:pPr>
              <a:spcAft>
                <a:spcPts val="1200"/>
              </a:spcAft>
              <a:defRPr b="1" sz="1300">
                <a:solidFill>
                  <a:srgbClr val="0F172A"/>
                </a:solidFill>
                <a:latin typeface="Calibri"/>
              </a:defRPr>
            </a:pPr>
            <a:r>
              <a:t>DOCENTES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Claustro de Psicología: </a:t>
            </a:r>
            <a:r>
              <a:rPr sz="1100">
                <a:solidFill>
                  <a:srgbClr val="1E293B"/>
                </a:solidFill>
                <a:latin typeface="Calibri"/>
              </a:rPr>
              <a:t>Docentes con grado de Licenciatura o Maestría que imparten asignaturas clínicas y metodológicas.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Criterio Inclusión: </a:t>
            </a:r>
            <a:r>
              <a:rPr sz="1100">
                <a:solidFill>
                  <a:srgbClr val="1E293B"/>
                </a:solidFill>
                <a:latin typeface="Calibri"/>
              </a:rPr>
              <a:t>Experiencia docente en la UNAN-Managua CUR-Estelí y supervisión de prácticas.</a:t>
            </a:r>
          </a:p>
          <a:p>
            <a:pPr>
              <a:spcAft>
                <a:spcPts val="1000"/>
              </a:spcAft>
            </a:pPr>
            <a:r>
              <a:rPr b="1" sz="1150">
                <a:solidFill>
                  <a:srgbClr val="0F172A"/>
                </a:solidFill>
                <a:latin typeface="Calibri"/>
              </a:rPr>
              <a:t>• Criterio Exclusión: </a:t>
            </a:r>
            <a:r>
              <a:rPr sz="1100">
                <a:solidFill>
                  <a:srgbClr val="1E293B"/>
                </a:solidFill>
                <a:latin typeface="Calibri"/>
              </a:rPr>
              <a:t>Docentes de otras carreras no vinculadas al área de salud y humanidades.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IV • RESULTADOS EMPÍRICOS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Perfil Sociodemográfico y Formativo del Estudiantado (n = 68)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10 / 16</a:t>
            </a:r>
          </a:p>
        </p:txBody>
      </p:sp>
      <p:pic>
        <p:nvPicPr>
          <p:cNvPr id="7" name="Picture 6" descr="figura_03_demografia_estudi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10607040" cy="36967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30352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100">
                <a:solidFill>
                  <a:srgbClr val="0D9488"/>
                </a:solidFill>
                <a:latin typeface="Calibri"/>
              </a:defRPr>
            </a:pPr>
            <a:r>
              <a:t>Interpretación Sociodemográfica y Relevancia Clínica: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Predominio femenino significativo (82.4%, n = 56) y concentración etaria entre 21 y 25 años (67.6%, n = 46). El 77.9% cursa 4.º año enfrentando el inicio de la atención en la Clínica Psicosocial. El perfil refleja una cohorte receptiva a enfoques integrativos, pero altamente vulnerable al estrés somático por la sobrecarga lectiva y práctica.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IV • RESULTADOS EMPÍRICOS (2/4)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La Paradoja Formativa: Alta Pertinencia frente al Desamparo Curricular (OE1)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38912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3800">
                <a:solidFill>
                  <a:srgbClr val="0D9488"/>
                </a:solidFill>
                <a:latin typeface="Cambria"/>
              </a:defRPr>
            </a:pPr>
            <a:r>
              <a:t>89.7%</a:t>
            </a:r>
          </a:p>
          <a:p>
            <a:pPr>
              <a:defRPr b="1" sz="1200">
                <a:solidFill>
                  <a:srgbClr val="0F172A"/>
                </a:solidFill>
                <a:latin typeface="Calibri"/>
              </a:defRPr>
            </a:pPr>
            <a:r>
              <a:t>Pertinencia Asistencial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Considera necesario y urgente articular la MTCI en el ejercicio de la psicología clínica.</a:t>
            </a:r>
          </a:p>
          <a:p>
            <a:pPr>
              <a:defRPr b="1" sz="3800">
                <a:solidFill>
                  <a:srgbClr val="DC2626"/>
                </a:solidFill>
                <a:latin typeface="Cambria"/>
              </a:defRPr>
            </a:pPr>
            <a:r>
              <a:t>88.2%</a:t>
            </a:r>
          </a:p>
          <a:p>
            <a:pPr>
              <a:defRPr b="1" sz="1200">
                <a:solidFill>
                  <a:srgbClr val="0F172A"/>
                </a:solidFill>
                <a:latin typeface="Calibri"/>
              </a:defRPr>
            </a:pPr>
            <a:r>
              <a:t>Desamparo Curricular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Reconoce no haber recibido preparación formal alguna para orientar o derivar en MTCI.</a:t>
            </a:r>
          </a:p>
          <a:p>
            <a:pPr>
              <a:defRPr b="1" sz="3800">
                <a:solidFill>
                  <a:srgbClr val="D97706"/>
                </a:solidFill>
                <a:latin typeface="Cambria"/>
              </a:defRPr>
            </a:pPr>
            <a:r>
              <a:t>86.8%</a:t>
            </a:r>
          </a:p>
          <a:p>
            <a:pPr>
              <a:defRPr b="1" sz="1200">
                <a:solidFill>
                  <a:srgbClr val="0F172A"/>
                </a:solidFill>
                <a:latin typeface="Calibri"/>
              </a:defRPr>
            </a:pPr>
            <a:r>
              <a:t>Inseguridad Psicoeducativa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  <a:latin typeface="Calibri"/>
              </a:defRPr>
            </a:pPr>
            <a:r>
              <a:t>Autopercibe competencias nulas o insuficientes para dialogar sobre remedios tradicionales.</a:t>
            </a:r>
          </a:p>
        </p:txBody>
      </p:sp>
      <p:pic>
        <p:nvPicPr>
          <p:cNvPr id="8" name="Picture 7" descr="figura_07_frecuencia_uso_estudian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600200"/>
            <a:ext cx="5852160" cy="23670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0" y="4983480"/>
            <a:ext cx="5852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Uso Personal y Eficacia Somática Percibida: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• Carácter Reactivo: 52.9% no usa MTCI preventivamente; recurren únicamente ante crisis o sobrecarga.</a:t>
            </a:r>
            <a:br/>
            <a:r>
              <a:t>• Eficacia Plena: 86.7% de usuarios reales reporta alivio muscular y bienestar; 0.0% efectos adversos.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IV • RESULTADOS EMPÍRICOS (3/4)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Perspectiva de Facilitadores Locales de Estelí y Claustro Docente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12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4000">
                <a:solidFill>
                  <a:srgbClr val="0D9488"/>
                </a:solidFill>
                <a:latin typeface="Cambria"/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b="1" sz="1200">
                <a:solidFill>
                  <a:srgbClr val="0F172A"/>
                </a:solidFill>
                <a:latin typeface="Calibri"/>
              </a:defRPr>
            </a:pPr>
            <a:r>
              <a:t>FACILITADORES LOCALES DE ESTELÍ (n = 9)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D9488"/>
                </a:solidFill>
                <a:latin typeface="Calibri"/>
              </a:rPr>
              <a:t>✦ Alivio Somático Directo: </a:t>
            </a:r>
            <a:r>
              <a:rPr sz="1100">
                <a:solidFill>
                  <a:srgbClr val="1E293B"/>
                </a:solidFill>
                <a:latin typeface="Calibri"/>
              </a:rPr>
              <a:t>Constatan descompresión miofascial inmediata y mayor apertura afectiva del consultante para el diálogo psicológico posterior.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D9488"/>
                </a:solidFill>
                <a:latin typeface="Calibri"/>
              </a:rPr>
              <a:t>✦ Memoria Viva en Estelí: </a:t>
            </a:r>
            <a:r>
              <a:rPr sz="1100">
                <a:solidFill>
                  <a:srgbClr val="1E293B"/>
                </a:solidFill>
                <a:latin typeface="Calibri"/>
              </a:rPr>
              <a:t>77.8% mujeres; 44.4% acumula entre 20 y 30 años de experiencia comunitaria continuada.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D9488"/>
                </a:solidFill>
                <a:latin typeface="Calibri"/>
              </a:rPr>
              <a:t>✦ Estigma Sociocultural: </a:t>
            </a:r>
            <a:r>
              <a:rPr sz="1100">
                <a:solidFill>
                  <a:srgbClr val="1E293B"/>
                </a:solidFill>
                <a:latin typeface="Calibri"/>
              </a:rPr>
              <a:t>El 100% enfrenta prejuicios religiosos y mitos urbanos respecto a las terapias naturales.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D9488"/>
                </a:solidFill>
                <a:latin typeface="Calibri"/>
              </a:rPr>
              <a:t>✦ Desafío Económico: </a:t>
            </a:r>
            <a:r>
              <a:rPr sz="1100">
                <a:solidFill>
                  <a:srgbClr val="1E293B"/>
                </a:solidFill>
                <a:latin typeface="Calibri"/>
              </a:rPr>
              <a:t>77.8% reporta que la falta de recursos de los usuarios vulnerables interrumpe la continuidad del cuidado.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737360"/>
            <a:ext cx="12700" cy="42976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45920"/>
            <a:ext cx="51206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b="1" sz="4000">
                <a:solidFill>
                  <a:srgbClr val="2563EB"/>
                </a:solidFill>
                <a:latin typeface="Cambria"/>
              </a:defRPr>
            </a:pPr>
            <a:r>
              <a:t>100%</a:t>
            </a:r>
          </a:p>
          <a:p>
            <a:pPr>
              <a:spcAft>
                <a:spcPts val="1200"/>
              </a:spcAft>
              <a:defRPr b="1" sz="1200">
                <a:solidFill>
                  <a:srgbClr val="0F172A"/>
                </a:solidFill>
                <a:latin typeface="Calibri"/>
              </a:defRPr>
            </a:pPr>
            <a:r>
              <a:t>CLAUSTRO DOCENTE-PSICÓLOGOS (n = 9)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  <a:latin typeface="Calibri"/>
              </a:rPr>
              <a:t>✦ Respaldo Curricular Pleno: </a:t>
            </a:r>
            <a:r>
              <a:rPr sz="1100">
                <a:solidFill>
                  <a:srgbClr val="1E293B"/>
                </a:solidFill>
                <a:latin typeface="Calibri"/>
              </a:rPr>
              <a:t>Apoyo unánime a la incorporación transversal de las MTCI bajo un enfoque crítico y científico.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  <a:latin typeface="Calibri"/>
              </a:rPr>
              <a:t>✦ Metodologías Activas (88.9%): </a:t>
            </a:r>
            <a:r>
              <a:rPr sz="1100">
                <a:solidFill>
                  <a:srgbClr val="1E293B"/>
                </a:solidFill>
                <a:latin typeface="Calibri"/>
              </a:rPr>
              <a:t>Rechazan la enseñanza memorística; priorizan talleres vivenciales y análisis de casos clínicos.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  <a:latin typeface="Calibri"/>
              </a:rPr>
              <a:t>✦ Competencias Clave: </a:t>
            </a:r>
            <a:r>
              <a:rPr sz="1100">
                <a:solidFill>
                  <a:srgbClr val="1E293B"/>
                </a:solidFill>
                <a:latin typeface="Calibri"/>
              </a:rPr>
              <a:t>Demandan formar en juicio clínico ético, consentimiento informado y límites profesionales de no prescripción.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2563EB"/>
                </a:solidFill>
                <a:latin typeface="Calibri"/>
              </a:rPr>
              <a:t>✦ Capacitación Propia Urgente: </a:t>
            </a:r>
            <a:r>
              <a:rPr sz="1100">
                <a:solidFill>
                  <a:srgbClr val="1E293B"/>
                </a:solidFill>
                <a:latin typeface="Calibri"/>
              </a:rPr>
              <a:t>El profesorado solicita formación continua en neurobiología somática y regulación Bottom-Up.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V • PROPUESTA OPERATIVA (OE3)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Manual de Estrategias de MTCI para la Formación y Práctica Psicológica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13 / 16</a:t>
            </a:r>
          </a:p>
        </p:txBody>
      </p:sp>
      <p:pic>
        <p:nvPicPr>
          <p:cNvPr id="7" name="Picture 6" descr="portada_manu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3474720" cy="24561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3931920"/>
            <a:ext cx="34747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b="1" sz="1050">
                <a:solidFill>
                  <a:srgbClr val="0D9488"/>
                </a:solidFill>
                <a:latin typeface="Calibri"/>
              </a:defRPr>
            </a:pPr>
            <a:r>
              <a:t>FICHA TÉCNICA DEL PRODUCTO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Extensión: 18 páginas in extenso (Anexo 16.2).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Destinatarios: Alumnos y docentes de Clínica Psicosocial.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Propósito: Dotar de discernimiento ético para explorar y derivar, sin habilitar como terapeutas alternativos.</a:t>
            </a:r>
          </a:p>
          <a:p>
            <a:pPr>
              <a:spcAft>
                <a:spcPts val="300"/>
              </a:spcAft>
              <a:defRPr sz="1050">
                <a:solidFill>
                  <a:srgbClr val="1E293B"/>
                </a:solidFill>
                <a:latin typeface="Calibri"/>
              </a:defRPr>
            </a:pPr>
            <a:r>
              <a:t>• Instrumento: Adaptación del cuestionario I-CAM-Q para tamizaje transcultural.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1737360"/>
            <a:ext cx="12700" cy="429768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Cambria"/>
              </a:defRPr>
            </a:pPr>
            <a:r>
              <a:t>Estructura Modular del Manual (8 Módulos Temáticos)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1 • Fundamentos y Marco Legal: </a:t>
            </a:r>
            <a:r>
              <a:rPr sz="1050">
                <a:solidFill>
                  <a:srgbClr val="1E293B"/>
                </a:solidFill>
                <a:latin typeface="Calibri"/>
              </a:rPr>
              <a:t>Definición OMS (2025) y articulación de Leyes 774, 759 y 292 de Nicaragua.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2 • Principios Deontológicos: </a:t>
            </a:r>
            <a:r>
              <a:rPr sz="1050">
                <a:solidFill>
                  <a:srgbClr val="1E293B"/>
                </a:solidFill>
                <a:latin typeface="Calibri"/>
              </a:rPr>
              <a:t>Consentimiento informado intercultural y complementariedad sin sustitución.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3 • Mapa Clínico de Prácticas: </a:t>
            </a:r>
            <a:r>
              <a:rPr sz="1050">
                <a:solidFill>
                  <a:srgbClr val="1E293B"/>
                </a:solidFill>
                <a:latin typeface="Calibri"/>
              </a:rPr>
              <a:t>Clasificación en 4 niveles: uso directo, psicoeducación, precaución y alerta médica.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4 • Algoritmo de Derivación: </a:t>
            </a:r>
            <a:r>
              <a:rPr sz="1050">
                <a:solidFill>
                  <a:srgbClr val="1E293B"/>
                </a:solidFill>
                <a:latin typeface="Calibri"/>
              </a:rPr>
              <a:t>Protocolo secuencial de 4 pasos para derivación clínica informada.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5 • Habilidades de Diálogo: </a:t>
            </a:r>
            <a:r>
              <a:rPr sz="1050">
                <a:solidFill>
                  <a:srgbClr val="1E293B"/>
                </a:solidFill>
                <a:latin typeface="Calibri"/>
              </a:rPr>
              <a:t>Técnicas de entrevista abierta para erradicar el ocultamiento terapéutico.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6 • Red Intersectorial: </a:t>
            </a:r>
            <a:r>
              <a:rPr sz="1050">
                <a:solidFill>
                  <a:srgbClr val="1E293B"/>
                </a:solidFill>
                <a:latin typeface="Calibri"/>
              </a:rPr>
              <a:t>Criterios de referencia bidireccional y trabajo colaborativo con facilitadores.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7 • Ruta Pedagógica: </a:t>
            </a:r>
            <a:r>
              <a:rPr sz="1050">
                <a:solidFill>
                  <a:srgbClr val="1E293B"/>
                </a:solidFill>
                <a:latin typeface="Calibri"/>
              </a:rPr>
              <a:t>Secuencia de 3 etapas vivenciales y propuesta de asignatura electiva.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D97706"/>
                </a:solidFill>
                <a:latin typeface="Calibri"/>
              </a:rPr>
              <a:t>Módulo 8 • Soporte CUR-Estelí: </a:t>
            </a:r>
            <a:r>
              <a:rPr sz="1050">
                <a:solidFill>
                  <a:srgbClr val="1E293B"/>
                </a:solidFill>
                <a:latin typeface="Calibri"/>
              </a:rPr>
              <a:t>Creación del Comité de Bioética y plan de capacitación docente continua.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VI • SÍNTESIS CONCLUSIVA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Conclusiones Centrales de la Investigación (Triangulación de Objetivos)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14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01  </a:t>
            </a:r>
            <a:r>
              <a:rPr b="1" sz="1200">
                <a:solidFill>
                  <a:srgbClr val="0F172A"/>
                </a:solidFill>
                <a:latin typeface="Calibri"/>
              </a:rPr>
              <a:t>Cumplimiento del Objetivo General: </a:t>
            </a:r>
            <a:r>
              <a:rPr sz="1150">
                <a:solidFill>
                  <a:srgbClr val="1E293B"/>
                </a:solidFill>
                <a:latin typeface="Calibri"/>
              </a:rPr>
              <a:t>Los tres colectivos investigados (N = 86) validan unánimemente a la MTCI como recurso complementario legítimo en salud mental, condicionado a un ejercicio bioético, científico y respetuoso de los límites profesionales.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02  </a:t>
            </a:r>
            <a:r>
              <a:rPr b="1" sz="1200">
                <a:solidFill>
                  <a:srgbClr val="0F172A"/>
                </a:solidFill>
                <a:latin typeface="Calibri"/>
              </a:rPr>
              <a:t>Perfil y Paradoja Estudiantil (OE1): </a:t>
            </a:r>
            <a:r>
              <a:rPr sz="1150">
                <a:solidFill>
                  <a:srgbClr val="1E293B"/>
                </a:solidFill>
                <a:latin typeface="Calibri"/>
              </a:rPr>
              <a:t>El estudiantado posee buen dominio conceptual básico (67.6%) y alta satisfacción somática subjetiva (86.7%), pero padece desinformación legal (58.8% desconoce Ley 774; 64.7% desconoce Ley 292) e inseguridad para derivar (88.2%).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03  </a:t>
            </a:r>
            <a:r>
              <a:rPr b="1" sz="1200">
                <a:solidFill>
                  <a:srgbClr val="0F172A"/>
                </a:solidFill>
                <a:latin typeface="Calibri"/>
              </a:rPr>
              <a:t>Oferta y Resiliencia Territorial (OE2): </a:t>
            </a:r>
            <a:r>
              <a:rPr sz="1150">
                <a:solidFill>
                  <a:srgbClr val="1E293B"/>
                </a:solidFill>
                <a:latin typeface="Calibri"/>
              </a:rPr>
              <a:t>Los facilitadores de Estelí constatan 100% de alivio de sobrecarga muscular y mayor receptividad reflexiva (88.9%), enfrentando barreras de estigma sociocultural (100%) y limitaciones económicas de los usuarios (77.8%).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04  </a:t>
            </a:r>
            <a:r>
              <a:rPr b="1" sz="1200">
                <a:solidFill>
                  <a:srgbClr val="0F172A"/>
                </a:solidFill>
                <a:latin typeface="Calibri"/>
              </a:rPr>
              <a:t>Consenso Curricular Docente (OE3): </a:t>
            </a:r>
            <a:r>
              <a:rPr sz="1150">
                <a:solidFill>
                  <a:srgbClr val="1E293B"/>
                </a:solidFill>
                <a:latin typeface="Calibri"/>
              </a:rPr>
              <a:t>El 100% del claustro apoya transversalizar la MTCI bajo metodologías activas y vivenciales (88.9%), demandando formación en regulación neurovegetativa y la creación de comités de bioética.</a:t>
            </a:r>
          </a:p>
          <a:p>
            <a:pPr>
              <a:spcAft>
                <a:spcPts val="1100"/>
              </a:spcAft>
            </a:pPr>
            <a:r>
              <a:rPr b="1" sz="1300">
                <a:solidFill>
                  <a:srgbClr val="0D9488"/>
                </a:solidFill>
                <a:latin typeface="Cambria"/>
              </a:rPr>
              <a:t>05  </a:t>
            </a:r>
            <a:r>
              <a:rPr b="1" sz="1200">
                <a:solidFill>
                  <a:srgbClr val="0F172A"/>
                </a:solidFill>
                <a:latin typeface="Calibri"/>
              </a:rPr>
              <a:t>Logro Propositivo del Manual de Estrategias: </a:t>
            </a:r>
            <a:r>
              <a:rPr sz="1150">
                <a:solidFill>
                  <a:srgbClr val="1E293B"/>
                </a:solidFill>
                <a:latin typeface="Calibri"/>
              </a:rPr>
              <a:t>Se construyó exitosamente el Manual de Estrategias MTCI de 18 páginas (Anexo 16.2), dotando al CUR-Estelí de algoritmos de decisión clínica, pautas contra el ocultamiento y el inventario I-CAM-Q.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Calibri"/>
              </a:defRPr>
            </a:pPr>
            <a:r>
              <a:t>CAPÍTULO VI • DIRECTRICES PROSPECTIVAS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713232"/>
            <a:ext cx="98755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Cambria"/>
              </a:defRPr>
            </a:pPr>
            <a:r>
              <a:t>Recomendaciones Estratégicas para Estudiantes, Docentes, Universidad y MINSA</a:t>
            </a:r>
          </a:p>
        </p:txBody>
      </p:sp>
      <p:pic>
        <p:nvPicPr>
          <p:cNvPr id="4" name="Picture 3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411480"/>
            <a:ext cx="533862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6473952"/>
            <a:ext cx="9601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UNAN-Managua • CUR-Estelí | Carrera de Psicología • Segundo Semestre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6400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Calibri"/>
              </a:defRPr>
            </a:pPr>
            <a:r>
              <a:t>15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977639"/>
            <a:ext cx="10607040" cy="1270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0" y="1691640"/>
            <a:ext cx="12700" cy="4480560"/>
          </a:xfrm>
          <a:prstGeom prst="rect">
            <a:avLst/>
          </a:prstGeom>
          <a:noFill/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D9488"/>
                </a:solidFill>
                <a:latin typeface="Calibri"/>
              </a:defRPr>
            </a:pPr>
            <a:r>
              <a:t>PARA EL ESTAMENTO ESTUDIANTIL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Límites Legales: </a:t>
            </a:r>
            <a:r>
              <a:rPr sz="1000">
                <a:solidFill>
                  <a:srgbClr val="1E293B"/>
                </a:solidFill>
                <a:latin typeface="Calibri"/>
              </a:rPr>
              <a:t>Respetar estrictamente las Leyes 774 y 292 (prohibición terminante de prescribir fármacos).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Algoritmo Clínico: </a:t>
            </a:r>
            <a:r>
              <a:rPr sz="1000">
                <a:solidFill>
                  <a:srgbClr val="1E293B"/>
                </a:solidFill>
                <a:latin typeface="Calibri"/>
              </a:rPr>
              <a:t>Aplicar el árbol de decisión del manual en las prácticas de la Clínica Psicosocial.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Diálogo Abierto: </a:t>
            </a:r>
            <a:r>
              <a:rPr sz="1000">
                <a:solidFill>
                  <a:srgbClr val="1E293B"/>
                </a:solidFill>
                <a:latin typeface="Calibri"/>
              </a:rPr>
              <a:t>Explorar empáticamente el uso de MTCI en consulta para erradicar el ocultamiento.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Autocuidado Personal: </a:t>
            </a:r>
            <a:r>
              <a:rPr sz="1000">
                <a:solidFill>
                  <a:srgbClr val="1E293B"/>
                </a:solidFill>
                <a:latin typeface="Calibri"/>
              </a:rPr>
              <a:t>Vivenciar la regulación somática (respiración diafragmática) ante la sobrecarga.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2563EB"/>
                </a:solidFill>
                <a:latin typeface="Calibri"/>
              </a:defRPr>
            </a:pPr>
            <a:r>
              <a:t>PARA EL CLAUSTRO DOCENTE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Transversalidad Curricular: </a:t>
            </a:r>
            <a:r>
              <a:rPr sz="1000">
                <a:solidFill>
                  <a:srgbClr val="1E293B"/>
                </a:solidFill>
                <a:latin typeface="Calibri"/>
              </a:rPr>
              <a:t>Integrar contenidos de MTCI en Psicología Clínica, Comunitaria y Ética.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Pedagogía Vivencial: </a:t>
            </a:r>
            <a:r>
              <a:rPr sz="1000">
                <a:solidFill>
                  <a:srgbClr val="1E293B"/>
                </a:solidFill>
                <a:latin typeface="Calibri"/>
              </a:rPr>
              <a:t>Priorizar análisis de casos clínicos reales y talleres de autorregulación somática.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Capacitación Continua: </a:t>
            </a:r>
            <a:r>
              <a:rPr sz="1000">
                <a:solidFill>
                  <a:srgbClr val="1E293B"/>
                </a:solidFill>
                <a:latin typeface="Calibri"/>
              </a:rPr>
              <a:t>Formarse institucionalmente en neurobiología del estrés y regulación Bottom-Up.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Derivación Ética: </a:t>
            </a:r>
            <a:r>
              <a:rPr sz="1000">
                <a:solidFill>
                  <a:srgbClr val="1E293B"/>
                </a:solidFill>
                <a:latin typeface="Calibri"/>
              </a:rPr>
              <a:t>Instruir en criterios claros de referencia intersectorial hacia facilitadores locales.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1605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D97706"/>
                </a:solidFill>
                <a:latin typeface="Calibri"/>
              </a:defRPr>
            </a:pPr>
            <a:r>
              <a:t>PARA LA GESTIÓN DEL CUR-ESTELÍ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Adopción Oficial: </a:t>
            </a:r>
            <a:r>
              <a:rPr sz="1000">
                <a:solidFill>
                  <a:srgbClr val="1E293B"/>
                </a:solidFill>
                <a:latin typeface="Calibri"/>
              </a:rPr>
              <a:t>Formalizar la aprobación institucional del Manual de Estrategias MTCI (Anexo 16.2).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Comité de Bioética: </a:t>
            </a:r>
            <a:r>
              <a:rPr sz="1000">
                <a:solidFill>
                  <a:srgbClr val="1E293B"/>
                </a:solidFill>
                <a:latin typeface="Calibri"/>
              </a:rPr>
              <a:t>Constituir el Comité de Ética y Delimitación Profesional en el recinto universitario.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Alianza con MINSA: </a:t>
            </a:r>
            <a:r>
              <a:rPr sz="1000">
                <a:solidFill>
                  <a:srgbClr val="1E293B"/>
                </a:solidFill>
                <a:latin typeface="Calibri"/>
              </a:rPr>
              <a:t>Consolidar convenios interinstitucionales para pasantías y ferias de salud comunitaria.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Asignatura Electiva: </a:t>
            </a:r>
            <a:r>
              <a:rPr sz="1000">
                <a:solidFill>
                  <a:srgbClr val="1E293B"/>
                </a:solidFill>
                <a:latin typeface="Calibri"/>
              </a:rPr>
              <a:t>Evaluar a mediano plazo la creación formal del curso electivo 'Psicología Integrativa'.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50292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b="1" sz="1100">
                <a:solidFill>
                  <a:srgbClr val="0F172A"/>
                </a:solidFill>
                <a:latin typeface="Calibri"/>
              </a:defRPr>
            </a:pPr>
            <a:r>
              <a:t>PARA EL SISTEMA DE SALUD Y FACILITADORES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Registro Oficial: </a:t>
            </a:r>
            <a:r>
              <a:rPr sz="1000">
                <a:solidFill>
                  <a:srgbClr val="1E293B"/>
                </a:solidFill>
                <a:latin typeface="Calibri"/>
              </a:rPr>
              <a:t>Difundir mecanismos de acreditación para facilitadores contemplados en la Ley No. 774.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Red de Interconsulta: </a:t>
            </a:r>
            <a:r>
              <a:rPr sz="1000">
                <a:solidFill>
                  <a:srgbClr val="1E293B"/>
                </a:solidFill>
                <a:latin typeface="Calibri"/>
              </a:rPr>
              <a:t>Habilitar canales de referencia bidireccional entre psicólogos y terapeutas locales.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Atención Primaria: </a:t>
            </a:r>
            <a:r>
              <a:rPr sz="1000">
                <a:solidFill>
                  <a:srgbClr val="1E293B"/>
                </a:solidFill>
                <a:latin typeface="Calibri"/>
              </a:rPr>
              <a:t>Fomentar la exploración desestigmatizada de saberes herbolarios en centros de salud.</a:t>
            </a:r>
          </a:p>
          <a:p>
            <a:pPr>
              <a:spcAft>
                <a:spcPts val="200"/>
              </a:spcAft>
            </a:pPr>
            <a:r>
              <a:rPr b="1" sz="1050">
                <a:solidFill>
                  <a:srgbClr val="0F172A"/>
                </a:solidFill>
                <a:latin typeface="Calibri"/>
              </a:rPr>
              <a:t>✓ Principio Bioético: </a:t>
            </a:r>
            <a:r>
              <a:rPr sz="1000">
                <a:solidFill>
                  <a:srgbClr val="1E293B"/>
                </a:solidFill>
                <a:latin typeface="Calibri"/>
              </a:rPr>
              <a:t>Mantener el compromiso de complementariedad sin pretender sustituir tratamientos médicos.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unan_shield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777240"/>
            <a:ext cx="942109" cy="1371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1800" b="1" i="1">
                <a:solidFill>
                  <a:srgbClr val="F59E0B"/>
                </a:solidFill>
                <a:latin typeface="Cambria"/>
              </a:defRPr>
            </a:pPr>
            <a:r>
              <a:t>«¡A la libertad por la Universidad!»</a:t>
            </a:r>
          </a:p>
          <a:p>
            <a:pPr algn="ctr">
              <a:spcAft>
                <a:spcPts val="1000"/>
              </a:spcAft>
              <a:defRPr sz="3600" b="1">
                <a:solidFill>
                  <a:srgbClr val="FFFFFF"/>
                </a:solidFill>
                <a:latin typeface="Cambria"/>
              </a:defRPr>
            </a:pPr>
            <a:r>
              <a:t>Muchas Gracias por su Atención</a:t>
            </a:r>
          </a:p>
          <a:p>
            <a:pPr algn="ctr">
              <a:defRPr sz="1300">
                <a:solidFill>
                  <a:srgbClr val="94A3B8"/>
                </a:solidFill>
                <a:latin typeface="Calibri"/>
              </a:defRPr>
            </a:pPr>
            <a:r>
              <a:t>Espacio Abierto para Preguntas, Comentarios y Defensa Oral ante el Honorable Tribunal Examinador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4663440"/>
            <a:ext cx="9418320" cy="12700"/>
          </a:xfrm>
          <a:prstGeom prst="rect">
            <a:avLst/>
          </a:prstGeom>
          <a:noFill/>
          <a:ln w="952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892040"/>
            <a:ext cx="9418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Sustentantes: Dina Fabiola García Torres • Tatiana Paola López Ramos • Engel Enoc Zamora Velásquez</a:t>
            </a:r>
          </a:p>
          <a:p>
            <a:pPr algn="ctr">
              <a:defRPr sz="1050">
                <a:solidFill>
                  <a:srgbClr val="14B8A6"/>
                </a:solidFill>
                <a:latin typeface="Calibri"/>
              </a:defRPr>
            </a:pPr>
            <a:r>
              <a:t>Tutoría Académica: Dra. Tania Libertad Pérez Guevara | Carrera de Psicología • CUR-Estelí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