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E1A"/>
        </a:solidFill>
        <a:effectLst/>
      </p:bgPr>
    </p:bg>
    <p:spTree>
      <p:nvGrpSpPr>
        <p:cNvPr id="1" name=""/>
        <p:cNvGrpSpPr/>
        <p:nvPr/>
      </p:nvGrpSpPr>
      <p:grpSpPr/>
      <p:pic>
        <p:nvPicPr>
          <p:cNvPr id="2" name="Picture 1" descr="unan_logo_clean.png"/>
          <p:cNvPicPr>
            <a:picLocks noChangeAspect="1"/>
          </p:cNvPicPr>
          <p:nvPr/>
        </p:nvPicPr>
        <p:blipFill>
          <a:blip r:embed="rId2"/>
          <a:stretch>
            <a:fillRect/>
          </a:stretch>
        </p:blipFill>
        <p:spPr>
          <a:xfrm>
            <a:off x="822960" y="685800"/>
            <a:ext cx="1884680" cy="1005840"/>
          </a:xfrm>
          <a:prstGeom prst="rect">
            <a:avLst/>
          </a:prstGeom>
        </p:spPr>
      </p:pic>
      <p:sp>
        <p:nvSpPr>
          <p:cNvPr id="3" name="TextBox 2"/>
          <p:cNvSpPr txBox="1"/>
          <p:nvPr/>
        </p:nvSpPr>
        <p:spPr>
          <a:xfrm>
            <a:off x="2834640" y="749808"/>
            <a:ext cx="8503920" cy="868680"/>
          </a:xfrm>
          <a:prstGeom prst="rect">
            <a:avLst/>
          </a:prstGeom>
          <a:noFill/>
        </p:spPr>
        <p:txBody>
          <a:bodyPr wrap="square" lIns="0" rIns="0" tIns="0" bIns="0">
            <a:spAutoFit/>
          </a:bodyPr>
          <a:lstStyle/>
          <a:p>
            <a:pPr>
              <a:defRPr sz="1350" b="1">
                <a:solidFill>
                  <a:srgbClr val="FFFFFF"/>
                </a:solidFill>
                <a:latin typeface="Calibri"/>
              </a:defRPr>
            </a:pPr>
            <a:r>
              <a:t>UNIVERSIDAD NACIONAL AUTÓNOMA DE NICARAGUA, MANAGUA</a:t>
            </a:r>
          </a:p>
          <a:p>
            <a:pPr>
              <a:defRPr sz="1000" b="1">
                <a:solidFill>
                  <a:srgbClr val="F59E0B"/>
                </a:solidFill>
                <a:latin typeface="Calibri"/>
              </a:defRPr>
            </a:pPr>
            <a:r>
              <a:t>CENTRO UNIVERSITARIO REGIONAL DE ESTELÍ • RECINTO LEONEL RUGAMA RUGAMA</a:t>
            </a:r>
          </a:p>
          <a:p>
            <a:pPr>
              <a:defRPr sz="950">
                <a:solidFill>
                  <a:srgbClr val="94A3B8"/>
                </a:solidFill>
                <a:latin typeface="Calibri"/>
              </a:defRPr>
            </a:pPr>
            <a:r>
              <a:t>Departamento de Educación y Humanidades | Carrera de Licenciatura en Psicología</a:t>
            </a:r>
          </a:p>
        </p:txBody>
      </p:sp>
      <p:sp>
        <p:nvSpPr>
          <p:cNvPr id="4" name="Rectangle 3"/>
          <p:cNvSpPr/>
          <p:nvPr/>
        </p:nvSpPr>
        <p:spPr>
          <a:xfrm>
            <a:off x="822960" y="1965960"/>
            <a:ext cx="10515600" cy="12700"/>
          </a:xfrm>
          <a:prstGeom prst="rect">
            <a:avLst/>
          </a:prstGeom>
          <a:no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94560"/>
            <a:ext cx="10515600" cy="2286000"/>
          </a:xfrm>
          <a:prstGeom prst="rect">
            <a:avLst/>
          </a:prstGeom>
          <a:noFill/>
        </p:spPr>
        <p:txBody>
          <a:bodyPr wrap="square" lIns="0" rIns="0" tIns="0" bIns="0">
            <a:spAutoFit/>
          </a:bodyPr>
          <a:lstStyle/>
          <a:p>
            <a:pPr>
              <a:spcAft>
                <a:spcPts val="1000"/>
              </a:spcAft>
              <a:defRPr sz="1050" b="1">
                <a:solidFill>
                  <a:srgbClr val="14B8A6"/>
                </a:solidFill>
                <a:latin typeface="Calibri"/>
              </a:defRPr>
            </a:pPr>
            <a:r>
              <a:t>TRABAJO DE INVESTIGACIÓN PARA OPTAR AL GRADO DE LICENCIADOS EN PSICOLOGÍA</a:t>
            </a:r>
          </a:p>
          <a:p>
            <a:pPr>
              <a:spcAft>
                <a:spcPts val="1200"/>
              </a:spcAft>
              <a:defRPr sz="3100" b="1">
                <a:solidFill>
                  <a:srgbClr val="FFFFFF"/>
                </a:solidFill>
                <a:latin typeface="Cambria"/>
              </a:defRPr>
            </a:pPr>
            <a:r>
              <a:t>La Medicina Tradicional, Complementaria e Integrativa</a:t>
            </a:r>
            <a:br/>
            <a:r>
              <a:t>(MTCI) como Complemento en la Atención Psicológica</a:t>
            </a:r>
          </a:p>
          <a:p>
            <a:pPr>
              <a:defRPr sz="1300">
                <a:solidFill>
                  <a:srgbClr val="E2E8F0"/>
                </a:solidFill>
                <a:latin typeface="Calibri"/>
              </a:defRPr>
            </a:pPr>
            <a:r>
              <a:t>Estudio Mixto con Estudiantes y Docentes del CUR-Estelí y Facilitadores Locales del Municipio de Estelí (Segundo Semestre, 2026)</a:t>
            </a:r>
          </a:p>
        </p:txBody>
      </p:sp>
      <p:sp>
        <p:nvSpPr>
          <p:cNvPr id="6" name="Rectangle 5"/>
          <p:cNvSpPr/>
          <p:nvPr/>
        </p:nvSpPr>
        <p:spPr>
          <a:xfrm>
            <a:off x="822960" y="4663440"/>
            <a:ext cx="10515600" cy="12700"/>
          </a:xfrm>
          <a:prstGeom prst="rect">
            <a:avLst/>
          </a:prstGeom>
          <a:no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892040"/>
            <a:ext cx="3291840" cy="1371600"/>
          </a:xfrm>
          <a:prstGeom prst="rect">
            <a:avLst/>
          </a:prstGeom>
          <a:noFill/>
        </p:spPr>
        <p:txBody>
          <a:bodyPr wrap="square" lIns="0" rIns="0" tIns="0" bIns="0">
            <a:spAutoFit/>
          </a:bodyPr>
          <a:lstStyle/>
          <a:p>
            <a:pPr>
              <a:spcAft>
                <a:spcPts val="500"/>
              </a:spcAft>
              <a:defRPr sz="900" b="1">
                <a:solidFill>
                  <a:srgbClr val="F59E0B"/>
                </a:solidFill>
                <a:latin typeface="Calibri"/>
              </a:defRPr>
            </a:pPr>
            <a:r>
              <a:t>AUTORES / SUSTENTANTES</a:t>
            </a:r>
          </a:p>
          <a:p>
            <a:pPr>
              <a:spcAft>
                <a:spcPts val="200"/>
              </a:spcAft>
              <a:defRPr sz="1050">
                <a:solidFill>
                  <a:srgbClr val="FFFFFF"/>
                </a:solidFill>
                <a:latin typeface="Calibri"/>
              </a:defRPr>
            </a:pPr>
            <a:r>
              <a:t>• Dina Fabiola García Torres</a:t>
            </a:r>
          </a:p>
          <a:p>
            <a:pPr>
              <a:spcAft>
                <a:spcPts val="200"/>
              </a:spcAft>
              <a:defRPr sz="1050">
                <a:solidFill>
                  <a:srgbClr val="FFFFFF"/>
                </a:solidFill>
                <a:latin typeface="Calibri"/>
              </a:defRPr>
            </a:pPr>
            <a:r>
              <a:t>• Tatiana Paola López Ramos</a:t>
            </a:r>
          </a:p>
          <a:p>
            <a:pPr>
              <a:spcAft>
                <a:spcPts val="200"/>
              </a:spcAft>
              <a:defRPr sz="1050">
                <a:solidFill>
                  <a:srgbClr val="FFFFFF"/>
                </a:solidFill>
                <a:latin typeface="Calibri"/>
              </a:defRPr>
            </a:pPr>
            <a:r>
              <a:t>• Engel Enoc Zamora Velásquez</a:t>
            </a:r>
          </a:p>
        </p:txBody>
      </p:sp>
      <p:sp>
        <p:nvSpPr>
          <p:cNvPr id="8" name="Rectangle 7"/>
          <p:cNvSpPr/>
          <p:nvPr/>
        </p:nvSpPr>
        <p:spPr>
          <a:xfrm>
            <a:off x="4343400" y="4892040"/>
            <a:ext cx="12700" cy="1371600"/>
          </a:xfrm>
          <a:prstGeom prst="rect">
            <a:avLst/>
          </a:prstGeom>
          <a:no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4892040"/>
            <a:ext cx="3291840" cy="1371600"/>
          </a:xfrm>
          <a:prstGeom prst="rect">
            <a:avLst/>
          </a:prstGeom>
          <a:noFill/>
        </p:spPr>
        <p:txBody>
          <a:bodyPr wrap="square" lIns="0" rIns="0" tIns="0" bIns="0">
            <a:spAutoFit/>
          </a:bodyPr>
          <a:lstStyle/>
          <a:p>
            <a:pPr>
              <a:spcAft>
                <a:spcPts val="500"/>
              </a:spcAft>
              <a:defRPr sz="900" b="1">
                <a:solidFill>
                  <a:srgbClr val="14B8A6"/>
                </a:solidFill>
                <a:latin typeface="Calibri"/>
              </a:defRPr>
            </a:pPr>
            <a:r>
              <a:t>TUTORÍA ACADÉMICA</a:t>
            </a:r>
          </a:p>
          <a:p>
            <a:pPr>
              <a:defRPr sz="1050" b="1">
                <a:solidFill>
                  <a:srgbClr val="FFFFFF"/>
                </a:solidFill>
                <a:latin typeface="Calibri"/>
              </a:defRPr>
            </a:pPr>
            <a:r>
              <a:t>• Dra. Tania Libertad Pérez Guevara</a:t>
            </a:r>
          </a:p>
          <a:p>
            <a:pPr>
              <a:defRPr sz="950">
                <a:solidFill>
                  <a:srgbClr val="94A3B8"/>
                </a:solidFill>
                <a:latin typeface="Calibri"/>
              </a:defRPr>
            </a:pPr>
            <a:r>
              <a:t>Docente Investigadora • Asesoría Temática y Metodológica</a:t>
            </a:r>
            <a:br/>
            <a:r>
              <a:t>CUR-Estelí, UNAN-Managua</a:t>
            </a:r>
          </a:p>
        </p:txBody>
      </p:sp>
      <p:sp>
        <p:nvSpPr>
          <p:cNvPr id="10" name="Rectangle 9"/>
          <p:cNvSpPr/>
          <p:nvPr/>
        </p:nvSpPr>
        <p:spPr>
          <a:xfrm>
            <a:off x="8138160" y="4892040"/>
            <a:ext cx="12700" cy="1371600"/>
          </a:xfrm>
          <a:prstGeom prst="rect">
            <a:avLst/>
          </a:prstGeom>
          <a:no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4892040"/>
            <a:ext cx="3291840" cy="1371600"/>
          </a:xfrm>
          <a:prstGeom prst="rect">
            <a:avLst/>
          </a:prstGeom>
          <a:noFill/>
        </p:spPr>
        <p:txBody>
          <a:bodyPr wrap="square" lIns="0" rIns="0" tIns="0" bIns="0">
            <a:spAutoFit/>
          </a:bodyPr>
          <a:lstStyle/>
          <a:p>
            <a:pPr>
              <a:spcAft>
                <a:spcPts val="500"/>
              </a:spcAft>
              <a:defRPr sz="900" b="1">
                <a:solidFill>
                  <a:srgbClr val="E2E8F0"/>
                </a:solidFill>
                <a:latin typeface="Calibri"/>
              </a:defRPr>
            </a:pPr>
            <a:r>
              <a:t>DEFENSA DE GRADO</a:t>
            </a:r>
          </a:p>
          <a:p>
            <a:pPr>
              <a:defRPr sz="1050">
                <a:solidFill>
                  <a:srgbClr val="FFFFFF"/>
                </a:solidFill>
                <a:latin typeface="Calibri"/>
              </a:defRPr>
            </a:pPr>
            <a:r>
              <a:t>Licenciatura en Psicología</a:t>
            </a:r>
          </a:p>
          <a:p>
            <a:pPr>
              <a:defRPr sz="950">
                <a:solidFill>
                  <a:srgbClr val="94A3B8"/>
                </a:solidFill>
                <a:latin typeface="Calibri"/>
              </a:defRPr>
            </a:pPr>
            <a:r>
              <a:t>Línea SAL-3 (Salud e Interculturalidad)</a:t>
            </a:r>
            <a:br/>
            <a:r>
              <a:t>Estelí, Nicaragua • Octubre, 2026</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I • INTRODUCCIÓN</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Planteamiento del Problema y Justificación de la Investigación</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2 / 17</a:t>
            </a:r>
          </a:p>
        </p:txBody>
      </p:sp>
      <p:sp>
        <p:nvSpPr>
          <p:cNvPr id="7" name="TextBox 6"/>
          <p:cNvSpPr txBox="1"/>
          <p:nvPr/>
        </p:nvSpPr>
        <p:spPr>
          <a:xfrm>
            <a:off x="777240" y="1600200"/>
            <a:ext cx="5029200" cy="4572000"/>
          </a:xfrm>
          <a:prstGeom prst="rect">
            <a:avLst/>
          </a:prstGeom>
          <a:noFill/>
        </p:spPr>
        <p:txBody>
          <a:bodyPr wrap="square" lIns="0" rIns="0" tIns="0" bIns="0">
            <a:spAutoFit/>
          </a:bodyPr>
          <a:lstStyle/>
          <a:p>
            <a:pPr>
              <a:spcAft>
                <a:spcPts val="1200"/>
              </a:spcAft>
              <a:defRPr sz="1400" b="1">
                <a:solidFill>
                  <a:srgbClr val="0F172A"/>
                </a:solidFill>
                <a:latin typeface="Cambria"/>
              </a:defRPr>
            </a:pPr>
            <a:r>
              <a:t>Problema de Investigación: Tensión Normativa y Formativa</a:t>
            </a:r>
          </a:p>
          <a:p>
            <a:pPr>
              <a:spcAft>
                <a:spcPts val="1000"/>
              </a:spcAft>
            </a:pPr>
            <a:r>
              <a:rPr b="1" sz="1200">
                <a:solidFill>
                  <a:srgbClr val="0D9488"/>
                </a:solidFill>
                <a:latin typeface="Cambria"/>
              </a:rPr>
              <a:t>01  </a:t>
            </a:r>
            <a:r>
              <a:rPr b="1" sz="1150">
                <a:solidFill>
                  <a:srgbClr val="0F172A"/>
                </a:solidFill>
                <a:latin typeface="Calibri"/>
              </a:rPr>
              <a:t>Asimetría Normativa y Vacío Curricular: </a:t>
            </a:r>
            <a:r>
              <a:rPr sz="1100">
                <a:solidFill>
                  <a:srgbClr val="1E293B"/>
                </a:solidFill>
                <a:latin typeface="Calibri"/>
              </a:rPr>
              <a:t>La Ley No. 774 reconoce el acceso ciudadano a la MTCI en el sistema de salud, mientras la Ley No. 292 prohíbe taxativamente al psicólogo prescribir fármacos. Los planes de estudio no dotan al alumnado de lineamientos bioéticos claros para dialogar o derivar.</a:t>
            </a:r>
          </a:p>
          <a:p>
            <a:pPr>
              <a:spcAft>
                <a:spcPts val="1000"/>
              </a:spcAft>
            </a:pPr>
            <a:r>
              <a:rPr b="1" sz="1200">
                <a:solidFill>
                  <a:srgbClr val="0D9488"/>
                </a:solidFill>
                <a:latin typeface="Cambria"/>
              </a:rPr>
              <a:t>02  </a:t>
            </a:r>
            <a:r>
              <a:rPr b="1" sz="1150">
                <a:solidFill>
                  <a:srgbClr val="0F172A"/>
                </a:solidFill>
                <a:latin typeface="Calibri"/>
              </a:rPr>
              <a:t>Ocultamiento Terapéutico en Consulta: </a:t>
            </a:r>
            <a:r>
              <a:rPr sz="1100">
                <a:solidFill>
                  <a:srgbClr val="1E293B"/>
                </a:solidFill>
                <a:latin typeface="Calibri"/>
              </a:rPr>
              <a:t>Los usuarios recurren empíricamente a la medicina natural y tradicional para aliviar su angustia, pero silencian estas prácticas en consulta psicológica por temor al rechazo o escepticismo del terapeuta.</a:t>
            </a:r>
          </a:p>
          <a:p>
            <a:pPr>
              <a:spcAft>
                <a:spcPts val="1000"/>
              </a:spcAft>
            </a:pPr>
            <a:r>
              <a:rPr b="1" sz="1200">
                <a:solidFill>
                  <a:srgbClr val="0D9488"/>
                </a:solidFill>
                <a:latin typeface="Cambria"/>
              </a:rPr>
              <a:t>03  </a:t>
            </a:r>
            <a:r>
              <a:rPr b="1" sz="1150">
                <a:solidFill>
                  <a:srgbClr val="0F172A"/>
                </a:solidFill>
                <a:latin typeface="Calibri"/>
              </a:rPr>
              <a:t>Riesgos Clínicos e Interacciones: </a:t>
            </a:r>
            <a:r>
              <a:rPr sz="1100">
                <a:solidFill>
                  <a:srgbClr val="1E293B"/>
                </a:solidFill>
                <a:latin typeface="Calibri"/>
              </a:rPr>
              <a:t>El desconocimiento de fitoterapia y productos naturales impide explorar contraindicaciones con psicofármacos o detectar prácticas que puedan retrasar la atención especializada.</a:t>
            </a:r>
          </a:p>
          <a:p>
            <a:r>
              <a:rPr b="1" sz="1100">
                <a:solidFill>
                  <a:srgbClr val="D97706"/>
                </a:solidFill>
              </a:rPr>
              <a:t>✦ Pregunta Central: </a:t>
            </a:r>
            <a:r>
              <a:rPr i="1" sz="1100">
                <a:solidFill>
                  <a:srgbClr val="0F172A"/>
                </a:solidFill>
              </a:rPr>
              <a:t>¿Cómo fundamenta el diagnóstico de MTCI en Estelí el diseño de un manual ético y pedagógico para Psicología?</a:t>
            </a:r>
          </a:p>
        </p:txBody>
      </p:sp>
      <p:sp>
        <p:nvSpPr>
          <p:cNvPr id="8" name="Rectangle 7"/>
          <p:cNvSpPr/>
          <p:nvPr/>
        </p:nvSpPr>
        <p:spPr>
          <a:xfrm>
            <a:off x="6172200" y="1691640"/>
            <a:ext cx="12700" cy="4297680"/>
          </a:xfrm>
          <a:prstGeom prst="rect">
            <a:avLst/>
          </a:prstGeom>
          <a:no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600200"/>
            <a:ext cx="5029200" cy="4572000"/>
          </a:xfrm>
          <a:prstGeom prst="rect">
            <a:avLst/>
          </a:prstGeom>
          <a:noFill/>
        </p:spPr>
        <p:txBody>
          <a:bodyPr wrap="square" lIns="0" rIns="0" tIns="0" bIns="0">
            <a:spAutoFit/>
          </a:bodyPr>
          <a:lstStyle/>
          <a:p>
            <a:pPr>
              <a:spcAft>
                <a:spcPts val="1200"/>
              </a:spcAft>
              <a:defRPr sz="1400" b="1">
                <a:solidFill>
                  <a:srgbClr val="0F172A"/>
                </a:solidFill>
                <a:latin typeface="Cambria"/>
              </a:defRPr>
            </a:pPr>
            <a:r>
              <a:t>Justificación y Relevancia de la Investigación</a:t>
            </a:r>
          </a:p>
          <a:p>
            <a:pPr>
              <a:spcAft>
                <a:spcPts val="1100"/>
              </a:spcAft>
            </a:pPr>
            <a:r>
              <a:rPr b="1" sz="1100">
                <a:solidFill>
                  <a:srgbClr val="0D9488"/>
                </a:solidFill>
              </a:rPr>
              <a:t>✦ </a:t>
            </a:r>
            <a:r>
              <a:rPr b="1" sz="1150">
                <a:solidFill>
                  <a:srgbClr val="0F172A"/>
                </a:solidFill>
                <a:latin typeface="Calibri"/>
              </a:rPr>
              <a:t>Ética y No Maleficencia: </a:t>
            </a:r>
            <a:r>
              <a:rPr sz="1100">
                <a:solidFill>
                  <a:srgbClr val="1E293B"/>
                </a:solidFill>
                <a:latin typeface="Calibri"/>
              </a:rPr>
              <a:t>Explorar el uso de hierbas y remedios previene interacciones fitofarmacológicas y protege la seguridad clínica del usuario.</a:t>
            </a:r>
          </a:p>
          <a:p>
            <a:pPr>
              <a:spcAft>
                <a:spcPts val="1100"/>
              </a:spcAft>
            </a:pPr>
            <a:r>
              <a:rPr b="1" sz="1100">
                <a:solidFill>
                  <a:srgbClr val="0D9488"/>
                </a:solidFill>
              </a:rPr>
              <a:t>✦ </a:t>
            </a:r>
            <a:r>
              <a:rPr b="1" sz="1150">
                <a:solidFill>
                  <a:srgbClr val="0F172A"/>
                </a:solidFill>
                <a:latin typeface="Calibri"/>
              </a:rPr>
              <a:t>Salud Mental Comunitaria: </a:t>
            </a:r>
            <a:r>
              <a:rPr sz="1100">
                <a:solidFill>
                  <a:srgbClr val="1E293B"/>
                </a:solidFill>
                <a:latin typeface="Calibri"/>
              </a:rPr>
              <a:t>Reconoce la memoria etnobotánica viva y la legitimidad sociocultural de los facilitadores tradicionales en el territorio de Estelí.</a:t>
            </a:r>
          </a:p>
          <a:p>
            <a:pPr>
              <a:spcAft>
                <a:spcPts val="1100"/>
              </a:spcAft>
            </a:pPr>
            <a:r>
              <a:rPr b="1" sz="1100">
                <a:solidFill>
                  <a:srgbClr val="0D9488"/>
                </a:solidFill>
              </a:rPr>
              <a:t>✦ </a:t>
            </a:r>
            <a:r>
              <a:rPr b="1" sz="1150">
                <a:solidFill>
                  <a:srgbClr val="0F172A"/>
                </a:solidFill>
                <a:latin typeface="Calibri"/>
              </a:rPr>
              <a:t>Pertinencia Formativa en el CUR-Estelí: </a:t>
            </a:r>
            <a:r>
              <a:rPr sz="1100">
                <a:solidFill>
                  <a:srgbClr val="1E293B"/>
                </a:solidFill>
                <a:latin typeface="Calibri"/>
              </a:rPr>
              <a:t>Dota a estudiantes de 4.º y 5.º año de discernimiento deontológico para sus prácticas en la Clínica Psicosocial universitaria.</a:t>
            </a:r>
          </a:p>
          <a:p>
            <a:pPr>
              <a:spcAft>
                <a:spcPts val="1100"/>
              </a:spcAft>
            </a:pPr>
            <a:r>
              <a:rPr b="1" sz="1100">
                <a:solidFill>
                  <a:srgbClr val="0D9488"/>
                </a:solidFill>
              </a:rPr>
              <a:t>✦ </a:t>
            </a:r>
            <a:r>
              <a:rPr b="1" sz="1150">
                <a:solidFill>
                  <a:srgbClr val="0F172A"/>
                </a:solidFill>
                <a:latin typeface="Calibri"/>
              </a:rPr>
              <a:t>Aporte Propositivo Concreto: </a:t>
            </a:r>
            <a:r>
              <a:rPr sz="1100">
                <a:solidFill>
                  <a:srgbClr val="1E293B"/>
                </a:solidFill>
                <a:latin typeface="Calibri"/>
              </a:rPr>
              <a:t>Genera el Manual de Estrategias MTCI de 18 páginas (Anexo 16.2), articulando algoritmos clínicos y el inventario I-CAM-Q.</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I • INTRODUCCIÓN</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Antecedentes de la Investigación: Ámbitos Internacional, Regional y Local</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3 / 17</a:t>
            </a:r>
          </a:p>
        </p:txBody>
      </p:sp>
      <p:sp>
        <p:nvSpPr>
          <p:cNvPr id="7" name="Rectangle 6"/>
          <p:cNvSpPr/>
          <p:nvPr/>
        </p:nvSpPr>
        <p:spPr>
          <a:xfrm>
            <a:off x="777240" y="2011680"/>
            <a:ext cx="10607040" cy="12700"/>
          </a:xfrm>
          <a:prstGeom prst="rect">
            <a:avLst/>
          </a:prstGeom>
          <a:no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3337560" cy="731520"/>
          </a:xfrm>
          <a:prstGeom prst="rect">
            <a:avLst/>
          </a:prstGeom>
          <a:noFill/>
        </p:spPr>
        <p:txBody>
          <a:bodyPr wrap="none" lIns="0" rIns="0" tIns="0" bIns="0">
            <a:spAutoFit/>
          </a:bodyPr>
          <a:lstStyle/>
          <a:p>
            <a:pPr>
              <a:defRPr b="1" sz="1200">
                <a:solidFill>
                  <a:srgbClr val="0D9488"/>
                </a:solidFill>
                <a:latin typeface="Cambria"/>
              </a:defRPr>
            </a:pPr>
            <a:r>
              <a:t>●  2014 – 2019</a:t>
            </a:r>
          </a:p>
          <a:p>
            <a:pPr>
              <a:defRPr b="1" sz="1050">
                <a:solidFill>
                  <a:srgbClr val="0F172A"/>
                </a:solidFill>
                <a:latin typeface="Calibri"/>
              </a:defRPr>
            </a:pPr>
            <a:r>
              <a:t>ÁMBITO GLOBAL • Directrices de la OMS y Ensayos Clínicos</a:t>
            </a:r>
          </a:p>
        </p:txBody>
      </p:sp>
      <p:sp>
        <p:nvSpPr>
          <p:cNvPr id="9" name="TextBox 8"/>
          <p:cNvSpPr txBox="1"/>
          <p:nvPr/>
        </p:nvSpPr>
        <p:spPr>
          <a:xfrm>
            <a:off x="777240" y="2423160"/>
            <a:ext cx="3337560" cy="3840480"/>
          </a:xfrm>
          <a:prstGeom prst="rect">
            <a:avLst/>
          </a:prstGeom>
          <a:noFill/>
        </p:spPr>
        <p:txBody>
          <a:bodyPr wrap="square" lIns="0" rIns="0" tIns="0" bIns="0">
            <a:spAutoFit/>
          </a:bodyPr>
          <a:lstStyle/>
          <a:p>
            <a:pPr>
              <a:spcAft>
                <a:spcPts val="900"/>
              </a:spcAft>
            </a:pPr>
            <a:r>
              <a:rPr b="1" sz="1100">
                <a:solidFill>
                  <a:srgbClr val="0F172A"/>
                </a:solidFill>
                <a:latin typeface="Calibri"/>
              </a:rPr>
              <a:t>• Estrategia OMS sobre MTCI: </a:t>
            </a:r>
            <a:r>
              <a:rPr sz="1050">
                <a:solidFill>
                  <a:srgbClr val="1E293B"/>
                </a:solidFill>
                <a:latin typeface="Calibri"/>
              </a:rPr>
              <a:t>Marco global que insta a los sistemas de salud a incorporar medicinas tradicionales sobre bases de seguridad y evidencia.</a:t>
            </a:r>
          </a:p>
          <a:p>
            <a:pPr>
              <a:spcAft>
                <a:spcPts val="900"/>
              </a:spcAft>
            </a:pPr>
            <a:r>
              <a:rPr b="1" sz="1100">
                <a:solidFill>
                  <a:srgbClr val="0F172A"/>
                </a:solidFill>
                <a:latin typeface="Calibri"/>
              </a:rPr>
              <a:t>• Metanálisis de Acupuntura y Fitoterapia: </a:t>
            </a:r>
            <a:r>
              <a:rPr sz="1050">
                <a:solidFill>
                  <a:srgbClr val="1E293B"/>
                </a:solidFill>
                <a:latin typeface="Calibri"/>
              </a:rPr>
              <a:t>Furlan et al. (2012) y Guo et al. (2024) comprueban eficacia en dolor crónico, fibromialgia y estrés somático.</a:t>
            </a:r>
          </a:p>
          <a:p>
            <a:pPr>
              <a:spcAft>
                <a:spcPts val="900"/>
              </a:spcAft>
            </a:pPr>
            <a:r>
              <a:rPr b="1" sz="1100">
                <a:solidFill>
                  <a:srgbClr val="0F172A"/>
                </a:solidFill>
                <a:latin typeface="Calibri"/>
              </a:rPr>
              <a:t>• Salud Mental e Intervenciones Mente-Cuerpo: </a:t>
            </a:r>
            <a:r>
              <a:rPr sz="1050">
                <a:solidFill>
                  <a:srgbClr val="1E293B"/>
                </a:solidFill>
                <a:latin typeface="Calibri"/>
              </a:rPr>
              <a:t>Sotiropoulos et al. (2025) validan técnicas de autorregulación somática en cuadros ansioso-depresivos.</a:t>
            </a:r>
          </a:p>
        </p:txBody>
      </p:sp>
      <p:sp>
        <p:nvSpPr>
          <p:cNvPr id="10" name="TextBox 9"/>
          <p:cNvSpPr txBox="1"/>
          <p:nvPr/>
        </p:nvSpPr>
        <p:spPr>
          <a:xfrm>
            <a:off x="4434840" y="1600200"/>
            <a:ext cx="3337560" cy="731520"/>
          </a:xfrm>
          <a:prstGeom prst="rect">
            <a:avLst/>
          </a:prstGeom>
          <a:noFill/>
        </p:spPr>
        <p:txBody>
          <a:bodyPr wrap="none" lIns="0" rIns="0" tIns="0" bIns="0">
            <a:spAutoFit/>
          </a:bodyPr>
          <a:lstStyle/>
          <a:p>
            <a:pPr>
              <a:defRPr b="1" sz="1200">
                <a:solidFill>
                  <a:srgbClr val="0D9488"/>
                </a:solidFill>
                <a:latin typeface="Cambria"/>
              </a:defRPr>
            </a:pPr>
            <a:r>
              <a:t>●  2020 – 2023</a:t>
            </a:r>
          </a:p>
          <a:p>
            <a:pPr>
              <a:defRPr b="1" sz="1050">
                <a:solidFill>
                  <a:srgbClr val="0F172A"/>
                </a:solidFill>
                <a:latin typeface="Calibri"/>
              </a:defRPr>
            </a:pPr>
            <a:r>
              <a:t>ÁMBITO REGIONAL • Estudios Universitarios en Iberoamérica</a:t>
            </a:r>
          </a:p>
        </p:txBody>
      </p:sp>
      <p:sp>
        <p:nvSpPr>
          <p:cNvPr id="11" name="TextBox 10"/>
          <p:cNvSpPr txBox="1"/>
          <p:nvPr/>
        </p:nvSpPr>
        <p:spPr>
          <a:xfrm>
            <a:off x="4434840" y="2423160"/>
            <a:ext cx="3337560" cy="3840480"/>
          </a:xfrm>
          <a:prstGeom prst="rect">
            <a:avLst/>
          </a:prstGeom>
          <a:noFill/>
        </p:spPr>
        <p:txBody>
          <a:bodyPr wrap="square" lIns="0" rIns="0" tIns="0" bIns="0">
            <a:spAutoFit/>
          </a:bodyPr>
          <a:lstStyle/>
          <a:p>
            <a:pPr>
              <a:spcAft>
                <a:spcPts val="900"/>
              </a:spcAft>
            </a:pPr>
            <a:r>
              <a:rPr b="1" sz="1100">
                <a:solidFill>
                  <a:srgbClr val="0F172A"/>
                </a:solidFill>
                <a:latin typeface="Calibri"/>
              </a:rPr>
              <a:t>• Estudios en Educación Superior: </a:t>
            </a:r>
            <a:r>
              <a:rPr sz="1050">
                <a:solidFill>
                  <a:srgbClr val="1E293B"/>
                </a:solidFill>
                <a:latin typeface="Calibri"/>
              </a:rPr>
              <a:t>Investigaciones en Argentina (Papalini, 2022) y Chile evidencian uso masivo de MTCI en estudiantes de carreras de salud.</a:t>
            </a:r>
          </a:p>
          <a:p>
            <a:pPr>
              <a:spcAft>
                <a:spcPts val="900"/>
              </a:spcAft>
            </a:pPr>
            <a:r>
              <a:rPr b="1" sz="1100">
                <a:solidFill>
                  <a:srgbClr val="0F172A"/>
                </a:solidFill>
                <a:latin typeface="Calibri"/>
              </a:rPr>
              <a:t>• Identificación de la Brecha Formativa: </a:t>
            </a:r>
            <a:r>
              <a:rPr sz="1050">
                <a:solidFill>
                  <a:srgbClr val="1E293B"/>
                </a:solidFill>
                <a:latin typeface="Calibri"/>
              </a:rPr>
              <a:t>Más del 80% del alumnado recurre a MTCI como autocuidado pero reporta nula preparación curricular universitaria.</a:t>
            </a:r>
          </a:p>
          <a:p>
            <a:pPr>
              <a:spcAft>
                <a:spcPts val="900"/>
              </a:spcAft>
            </a:pPr>
            <a:r>
              <a:rPr b="1" sz="1100">
                <a:solidFill>
                  <a:srgbClr val="0F172A"/>
                </a:solidFill>
                <a:latin typeface="Calibri"/>
              </a:rPr>
              <a:t>• Ausencia de Protocolos Clínicos: </a:t>
            </a:r>
            <a:r>
              <a:rPr sz="1050">
                <a:solidFill>
                  <a:srgbClr val="1E293B"/>
                </a:solidFill>
                <a:latin typeface="Calibri"/>
              </a:rPr>
              <a:t>Carencia de herramientas normalizadas de derivación entre psicólogos y terapeutas tradicionales.</a:t>
            </a:r>
          </a:p>
        </p:txBody>
      </p:sp>
      <p:sp>
        <p:nvSpPr>
          <p:cNvPr id="12" name="TextBox 11"/>
          <p:cNvSpPr txBox="1"/>
          <p:nvPr/>
        </p:nvSpPr>
        <p:spPr>
          <a:xfrm>
            <a:off x="8092440" y="1600200"/>
            <a:ext cx="3337560" cy="731520"/>
          </a:xfrm>
          <a:prstGeom prst="rect">
            <a:avLst/>
          </a:prstGeom>
          <a:noFill/>
        </p:spPr>
        <p:txBody>
          <a:bodyPr wrap="none" lIns="0" rIns="0" tIns="0" bIns="0">
            <a:spAutoFit/>
          </a:bodyPr>
          <a:lstStyle/>
          <a:p>
            <a:pPr>
              <a:defRPr b="1" sz="1200">
                <a:solidFill>
                  <a:srgbClr val="0D9488"/>
                </a:solidFill>
                <a:latin typeface="Cambria"/>
              </a:defRPr>
            </a:pPr>
            <a:r>
              <a:t>●  2024 – 2026</a:t>
            </a:r>
          </a:p>
          <a:p>
            <a:pPr>
              <a:defRPr b="1" sz="1050">
                <a:solidFill>
                  <a:srgbClr val="0F172A"/>
                </a:solidFill>
                <a:latin typeface="Calibri"/>
              </a:defRPr>
            </a:pPr>
            <a:r>
              <a:t>ÁMBITO LOCAL • Nicaragua, CUR-Estelí y Vacío Curricular</a:t>
            </a:r>
          </a:p>
        </p:txBody>
      </p:sp>
      <p:sp>
        <p:nvSpPr>
          <p:cNvPr id="13" name="TextBox 12"/>
          <p:cNvSpPr txBox="1"/>
          <p:nvPr/>
        </p:nvSpPr>
        <p:spPr>
          <a:xfrm>
            <a:off x="8092440" y="2423160"/>
            <a:ext cx="3337560" cy="3840480"/>
          </a:xfrm>
          <a:prstGeom prst="rect">
            <a:avLst/>
          </a:prstGeom>
          <a:noFill/>
        </p:spPr>
        <p:txBody>
          <a:bodyPr wrap="square" lIns="0" rIns="0" tIns="0" bIns="0">
            <a:spAutoFit/>
          </a:bodyPr>
          <a:lstStyle/>
          <a:p>
            <a:pPr>
              <a:spcAft>
                <a:spcPts val="900"/>
              </a:spcAft>
            </a:pPr>
            <a:r>
              <a:rPr b="1" sz="1100">
                <a:solidFill>
                  <a:srgbClr val="0F172A"/>
                </a:solidFill>
                <a:latin typeface="Calibri"/>
              </a:rPr>
              <a:t>• Vanguardia Jurídica Sanitaria: </a:t>
            </a:r>
            <a:r>
              <a:rPr sz="1050">
                <a:solidFill>
                  <a:srgbClr val="1E293B"/>
                </a:solidFill>
                <a:latin typeface="Calibri"/>
              </a:rPr>
              <a:t>Leyes 774 y 759 establecen el Instituto de Medicina Natural, pionero en el marco normativo centroamericano.</a:t>
            </a:r>
          </a:p>
          <a:p>
            <a:pPr>
              <a:spcAft>
                <a:spcPts val="900"/>
              </a:spcAft>
            </a:pPr>
            <a:r>
              <a:rPr b="1" sz="1100">
                <a:solidFill>
                  <a:srgbClr val="0F172A"/>
                </a:solidFill>
                <a:latin typeface="Calibri"/>
              </a:rPr>
              <a:t>• Vacío en Facultades de Psicología: </a:t>
            </a:r>
            <a:r>
              <a:rPr sz="1050">
                <a:solidFill>
                  <a:srgbClr val="1E293B"/>
                </a:solidFill>
                <a:latin typeface="Calibri"/>
              </a:rPr>
              <a:t>Ausencia de asignaturas o módulos sobre diálogo intercultural en salud mental en los planes de estudio vigentes.</a:t>
            </a:r>
          </a:p>
          <a:p>
            <a:pPr>
              <a:spcAft>
                <a:spcPts val="900"/>
              </a:spcAft>
            </a:pPr>
            <a:r>
              <a:rPr b="1" sz="1100">
                <a:solidFill>
                  <a:srgbClr val="0F172A"/>
                </a:solidFill>
                <a:latin typeface="Calibri"/>
              </a:rPr>
              <a:t>• Estudio Mixto CUR-Estelí (2026): </a:t>
            </a:r>
            <a:r>
              <a:rPr sz="1050">
                <a:solidFill>
                  <a:srgbClr val="1E293B"/>
                </a:solidFill>
                <a:latin typeface="Calibri"/>
              </a:rPr>
              <a:t>Primer estudio empírico que triangula las percepciones de estudiantes, docentes universitarios y facilitadores locales.</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I • INTRODUCCIÓN</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Contexto del Estudio: Territorio de Estelí y UNAN-Managua CUR-Estelí</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4 / 17</a:t>
            </a:r>
          </a:p>
        </p:txBody>
      </p:sp>
      <p:sp>
        <p:nvSpPr>
          <p:cNvPr id="7" name="TextBox 6"/>
          <p:cNvSpPr txBox="1"/>
          <p:nvPr/>
        </p:nvSpPr>
        <p:spPr>
          <a:xfrm>
            <a:off x="777240" y="1645920"/>
            <a:ext cx="5120640" cy="4572000"/>
          </a:xfrm>
          <a:prstGeom prst="rect">
            <a:avLst/>
          </a:prstGeom>
          <a:noFill/>
        </p:spPr>
        <p:txBody>
          <a:bodyPr wrap="square" lIns="0" rIns="0" tIns="0" bIns="0">
            <a:spAutoFit/>
          </a:bodyPr>
          <a:lstStyle/>
          <a:p>
            <a:pPr>
              <a:spcAft>
                <a:spcPts val="1200"/>
              </a:spcAft>
              <a:defRPr b="1" sz="1400">
                <a:solidFill>
                  <a:srgbClr val="0F172A"/>
                </a:solidFill>
                <a:latin typeface="Cambria"/>
              </a:defRPr>
            </a:pPr>
            <a:r>
              <a:t>Municipio de Estelí: Realidad Sociocultural y Prácticas Tradicionales</a:t>
            </a:r>
          </a:p>
          <a:p>
            <a:pPr>
              <a:spcAft>
                <a:spcPts val="1100"/>
              </a:spcAft>
            </a:pPr>
            <a:r>
              <a:rPr b="1" sz="1150">
                <a:solidFill>
                  <a:srgbClr val="0D9488"/>
                </a:solidFill>
                <a:latin typeface="Calibri"/>
              </a:rPr>
              <a:t>✦ Tradición Etnobotánica de Las Segovias
</a:t>
            </a:r>
            <a:r>
              <a:rPr sz="1100">
                <a:solidFill>
                  <a:srgbClr val="1E293B"/>
                </a:solidFill>
                <a:latin typeface="Calibri"/>
              </a:rPr>
              <a:t>Estelí y el norte de Nicaragua conservan un acervo histórico de uso de plantas medicinales, sobandería y remedios caseros transmitidos de generación en generación.</a:t>
            </a:r>
          </a:p>
          <a:p>
            <a:pPr>
              <a:spcAft>
                <a:spcPts val="1100"/>
              </a:spcAft>
            </a:pPr>
            <a:r>
              <a:rPr b="1" sz="1150">
                <a:solidFill>
                  <a:srgbClr val="0D9488"/>
                </a:solidFill>
                <a:latin typeface="Calibri"/>
              </a:rPr>
              <a:t>✦ Presencia de Terapeutas Comunitarios
</a:t>
            </a:r>
            <a:r>
              <a:rPr sz="1100">
                <a:solidFill>
                  <a:srgbClr val="1E293B"/>
                </a:solidFill>
                <a:latin typeface="Calibri"/>
              </a:rPr>
              <a:t>Los facilitadores de medicina natural, masajistas y curanderos atienden de forma cotidiana a personas con dolencias osteomusculares y estados de estrés o aflicción emocional.</a:t>
            </a:r>
          </a:p>
          <a:p>
            <a:pPr>
              <a:spcAft>
                <a:spcPts val="1100"/>
              </a:spcAft>
            </a:pPr>
            <a:r>
              <a:rPr b="1" sz="1150">
                <a:solidFill>
                  <a:srgbClr val="0D9488"/>
                </a:solidFill>
                <a:latin typeface="Calibri"/>
              </a:rPr>
              <a:t>✦ Desarticulación Asistencial y Prejuicios
</a:t>
            </a:r>
            <a:r>
              <a:rPr sz="1100">
                <a:solidFill>
                  <a:srgbClr val="1E293B"/>
                </a:solidFill>
                <a:latin typeface="Calibri"/>
              </a:rPr>
              <a:t>Persiste una brecha de comunicación formal entre los terapeutas tradicionales y los centros de salud institucionales, mediada por prejuicios mutuos y falta de vías de derivación.</a:t>
            </a:r>
          </a:p>
        </p:txBody>
      </p:sp>
      <p:sp>
        <p:nvSpPr>
          <p:cNvPr id="8" name="Rectangle 7"/>
          <p:cNvSpPr/>
          <p:nvPr/>
        </p:nvSpPr>
        <p:spPr>
          <a:xfrm>
            <a:off x="6172200" y="1737360"/>
            <a:ext cx="12700" cy="4297680"/>
          </a:xfrm>
          <a:prstGeom prst="rect">
            <a:avLst/>
          </a:prstGeom>
          <a:no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645920"/>
            <a:ext cx="5120640" cy="4572000"/>
          </a:xfrm>
          <a:prstGeom prst="rect">
            <a:avLst/>
          </a:prstGeom>
          <a:noFill/>
        </p:spPr>
        <p:txBody>
          <a:bodyPr wrap="square" lIns="0" rIns="0" tIns="0" bIns="0">
            <a:spAutoFit/>
          </a:bodyPr>
          <a:lstStyle/>
          <a:p>
            <a:pPr>
              <a:spcAft>
                <a:spcPts val="1200"/>
              </a:spcAft>
              <a:defRPr b="1" sz="1400">
                <a:solidFill>
                  <a:srgbClr val="0F172A"/>
                </a:solidFill>
                <a:latin typeface="Cambria"/>
              </a:defRPr>
            </a:pPr>
            <a:r>
              <a:t>UNAN-Managua CUR-Estelí: Clínica Psicosocial y Formación</a:t>
            </a:r>
          </a:p>
          <a:p>
            <a:pPr>
              <a:spcAft>
                <a:spcPts val="1100"/>
              </a:spcAft>
            </a:pPr>
            <a:r>
              <a:rPr b="1" sz="1150">
                <a:solidFill>
                  <a:srgbClr val="D97706"/>
                </a:solidFill>
                <a:latin typeface="Calibri"/>
              </a:rPr>
              <a:t>✦ Recinto Universitario Leonel Rugama
</a:t>
            </a:r>
            <a:r>
              <a:rPr sz="1100">
                <a:solidFill>
                  <a:srgbClr val="1E293B"/>
                </a:solidFill>
                <a:latin typeface="Calibri"/>
              </a:rPr>
              <a:t>Sede regional que forma a profesionales de la psicología orientados a responder a las demandas del desarrollo humano y comunitario de la región norte.</a:t>
            </a:r>
          </a:p>
          <a:p>
            <a:pPr>
              <a:spcAft>
                <a:spcPts val="1100"/>
              </a:spcAft>
            </a:pPr>
            <a:r>
              <a:rPr b="1" sz="1150">
                <a:solidFill>
                  <a:srgbClr val="D97706"/>
                </a:solidFill>
                <a:latin typeface="Calibri"/>
              </a:rPr>
              <a:t>✦ Clínica Psicosocial del CUR-Estelí
</a:t>
            </a:r>
            <a:r>
              <a:rPr sz="1100">
                <a:solidFill>
                  <a:srgbClr val="1E293B"/>
                </a:solidFill>
                <a:latin typeface="Calibri"/>
              </a:rPr>
              <a:t>Espacio asistencial y docente donde los estudiantes de 4.º y 5.º año brindan atención psicoterapéutica bajo supervisión docente a consultantes con dificultades afectivas y psicosomáticas.</a:t>
            </a:r>
          </a:p>
          <a:p>
            <a:pPr>
              <a:spcAft>
                <a:spcPts val="1100"/>
              </a:spcAft>
            </a:pPr>
            <a:r>
              <a:rPr b="1" sz="1150">
                <a:solidFill>
                  <a:srgbClr val="D97706"/>
                </a:solidFill>
                <a:latin typeface="Calibri"/>
              </a:rPr>
              <a:t>✦ Demanda de Herramientas Bioéticas
</a:t>
            </a:r>
            <a:r>
              <a:rPr sz="1100">
                <a:solidFill>
                  <a:srgbClr val="1E293B"/>
                </a:solidFill>
                <a:latin typeface="Calibri"/>
              </a:rPr>
              <a:t>La investigación responde a la necesidad docente de dotar al estudiantado de pautas estructuradas para explorar el uso de MTCI y establecer límites de práctica claros.</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I • INTRODUCCIÓN</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Objetivos de la Investigación: General y Específicos</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5 / 17</a:t>
            </a:r>
          </a:p>
        </p:txBody>
      </p:sp>
      <p:sp>
        <p:nvSpPr>
          <p:cNvPr id="7" name="TextBox 6"/>
          <p:cNvSpPr txBox="1"/>
          <p:nvPr/>
        </p:nvSpPr>
        <p:spPr>
          <a:xfrm>
            <a:off x="777240" y="1600200"/>
            <a:ext cx="10607040" cy="1188720"/>
          </a:xfrm>
          <a:prstGeom prst="rect">
            <a:avLst/>
          </a:prstGeom>
          <a:noFill/>
        </p:spPr>
        <p:txBody>
          <a:bodyPr wrap="square" lIns="0" rIns="0" tIns="0" bIns="0">
            <a:spAutoFit/>
          </a:bodyPr>
          <a:lstStyle/>
          <a:p>
            <a:pPr>
              <a:spcAft>
                <a:spcPts val="400"/>
              </a:spcAft>
              <a:defRPr b="1" sz="1050">
                <a:solidFill>
                  <a:srgbClr val="D97706"/>
                </a:solidFill>
                <a:latin typeface="Calibri"/>
              </a:defRPr>
            </a:pPr>
            <a:r>
              <a:t>OBJETIVO GENERAL</a:t>
            </a:r>
          </a:p>
          <a:p>
            <a:pPr>
              <a:defRPr b="1" sz="1500">
                <a:solidFill>
                  <a:srgbClr val="0F172A"/>
                </a:solidFill>
                <a:latin typeface="Cambria"/>
              </a:defRPr>
            </a:pPr>
            <a:r>
              <a:t>Analizar la integración de la Medicina Tradicional, Complementaria e Integrativa (MTCI) como recurso complementario en la atención psicológica, a partir de las percepciones, conocimientos y prácticas de estudiantes, docentes y facilitadores locales, formulando un manual de estrategias bioéticas y formativas en el CUR-Estelí.</a:t>
            </a:r>
          </a:p>
        </p:txBody>
      </p:sp>
      <p:sp>
        <p:nvSpPr>
          <p:cNvPr id="8" name="Rectangle 7"/>
          <p:cNvSpPr/>
          <p:nvPr/>
        </p:nvSpPr>
        <p:spPr>
          <a:xfrm>
            <a:off x="777240" y="2971800"/>
            <a:ext cx="10607040" cy="12700"/>
          </a:xfrm>
          <a:prstGeom prst="rect">
            <a:avLst/>
          </a:prstGeom>
          <a:no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246120"/>
            <a:ext cx="3291840" cy="2926080"/>
          </a:xfrm>
          <a:prstGeom prst="rect">
            <a:avLst/>
          </a:prstGeom>
          <a:noFill/>
        </p:spPr>
        <p:txBody>
          <a:bodyPr wrap="square" lIns="0" rIns="0" tIns="0" bIns="0">
            <a:spAutoFit/>
          </a:bodyPr>
          <a:lstStyle/>
          <a:p>
            <a:pPr>
              <a:spcAft>
                <a:spcPts val="200"/>
              </a:spcAft>
              <a:defRPr b="1" sz="3600">
                <a:solidFill>
                  <a:srgbClr val="0D9488"/>
                </a:solidFill>
                <a:latin typeface="Cambria"/>
              </a:defRPr>
            </a:pPr>
            <a:r>
              <a:t>01</a:t>
            </a:r>
          </a:p>
          <a:p>
            <a:pPr>
              <a:spcAft>
                <a:spcPts val="800"/>
              </a:spcAft>
              <a:defRPr b="1" sz="1050">
                <a:solidFill>
                  <a:srgbClr val="0F172A"/>
                </a:solidFill>
                <a:latin typeface="Calibri"/>
              </a:defRPr>
            </a:pPr>
            <a:r>
              <a:t>OE1 • MUESTRA ESTUDIANTIL</a:t>
            </a:r>
          </a:p>
          <a:p>
            <a:pPr>
              <a:defRPr sz="1100">
                <a:solidFill>
                  <a:srgbClr val="1E293B"/>
                </a:solidFill>
                <a:latin typeface="Calibri"/>
              </a:defRPr>
            </a:pPr>
            <a:r>
              <a:t>Caracterizar la percepción, nivel de conocimiento, frecuencia de uso y barreras autopercibidas en los estudiantes de 4.º y 5.º año de la Carrera de Psicología respecto a las MTCI.</a:t>
            </a:r>
          </a:p>
        </p:txBody>
      </p:sp>
      <p:sp>
        <p:nvSpPr>
          <p:cNvPr id="10" name="TextBox 9"/>
          <p:cNvSpPr txBox="1"/>
          <p:nvPr/>
        </p:nvSpPr>
        <p:spPr>
          <a:xfrm>
            <a:off x="4480559" y="3246120"/>
            <a:ext cx="3291840" cy="2926080"/>
          </a:xfrm>
          <a:prstGeom prst="rect">
            <a:avLst/>
          </a:prstGeom>
          <a:noFill/>
        </p:spPr>
        <p:txBody>
          <a:bodyPr wrap="square" lIns="0" rIns="0" tIns="0" bIns="0">
            <a:spAutoFit/>
          </a:bodyPr>
          <a:lstStyle/>
          <a:p>
            <a:pPr>
              <a:spcAft>
                <a:spcPts val="200"/>
              </a:spcAft>
              <a:defRPr b="1" sz="3600">
                <a:solidFill>
                  <a:srgbClr val="2563EB"/>
                </a:solidFill>
                <a:latin typeface="Cambria"/>
              </a:defRPr>
            </a:pPr>
            <a:r>
              <a:t>02</a:t>
            </a:r>
          </a:p>
          <a:p>
            <a:pPr>
              <a:spcAft>
                <a:spcPts val="800"/>
              </a:spcAft>
              <a:defRPr b="1" sz="1050">
                <a:solidFill>
                  <a:srgbClr val="0F172A"/>
                </a:solidFill>
                <a:latin typeface="Calibri"/>
              </a:defRPr>
            </a:pPr>
            <a:r>
              <a:t>OE2 • FACILITADORES LOCALES</a:t>
            </a:r>
          </a:p>
          <a:p>
            <a:pPr>
              <a:defRPr sz="1100">
                <a:solidFill>
                  <a:srgbClr val="1E293B"/>
                </a:solidFill>
                <a:latin typeface="Calibri"/>
              </a:defRPr>
            </a:pPr>
            <a:r>
              <a:t>Explorar las experiencias terapéuticas, prácticas tradicionales y barreras socioculturales que enfrentan los facilitadores locales de medicina tradicional en el municipio de Estelí.</a:t>
            </a:r>
          </a:p>
        </p:txBody>
      </p:sp>
      <p:sp>
        <p:nvSpPr>
          <p:cNvPr id="11" name="TextBox 10"/>
          <p:cNvSpPr txBox="1"/>
          <p:nvPr/>
        </p:nvSpPr>
        <p:spPr>
          <a:xfrm>
            <a:off x="8183879" y="3246120"/>
            <a:ext cx="3291840" cy="2926080"/>
          </a:xfrm>
          <a:prstGeom prst="rect">
            <a:avLst/>
          </a:prstGeom>
          <a:noFill/>
        </p:spPr>
        <p:txBody>
          <a:bodyPr wrap="square" lIns="0" rIns="0" tIns="0" bIns="0">
            <a:spAutoFit/>
          </a:bodyPr>
          <a:lstStyle/>
          <a:p>
            <a:pPr>
              <a:spcAft>
                <a:spcPts val="200"/>
              </a:spcAft>
              <a:defRPr b="1" sz="3600">
                <a:solidFill>
                  <a:srgbClr val="D97706"/>
                </a:solidFill>
                <a:latin typeface="Cambria"/>
              </a:defRPr>
            </a:pPr>
            <a:r>
              <a:t>03</a:t>
            </a:r>
          </a:p>
          <a:p>
            <a:pPr>
              <a:spcAft>
                <a:spcPts val="800"/>
              </a:spcAft>
              <a:defRPr b="1" sz="1050">
                <a:solidFill>
                  <a:srgbClr val="0F172A"/>
                </a:solidFill>
                <a:latin typeface="Calibri"/>
              </a:defRPr>
            </a:pPr>
            <a:r>
              <a:t>OE3 • CLAUSTRO Y PROPUESTA</a:t>
            </a:r>
          </a:p>
          <a:p>
            <a:pPr>
              <a:defRPr sz="1100">
                <a:solidFill>
                  <a:srgbClr val="1E293B"/>
                </a:solidFill>
                <a:latin typeface="Calibri"/>
              </a:defRPr>
            </a:pPr>
            <a:r>
              <a:t>Diseñar un Manual de Estrategias de MTCI para la formación y práctica psicológica, fundamentado en los criterios del claustro docente y los hallazgos empíricos del CUR-Estelí.</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II • MARCO TEÓRICO (1/2)</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Fundamentos Epistemológicos y Principios Bioéticos en Salud Mental</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6 / 17</a:t>
            </a:r>
          </a:p>
        </p:txBody>
      </p:sp>
      <p:sp>
        <p:nvSpPr>
          <p:cNvPr id="7" name="TextBox 6"/>
          <p:cNvSpPr txBox="1"/>
          <p:nvPr/>
        </p:nvSpPr>
        <p:spPr>
          <a:xfrm>
            <a:off x="777240" y="1691640"/>
            <a:ext cx="3337560" cy="4480560"/>
          </a:xfrm>
          <a:prstGeom prst="rect">
            <a:avLst/>
          </a:prstGeom>
          <a:noFill/>
        </p:spPr>
        <p:txBody>
          <a:bodyPr wrap="square" lIns="0" rIns="0" tIns="0" bIns="0">
            <a:spAutoFit/>
          </a:bodyPr>
          <a:lstStyle/>
          <a:p>
            <a:pPr>
              <a:spcAft>
                <a:spcPts val="200"/>
              </a:spcAft>
              <a:defRPr b="1" sz="1350">
                <a:solidFill>
                  <a:srgbClr val="0F172A"/>
                </a:solidFill>
                <a:latin typeface="Cambria"/>
              </a:defRPr>
            </a:pPr>
            <a:r>
              <a:t>01 • Modelo Biopsicosocial Ampliado</a:t>
            </a:r>
          </a:p>
          <a:p>
            <a:pPr>
              <a:spcAft>
                <a:spcPts val="1200"/>
              </a:spcAft>
              <a:defRPr sz="950" b="1">
                <a:solidFill>
                  <a:srgbClr val="0D9488"/>
                </a:solidFill>
                <a:latin typeface="Calibri"/>
              </a:defRPr>
            </a:pPr>
            <a:r>
              <a:t>Engel (1977); Babic et al. (2024)</a:t>
            </a:r>
          </a:p>
          <a:p>
            <a:pPr>
              <a:spcAft>
                <a:spcPts val="800"/>
              </a:spcAft>
              <a:defRPr sz="1100">
                <a:solidFill>
                  <a:srgbClr val="1E293B"/>
                </a:solidFill>
                <a:latin typeface="Calibri"/>
              </a:defRPr>
            </a:pPr>
            <a:r>
              <a:t>•  Superación del reduccionismo mecanicista y biomédico en salud mental.</a:t>
            </a:r>
          </a:p>
          <a:p>
            <a:pPr>
              <a:spcAft>
                <a:spcPts val="800"/>
              </a:spcAft>
              <a:defRPr sz="1100">
                <a:solidFill>
                  <a:srgbClr val="1E293B"/>
                </a:solidFill>
                <a:latin typeface="Calibri"/>
              </a:defRPr>
            </a:pPr>
            <a:r>
              <a:t>•  Integración de la dimensión somática, afectiva, cognitiva y sociocultural en un continuo dinámico.</a:t>
            </a:r>
          </a:p>
          <a:p>
            <a:pPr>
              <a:spcAft>
                <a:spcPts val="800"/>
              </a:spcAft>
              <a:defRPr sz="1100">
                <a:solidFill>
                  <a:srgbClr val="1E293B"/>
                </a:solidFill>
                <a:latin typeface="Calibri"/>
              </a:defRPr>
            </a:pPr>
            <a:r>
              <a:t>•  Regulación neurovegetativa y vías Bottom-Up como fundamento fisiológico del autocuidado.</a:t>
            </a:r>
          </a:p>
        </p:txBody>
      </p:sp>
      <p:sp>
        <p:nvSpPr>
          <p:cNvPr id="8" name="TextBox 7"/>
          <p:cNvSpPr txBox="1"/>
          <p:nvPr/>
        </p:nvSpPr>
        <p:spPr>
          <a:xfrm>
            <a:off x="4480559" y="1691640"/>
            <a:ext cx="3337560" cy="4480560"/>
          </a:xfrm>
          <a:prstGeom prst="rect">
            <a:avLst/>
          </a:prstGeom>
          <a:noFill/>
        </p:spPr>
        <p:txBody>
          <a:bodyPr wrap="square" lIns="0" rIns="0" tIns="0" bIns="0">
            <a:spAutoFit/>
          </a:bodyPr>
          <a:lstStyle/>
          <a:p>
            <a:pPr>
              <a:spcAft>
                <a:spcPts val="200"/>
              </a:spcAft>
              <a:defRPr b="1" sz="1350">
                <a:solidFill>
                  <a:srgbClr val="0F172A"/>
                </a:solidFill>
                <a:latin typeface="Cambria"/>
              </a:defRPr>
            </a:pPr>
            <a:r>
              <a:t>02 • Pluralismo Médico y Hermenéutica</a:t>
            </a:r>
          </a:p>
          <a:p>
            <a:pPr>
              <a:spcAft>
                <a:spcPts val="1200"/>
              </a:spcAft>
              <a:defRPr sz="950" b="1">
                <a:solidFill>
                  <a:srgbClr val="0D9488"/>
                </a:solidFill>
                <a:latin typeface="Calibri"/>
              </a:defRPr>
            </a:pPr>
            <a:r>
              <a:t>Menéndez (2020); OMS (2025)</a:t>
            </a:r>
          </a:p>
          <a:p>
            <a:pPr>
              <a:spcAft>
                <a:spcPts val="800"/>
              </a:spcAft>
              <a:defRPr sz="1100">
                <a:solidFill>
                  <a:srgbClr val="1E293B"/>
                </a:solidFill>
                <a:latin typeface="Calibri"/>
              </a:defRPr>
            </a:pPr>
            <a:r>
              <a:t>•  Coexistencia real del Modelo Médico Hegemónico con sistemas tradicionales y de autoatención.</a:t>
            </a:r>
          </a:p>
          <a:p>
            <a:pPr>
              <a:spcAft>
                <a:spcPts val="800"/>
              </a:spcAft>
              <a:defRPr sz="1100">
                <a:solidFill>
                  <a:srgbClr val="1E293B"/>
                </a:solidFill>
                <a:latin typeface="Calibri"/>
              </a:defRPr>
            </a:pPr>
            <a:r>
              <a:t>•  Reconocimiento de los saberes locales y comunitarios sin abandono del rigor metodológico.</a:t>
            </a:r>
          </a:p>
          <a:p>
            <a:pPr>
              <a:spcAft>
                <a:spcPts val="800"/>
              </a:spcAft>
              <a:defRPr sz="1100">
                <a:solidFill>
                  <a:srgbClr val="1E293B"/>
                </a:solidFill>
                <a:latin typeface="Calibri"/>
              </a:defRPr>
            </a:pPr>
            <a:r>
              <a:t>•  Superación del ocultamiento terapéutico mediante una entrevista clínica empática y libre de prejuicios.</a:t>
            </a:r>
          </a:p>
        </p:txBody>
      </p:sp>
      <p:sp>
        <p:nvSpPr>
          <p:cNvPr id="9" name="TextBox 8"/>
          <p:cNvSpPr txBox="1"/>
          <p:nvPr/>
        </p:nvSpPr>
        <p:spPr>
          <a:xfrm>
            <a:off x="8183879" y="1691640"/>
            <a:ext cx="3337560" cy="4480560"/>
          </a:xfrm>
          <a:prstGeom prst="rect">
            <a:avLst/>
          </a:prstGeom>
          <a:noFill/>
        </p:spPr>
        <p:txBody>
          <a:bodyPr wrap="square" lIns="0" rIns="0" tIns="0" bIns="0">
            <a:spAutoFit/>
          </a:bodyPr>
          <a:lstStyle/>
          <a:p>
            <a:pPr>
              <a:spcAft>
                <a:spcPts val="200"/>
              </a:spcAft>
              <a:defRPr b="1" sz="1350">
                <a:solidFill>
                  <a:srgbClr val="0F172A"/>
                </a:solidFill>
                <a:latin typeface="Cambria"/>
              </a:defRPr>
            </a:pPr>
            <a:r>
              <a:t>03 • Bioética y Límites de la Práctica</a:t>
            </a:r>
          </a:p>
          <a:p>
            <a:pPr>
              <a:spcAft>
                <a:spcPts val="1200"/>
              </a:spcAft>
              <a:defRPr sz="950" b="1">
                <a:solidFill>
                  <a:srgbClr val="0D9488"/>
                </a:solidFill>
                <a:latin typeface="Calibri"/>
              </a:defRPr>
            </a:pPr>
            <a:r>
              <a:t>Beauchamp &amp; Childress (2019); Ley 292</a:t>
            </a:r>
          </a:p>
          <a:p>
            <a:pPr>
              <a:spcAft>
                <a:spcPts val="800"/>
              </a:spcAft>
              <a:defRPr sz="1100">
                <a:solidFill>
                  <a:srgbClr val="1E293B"/>
                </a:solidFill>
                <a:latin typeface="Calibri"/>
              </a:defRPr>
            </a:pPr>
            <a:r>
              <a:t>•  Principio de No Maleficencia: prevención de interacciones fitofarmacológicas y riesgos toxicológicos.</a:t>
            </a:r>
          </a:p>
          <a:p>
            <a:pPr>
              <a:spcAft>
                <a:spcPts val="800"/>
              </a:spcAft>
              <a:defRPr sz="1100">
                <a:solidFill>
                  <a:srgbClr val="1E293B"/>
                </a:solidFill>
                <a:latin typeface="Calibri"/>
              </a:defRPr>
            </a:pPr>
            <a:r>
              <a:t>•  Principio de Autonomía: respeto informado a los valores, creencias y decisiones del consultante.</a:t>
            </a:r>
          </a:p>
          <a:p>
            <a:pPr>
              <a:spcAft>
                <a:spcPts val="800"/>
              </a:spcAft>
              <a:defRPr sz="1100">
                <a:solidFill>
                  <a:srgbClr val="1E293B"/>
                </a:solidFill>
                <a:latin typeface="Calibri"/>
              </a:defRPr>
            </a:pPr>
            <a:r>
              <a:t>•  Delimitación Profesional: el psicólogo orienta, psicoeduca y deriva; no prescribe ni formula sustancias.</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II • MARCO TEÓRICO (2/2)</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Marco Normativo Nicaragüense y Evidencia de Eficacia Clínica</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7 / 17</a:t>
            </a:r>
          </a:p>
        </p:txBody>
      </p:sp>
      <p:sp>
        <p:nvSpPr>
          <p:cNvPr id="7" name="TextBox 6"/>
          <p:cNvSpPr txBox="1"/>
          <p:nvPr/>
        </p:nvSpPr>
        <p:spPr>
          <a:xfrm>
            <a:off x="777240" y="1645920"/>
            <a:ext cx="5120640" cy="4572000"/>
          </a:xfrm>
          <a:prstGeom prst="rect">
            <a:avLst/>
          </a:prstGeom>
          <a:noFill/>
        </p:spPr>
        <p:txBody>
          <a:bodyPr wrap="square" lIns="0" rIns="0" tIns="0" bIns="0">
            <a:spAutoFit/>
          </a:bodyPr>
          <a:lstStyle/>
          <a:p>
            <a:pPr>
              <a:spcAft>
                <a:spcPts val="1200"/>
              </a:spcAft>
              <a:defRPr b="1" sz="1400">
                <a:solidFill>
                  <a:srgbClr val="0F172A"/>
                </a:solidFill>
                <a:latin typeface="Cambria"/>
              </a:defRPr>
            </a:pPr>
            <a:r>
              <a:t>Ordenamiento Jurídico Sanitario Nacional</a:t>
            </a:r>
          </a:p>
          <a:p>
            <a:pPr>
              <a:spcAft>
                <a:spcPts val="1100"/>
              </a:spcAft>
            </a:pPr>
            <a:r>
              <a:rPr b="1" sz="1150">
                <a:solidFill>
                  <a:srgbClr val="0D9488"/>
                </a:solidFill>
                <a:latin typeface="Calibri"/>
              </a:rPr>
              <a:t>⚖ Ley No. 774 (2012) — </a:t>
            </a:r>
            <a:r>
              <a:rPr b="1" sz="1050">
                <a:solidFill>
                  <a:srgbClr val="0F172A"/>
                </a:solidFill>
                <a:latin typeface="Calibri"/>
              </a:rPr>
              <a:t>Medicina Natural, Terapias Complementarias y Productos Naturales
</a:t>
            </a:r>
            <a:r>
              <a:rPr sz="1050">
                <a:solidFill>
                  <a:srgbClr val="1E293B"/>
                </a:solidFill>
                <a:latin typeface="Calibri"/>
              </a:rPr>
              <a:t>Institucionaliza la MTCI en el sistema de salud bajo principios de complementariedad, equidad e interculturalidad.</a:t>
            </a:r>
          </a:p>
          <a:p>
            <a:pPr>
              <a:spcAft>
                <a:spcPts val="1100"/>
              </a:spcAft>
            </a:pPr>
            <a:r>
              <a:rPr b="1" sz="1150">
                <a:solidFill>
                  <a:srgbClr val="0D9488"/>
                </a:solidFill>
                <a:latin typeface="Calibri"/>
              </a:rPr>
              <a:t>⚖ Ley No. 292 (1998) — </a:t>
            </a:r>
            <a:r>
              <a:rPr b="1" sz="1050">
                <a:solidFill>
                  <a:srgbClr val="0F172A"/>
                </a:solidFill>
                <a:latin typeface="Calibri"/>
              </a:rPr>
              <a:t>Ley de Medicamentos y Farmacias de Nicaragua
</a:t>
            </a:r>
            <a:r>
              <a:rPr sz="1050">
                <a:solidFill>
                  <a:srgbClr val="1E293B"/>
                </a:solidFill>
                <a:latin typeface="Calibri"/>
              </a:rPr>
              <a:t>Límite legal taxativo: inhabilitación expresa para prescribir fármacos o despachar sustancias a quienes no posean título de médico.</a:t>
            </a:r>
          </a:p>
          <a:p>
            <a:pPr>
              <a:spcAft>
                <a:spcPts val="1100"/>
              </a:spcAft>
            </a:pPr>
            <a:r>
              <a:rPr b="1" sz="1150">
                <a:solidFill>
                  <a:srgbClr val="0D9488"/>
                </a:solidFill>
                <a:latin typeface="Calibri"/>
              </a:rPr>
              <a:t>⚖ Ley No. 759 (2011) — </a:t>
            </a:r>
            <a:r>
              <a:rPr b="1" sz="1050">
                <a:solidFill>
                  <a:srgbClr val="0F172A"/>
                </a:solidFill>
                <a:latin typeface="Calibri"/>
              </a:rPr>
              <a:t>Medicina Tradicional Ancestral
</a:t>
            </a:r>
            <a:r>
              <a:rPr sz="1050">
                <a:solidFill>
                  <a:srgbClr val="1E293B"/>
                </a:solidFill>
                <a:latin typeface="Calibri"/>
              </a:rPr>
              <a:t>Protege el patrimonio inmaterial y saberes curativos tradicionales de pueblos originarios y comunidades afrodescendientes.</a:t>
            </a:r>
          </a:p>
        </p:txBody>
      </p:sp>
      <p:sp>
        <p:nvSpPr>
          <p:cNvPr id="8" name="Rectangle 7"/>
          <p:cNvSpPr/>
          <p:nvPr/>
        </p:nvSpPr>
        <p:spPr>
          <a:xfrm>
            <a:off x="6172200" y="1737360"/>
            <a:ext cx="12700" cy="4297680"/>
          </a:xfrm>
          <a:prstGeom prst="rect">
            <a:avLst/>
          </a:prstGeom>
          <a:no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645920"/>
            <a:ext cx="5120640" cy="4572000"/>
          </a:xfrm>
          <a:prstGeom prst="rect">
            <a:avLst/>
          </a:prstGeom>
          <a:noFill/>
        </p:spPr>
        <p:txBody>
          <a:bodyPr wrap="square" lIns="0" rIns="0" tIns="0" bIns="0">
            <a:spAutoFit/>
          </a:bodyPr>
          <a:lstStyle/>
          <a:p>
            <a:pPr>
              <a:spcAft>
                <a:spcPts val="1200"/>
              </a:spcAft>
              <a:defRPr b="1" sz="1400">
                <a:solidFill>
                  <a:srgbClr val="0F172A"/>
                </a:solidFill>
                <a:latin typeface="Cambria"/>
              </a:defRPr>
            </a:pPr>
            <a:r>
              <a:t>Evidencia Clínica y Eficacia Empírica en MTCI</a:t>
            </a:r>
          </a:p>
          <a:p>
            <a:pPr>
              <a:spcAft>
                <a:spcPts val="1100"/>
              </a:spcAft>
            </a:pPr>
            <a:r>
              <a:rPr b="1" sz="1150">
                <a:solidFill>
                  <a:srgbClr val="2563EB"/>
                </a:solidFill>
                <a:latin typeface="Calibri"/>
              </a:rPr>
              <a:t>✦ Fitoterapia y Respuestas Neuroquímicas
</a:t>
            </a:r>
            <a:r>
              <a:rPr sz="1050">
                <a:solidFill>
                  <a:srgbClr val="1E293B"/>
                </a:solidFill>
                <a:latin typeface="Calibri"/>
              </a:rPr>
              <a:t>Ensayos clínicos confirman efectos sedantes y ansiolíticos en fitofármacos como la manzanilla y pasiflora, mediados por modulación gabaérgica.</a:t>
            </a:r>
          </a:p>
          <a:p>
            <a:pPr>
              <a:spcAft>
                <a:spcPts val="1100"/>
              </a:spcAft>
            </a:pPr>
            <a:r>
              <a:rPr b="1" sz="1150">
                <a:solidFill>
                  <a:srgbClr val="2563EB"/>
                </a:solidFill>
                <a:latin typeface="Calibri"/>
              </a:rPr>
              <a:t>✦ Técnicas Mente-Cuerpo y Tono Vagal
</a:t>
            </a:r>
            <a:r>
              <a:rPr sz="1050">
                <a:solidFill>
                  <a:srgbClr val="1E293B"/>
                </a:solidFill>
                <a:latin typeface="Calibri"/>
              </a:rPr>
              <a:t>Respiración diafragmática, relajación progresiva y yoga estimulan la activación del nervio vago y la reducción de cortisol sérico.</a:t>
            </a:r>
          </a:p>
          <a:p>
            <a:pPr>
              <a:spcAft>
                <a:spcPts val="1100"/>
              </a:spcAft>
            </a:pPr>
            <a:r>
              <a:rPr b="1" sz="1150">
                <a:solidFill>
                  <a:srgbClr val="2563EB"/>
                </a:solidFill>
                <a:latin typeface="Calibri"/>
              </a:rPr>
              <a:t>✦ Masoterapia y Liberación Miofascial
</a:t>
            </a:r>
            <a:r>
              <a:rPr sz="1050">
                <a:solidFill>
                  <a:srgbClr val="1E293B"/>
                </a:solidFill>
                <a:latin typeface="Calibri"/>
              </a:rPr>
              <a:t>La descompresión de contracturas musculares crónicas favorece la reducción del dolor somatomorfo y facilita el procesamiento emocional.</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III • MARCO METODOLÓGICO (1/2)</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Paradigma Pragmático, Enfoque Mixto Secuencial y Fases del Estudio</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8 / 17</a:t>
            </a:r>
          </a:p>
        </p:txBody>
      </p:sp>
      <p:sp>
        <p:nvSpPr>
          <p:cNvPr id="7" name="TextBox 6"/>
          <p:cNvSpPr txBox="1"/>
          <p:nvPr/>
        </p:nvSpPr>
        <p:spPr>
          <a:xfrm>
            <a:off x="777240" y="1645920"/>
            <a:ext cx="2468880" cy="2011680"/>
          </a:xfrm>
          <a:prstGeom prst="rect">
            <a:avLst/>
          </a:prstGeom>
          <a:noFill/>
        </p:spPr>
        <p:txBody>
          <a:bodyPr wrap="square" lIns="0" rIns="0" tIns="0" bIns="0">
            <a:spAutoFit/>
          </a:bodyPr>
          <a:lstStyle/>
          <a:p>
            <a:pPr>
              <a:spcAft>
                <a:spcPts val="200"/>
              </a:spcAft>
              <a:defRPr b="1" sz="900">
                <a:solidFill>
                  <a:srgbClr val="0D9488"/>
                </a:solidFill>
                <a:latin typeface="Calibri"/>
              </a:defRPr>
            </a:pPr>
            <a:r>
              <a:t>PARADIGMA</a:t>
            </a:r>
          </a:p>
          <a:p>
            <a:pPr>
              <a:spcAft>
                <a:spcPts val="500"/>
              </a:spcAft>
              <a:defRPr b="1" sz="1350">
                <a:solidFill>
                  <a:srgbClr val="0F172A"/>
                </a:solidFill>
                <a:latin typeface="Cambria"/>
              </a:defRPr>
            </a:pPr>
            <a:r>
              <a:t>Pragmático</a:t>
            </a:r>
          </a:p>
          <a:p>
            <a:pPr>
              <a:defRPr sz="1000">
                <a:solidFill>
                  <a:srgbClr val="1E293B"/>
                </a:solidFill>
                <a:latin typeface="Calibri"/>
              </a:defRPr>
            </a:pPr>
            <a:r>
              <a:t>Articula métodos cuantitativos y cualitativos según su utilidad empírica para fundamentar la propuesta de intervención.</a:t>
            </a:r>
          </a:p>
        </p:txBody>
      </p:sp>
      <p:sp>
        <p:nvSpPr>
          <p:cNvPr id="8" name="TextBox 7"/>
          <p:cNvSpPr txBox="1"/>
          <p:nvPr/>
        </p:nvSpPr>
        <p:spPr>
          <a:xfrm>
            <a:off x="3474720" y="1645920"/>
            <a:ext cx="2468880" cy="2011680"/>
          </a:xfrm>
          <a:prstGeom prst="rect">
            <a:avLst/>
          </a:prstGeom>
          <a:noFill/>
        </p:spPr>
        <p:txBody>
          <a:bodyPr wrap="square" lIns="0" rIns="0" tIns="0" bIns="0">
            <a:spAutoFit/>
          </a:bodyPr>
          <a:lstStyle/>
          <a:p>
            <a:pPr>
              <a:spcAft>
                <a:spcPts val="200"/>
              </a:spcAft>
              <a:defRPr b="1" sz="900">
                <a:solidFill>
                  <a:srgbClr val="0D9488"/>
                </a:solidFill>
                <a:latin typeface="Calibri"/>
              </a:defRPr>
            </a:pPr>
            <a:r>
              <a:t>ENFOQUE</a:t>
            </a:r>
          </a:p>
          <a:p>
            <a:pPr>
              <a:spcAft>
                <a:spcPts val="500"/>
              </a:spcAft>
              <a:defRPr b="1" sz="1350">
                <a:solidFill>
                  <a:srgbClr val="0F172A"/>
                </a:solidFill>
                <a:latin typeface="Cambria"/>
              </a:defRPr>
            </a:pPr>
            <a:r>
              <a:t>Mixto Secuencial</a:t>
            </a:r>
          </a:p>
          <a:p>
            <a:pPr>
              <a:defRPr sz="1000">
                <a:solidFill>
                  <a:srgbClr val="1E293B"/>
                </a:solidFill>
                <a:latin typeface="Calibri"/>
              </a:defRPr>
            </a:pPr>
            <a:r>
              <a:t>Diseño DEXPLIS (Derivativo): recolección cuantitativa inicial articulada con profundización cualitativa e integración propositiva.</a:t>
            </a:r>
          </a:p>
        </p:txBody>
      </p:sp>
      <p:sp>
        <p:nvSpPr>
          <p:cNvPr id="9" name="TextBox 8"/>
          <p:cNvSpPr txBox="1"/>
          <p:nvPr/>
        </p:nvSpPr>
        <p:spPr>
          <a:xfrm>
            <a:off x="6172200" y="1645920"/>
            <a:ext cx="2468880" cy="2011680"/>
          </a:xfrm>
          <a:prstGeom prst="rect">
            <a:avLst/>
          </a:prstGeom>
          <a:noFill/>
        </p:spPr>
        <p:txBody>
          <a:bodyPr wrap="square" lIns="0" rIns="0" tIns="0" bIns="0">
            <a:spAutoFit/>
          </a:bodyPr>
          <a:lstStyle/>
          <a:p>
            <a:pPr>
              <a:spcAft>
                <a:spcPts val="200"/>
              </a:spcAft>
              <a:defRPr b="1" sz="900">
                <a:solidFill>
                  <a:srgbClr val="0D9488"/>
                </a:solidFill>
                <a:latin typeface="Calibri"/>
              </a:defRPr>
            </a:pPr>
            <a:r>
              <a:t>ALCANCE</a:t>
            </a:r>
          </a:p>
          <a:p>
            <a:pPr>
              <a:spcAft>
                <a:spcPts val="500"/>
              </a:spcAft>
              <a:defRPr b="1" sz="1350">
                <a:solidFill>
                  <a:srgbClr val="0F172A"/>
                </a:solidFill>
                <a:latin typeface="Cambria"/>
              </a:defRPr>
            </a:pPr>
            <a:r>
              <a:t>Descriptivo-Transversal</a:t>
            </a:r>
          </a:p>
          <a:p>
            <a:pPr>
              <a:defRPr sz="1000">
                <a:solidFill>
                  <a:srgbClr val="1E293B"/>
                </a:solidFill>
                <a:latin typeface="Calibri"/>
              </a:defRPr>
            </a:pPr>
            <a:r>
              <a:t>Caracteriza el estado actual de conocimientos, actitudes y prácticas en un marco temporal definido (segundo semestre 2026).</a:t>
            </a:r>
          </a:p>
        </p:txBody>
      </p:sp>
      <p:sp>
        <p:nvSpPr>
          <p:cNvPr id="10" name="TextBox 9"/>
          <p:cNvSpPr txBox="1"/>
          <p:nvPr/>
        </p:nvSpPr>
        <p:spPr>
          <a:xfrm>
            <a:off x="8869680" y="1645920"/>
            <a:ext cx="2468880" cy="2011680"/>
          </a:xfrm>
          <a:prstGeom prst="rect">
            <a:avLst/>
          </a:prstGeom>
          <a:noFill/>
        </p:spPr>
        <p:txBody>
          <a:bodyPr wrap="square" lIns="0" rIns="0" tIns="0" bIns="0">
            <a:spAutoFit/>
          </a:bodyPr>
          <a:lstStyle/>
          <a:p>
            <a:pPr>
              <a:spcAft>
                <a:spcPts val="200"/>
              </a:spcAft>
              <a:defRPr b="1" sz="900">
                <a:solidFill>
                  <a:srgbClr val="0D9488"/>
                </a:solidFill>
                <a:latin typeface="Calibri"/>
              </a:defRPr>
            </a:pPr>
            <a:r>
              <a:t>TÉCNICAS</a:t>
            </a:r>
          </a:p>
          <a:p>
            <a:pPr>
              <a:spcAft>
                <a:spcPts val="500"/>
              </a:spcAft>
              <a:defRPr b="1" sz="1350">
                <a:solidFill>
                  <a:srgbClr val="0F172A"/>
                </a:solidFill>
                <a:latin typeface="Cambria"/>
              </a:defRPr>
            </a:pPr>
            <a:r>
              <a:t>Multi-Instrumento</a:t>
            </a:r>
          </a:p>
          <a:p>
            <a:pPr>
              <a:defRPr sz="1000">
                <a:solidFill>
                  <a:srgbClr val="1E293B"/>
                </a:solidFill>
                <a:latin typeface="Calibri"/>
              </a:defRPr>
            </a:pPr>
            <a:r>
              <a:t>Cuestionarios estructurados con escala Likert (I1, I2, I3), preguntas abiertas y análisis temático de contenido.</a:t>
            </a:r>
          </a:p>
        </p:txBody>
      </p:sp>
      <p:sp>
        <p:nvSpPr>
          <p:cNvPr id="11" name="Rectangle 10"/>
          <p:cNvSpPr/>
          <p:nvPr/>
        </p:nvSpPr>
        <p:spPr>
          <a:xfrm>
            <a:off x="777240" y="3931920"/>
            <a:ext cx="10607040" cy="12700"/>
          </a:xfrm>
          <a:prstGeom prst="rect">
            <a:avLst/>
          </a:prstGeom>
          <a:no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160520"/>
            <a:ext cx="10607040" cy="2103120"/>
          </a:xfrm>
          <a:prstGeom prst="rect">
            <a:avLst/>
          </a:prstGeom>
          <a:noFill/>
        </p:spPr>
        <p:txBody>
          <a:bodyPr wrap="square" lIns="0" rIns="0" tIns="0" bIns="0">
            <a:spAutoFit/>
          </a:bodyPr>
          <a:lstStyle/>
          <a:p>
            <a:pPr>
              <a:spcAft>
                <a:spcPts val="1000"/>
              </a:spcAft>
              <a:defRPr b="1" sz="1350">
                <a:solidFill>
                  <a:srgbClr val="0F172A"/>
                </a:solidFill>
                <a:latin typeface="Cambria"/>
              </a:defRPr>
            </a:pPr>
            <a:r>
              <a:t>Fases Metodológicas de la Investigación</a:t>
            </a:r>
          </a:p>
          <a:p>
            <a:pPr>
              <a:spcAft>
                <a:spcPts val="600"/>
              </a:spcAft>
            </a:pPr>
            <a:r>
              <a:rPr b="1" sz="1100">
                <a:solidFill>
                  <a:srgbClr val="D97706"/>
                </a:solidFill>
                <a:latin typeface="Calibri"/>
              </a:rPr>
              <a:t>▶ Fase 1 (Cuantitativa) • Diagnóstico Estudiantil: </a:t>
            </a:r>
            <a:r>
              <a:rPr sz="1050">
                <a:solidFill>
                  <a:srgbClr val="1E293B"/>
                </a:solidFill>
                <a:latin typeface="Calibri"/>
              </a:rPr>
              <a:t>Aplicación de cuestionario estandarizado (I1) a la muestra censal de n = 68 estudiantes de 4.º y 5.º año de Psicología.</a:t>
            </a:r>
          </a:p>
          <a:p>
            <a:pPr>
              <a:spcAft>
                <a:spcPts val="600"/>
              </a:spcAft>
            </a:pPr>
            <a:r>
              <a:rPr b="1" sz="1100">
                <a:solidFill>
                  <a:srgbClr val="D97706"/>
                </a:solidFill>
                <a:latin typeface="Calibri"/>
              </a:rPr>
              <a:t>▶ Fase 2 (Cualitativa) • Inmersión en Actores Clave: </a:t>
            </a:r>
            <a:r>
              <a:rPr sz="1050">
                <a:solidFill>
                  <a:srgbClr val="1E293B"/>
                </a:solidFill>
                <a:latin typeface="Calibri"/>
              </a:rPr>
              <a:t>Recolección de percepciones en n = 9 facilitadores locales de Estelí (I2) y n = 9 docentes-psicólogos del CUR-Estelí (I3).</a:t>
            </a:r>
          </a:p>
          <a:p>
            <a:pPr>
              <a:spcAft>
                <a:spcPts val="600"/>
              </a:spcAft>
            </a:pPr>
            <a:r>
              <a:rPr b="1" sz="1100">
                <a:solidFill>
                  <a:srgbClr val="D97706"/>
                </a:solidFill>
                <a:latin typeface="Calibri"/>
              </a:rPr>
              <a:t>▶ Fase 3 (Propositiva) • Construcción del Manual: </a:t>
            </a:r>
            <a:r>
              <a:rPr sz="1050">
                <a:solidFill>
                  <a:srgbClr val="1E293B"/>
                </a:solidFill>
                <a:latin typeface="Calibri"/>
              </a:rPr>
              <a:t>Triangulación metodológica de hallazgos para el diseño modular del Manual de Estrategias MTCI (Anexo 16.2).</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III • MARCO METODOLÓGICO (2/2)</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Delimitación Muestral Consolidada (N = 86) y Criterios de Selección</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9 / 17</a:t>
            </a:r>
          </a:p>
        </p:txBody>
      </p:sp>
      <p:sp>
        <p:nvSpPr>
          <p:cNvPr id="7" name="TextBox 6"/>
          <p:cNvSpPr txBox="1"/>
          <p:nvPr/>
        </p:nvSpPr>
        <p:spPr>
          <a:xfrm>
            <a:off x="777240" y="1691640"/>
            <a:ext cx="3337560" cy="4480560"/>
          </a:xfrm>
          <a:prstGeom prst="rect">
            <a:avLst/>
          </a:prstGeom>
          <a:noFill/>
        </p:spPr>
        <p:txBody>
          <a:bodyPr wrap="square" lIns="0" rIns="0" tIns="0" bIns="0">
            <a:spAutoFit/>
          </a:bodyPr>
          <a:lstStyle/>
          <a:p>
            <a:pPr>
              <a:spcAft>
                <a:spcPts val="200"/>
              </a:spcAft>
              <a:defRPr b="1" sz="3600">
                <a:solidFill>
                  <a:srgbClr val="0D9488"/>
                </a:solidFill>
                <a:latin typeface="Cambria"/>
              </a:defRPr>
            </a:pPr>
            <a:r>
              <a:t>n = 68</a:t>
            </a:r>
          </a:p>
          <a:p>
            <a:pPr>
              <a:spcAft>
                <a:spcPts val="1200"/>
              </a:spcAft>
              <a:defRPr b="1" sz="1200">
                <a:solidFill>
                  <a:srgbClr val="0F172A"/>
                </a:solidFill>
                <a:latin typeface="Calibri"/>
              </a:defRPr>
            </a:pPr>
            <a:r>
              <a:t>ESTUDIANTES</a:t>
            </a:r>
          </a:p>
          <a:p>
            <a:pPr>
              <a:spcAft>
                <a:spcPts val="900"/>
              </a:spcAft>
            </a:pPr>
            <a:r>
              <a:rPr b="1" sz="1100">
                <a:solidFill>
                  <a:srgbClr val="0F172A"/>
                </a:solidFill>
                <a:latin typeface="Calibri"/>
              </a:rPr>
              <a:t>• Muestra Censal: </a:t>
            </a:r>
            <a:r>
              <a:rPr sz="1050">
                <a:solidFill>
                  <a:srgbClr val="1E293B"/>
                </a:solidFill>
                <a:latin typeface="Calibri"/>
              </a:rPr>
              <a:t>Totalidad de estudiantes activos de 4.º año (n = 53, 77.9%) y 5.º año (n = 15, 22.1%).</a:t>
            </a:r>
          </a:p>
          <a:p>
            <a:pPr>
              <a:spcAft>
                <a:spcPts val="900"/>
              </a:spcAft>
            </a:pPr>
            <a:r>
              <a:rPr b="1" sz="1100">
                <a:solidFill>
                  <a:srgbClr val="0F172A"/>
                </a:solidFill>
                <a:latin typeface="Calibri"/>
              </a:rPr>
              <a:t>• Criterio Inclusión: </a:t>
            </a:r>
            <a:r>
              <a:rPr sz="1050">
                <a:solidFill>
                  <a:srgbClr val="1E293B"/>
                </a:solidFill>
                <a:latin typeface="Calibri"/>
              </a:rPr>
              <a:t>Matrícula activa en el II Semestre 2026; cursando o habiendo cursado prácticas en la Clínica Psicosocial.</a:t>
            </a:r>
          </a:p>
          <a:p>
            <a:pPr>
              <a:spcAft>
                <a:spcPts val="900"/>
              </a:spcAft>
            </a:pPr>
            <a:r>
              <a:rPr b="1" sz="1100">
                <a:solidFill>
                  <a:srgbClr val="0F172A"/>
                </a:solidFill>
                <a:latin typeface="Calibri"/>
              </a:rPr>
              <a:t>• Criterio Exclusión: </a:t>
            </a:r>
            <a:r>
              <a:rPr sz="1050">
                <a:solidFill>
                  <a:srgbClr val="1E293B"/>
                </a:solidFill>
                <a:latin typeface="Calibri"/>
              </a:rPr>
              <a:t>Estudiantes de 1.º a 3.er año o con inactividad académica temporal.</a:t>
            </a:r>
          </a:p>
        </p:txBody>
      </p:sp>
      <p:sp>
        <p:nvSpPr>
          <p:cNvPr id="8" name="TextBox 7"/>
          <p:cNvSpPr txBox="1"/>
          <p:nvPr/>
        </p:nvSpPr>
        <p:spPr>
          <a:xfrm>
            <a:off x="4480559" y="1691640"/>
            <a:ext cx="3337560" cy="4480560"/>
          </a:xfrm>
          <a:prstGeom prst="rect">
            <a:avLst/>
          </a:prstGeom>
          <a:noFill/>
        </p:spPr>
        <p:txBody>
          <a:bodyPr wrap="square" lIns="0" rIns="0" tIns="0" bIns="0">
            <a:spAutoFit/>
          </a:bodyPr>
          <a:lstStyle/>
          <a:p>
            <a:pPr>
              <a:spcAft>
                <a:spcPts val="200"/>
              </a:spcAft>
              <a:defRPr b="1" sz="3600">
                <a:solidFill>
                  <a:srgbClr val="D97706"/>
                </a:solidFill>
                <a:latin typeface="Cambria"/>
              </a:defRPr>
            </a:pPr>
            <a:r>
              <a:t>n = 9</a:t>
            </a:r>
          </a:p>
          <a:p>
            <a:pPr>
              <a:spcAft>
                <a:spcPts val="1200"/>
              </a:spcAft>
              <a:defRPr b="1" sz="1200">
                <a:solidFill>
                  <a:srgbClr val="0F172A"/>
                </a:solidFill>
                <a:latin typeface="Calibri"/>
              </a:defRPr>
            </a:pPr>
            <a:r>
              <a:t>FACILITADORES</a:t>
            </a:r>
          </a:p>
          <a:p>
            <a:pPr>
              <a:spcAft>
                <a:spcPts val="900"/>
              </a:spcAft>
            </a:pPr>
            <a:r>
              <a:rPr b="1" sz="1100">
                <a:solidFill>
                  <a:srgbClr val="0F172A"/>
                </a:solidFill>
                <a:latin typeface="Calibri"/>
              </a:rPr>
              <a:t>• Muestreo Intencional: </a:t>
            </a:r>
            <a:r>
              <a:rPr sz="1050">
                <a:solidFill>
                  <a:srgbClr val="1E293B"/>
                </a:solidFill>
                <a:latin typeface="Calibri"/>
              </a:rPr>
              <a:t>Diversidad de saberes: masoterapia, fitoterapia, quiropraxia y medicina tradicional en Estelí.</a:t>
            </a:r>
          </a:p>
          <a:p>
            <a:pPr>
              <a:spcAft>
                <a:spcPts val="900"/>
              </a:spcAft>
            </a:pPr>
            <a:r>
              <a:rPr b="1" sz="1100">
                <a:solidFill>
                  <a:srgbClr val="0F172A"/>
                </a:solidFill>
                <a:latin typeface="Calibri"/>
              </a:rPr>
              <a:t>• Criterio Inclusión: </a:t>
            </a:r>
            <a:r>
              <a:rPr sz="1050">
                <a:solidFill>
                  <a:srgbClr val="1E293B"/>
                </a:solidFill>
                <a:latin typeface="Calibri"/>
              </a:rPr>
              <a:t>Práctica activa continua mayor a 5 años en el municipio de Estelí con clientela establecida.</a:t>
            </a:r>
          </a:p>
          <a:p>
            <a:pPr>
              <a:spcAft>
                <a:spcPts val="900"/>
              </a:spcAft>
            </a:pPr>
            <a:r>
              <a:rPr b="1" sz="1100">
                <a:solidFill>
                  <a:srgbClr val="0F172A"/>
                </a:solidFill>
                <a:latin typeface="Calibri"/>
              </a:rPr>
              <a:t>• Criterio Exclusión: </a:t>
            </a:r>
            <a:r>
              <a:rPr sz="1050">
                <a:solidFill>
                  <a:srgbClr val="1E293B"/>
                </a:solidFill>
                <a:latin typeface="Calibri"/>
              </a:rPr>
              <a:t>Comercializadores ambulantes sin arraigo comunitario reconocido.</a:t>
            </a:r>
          </a:p>
        </p:txBody>
      </p:sp>
      <p:sp>
        <p:nvSpPr>
          <p:cNvPr id="9" name="TextBox 8"/>
          <p:cNvSpPr txBox="1"/>
          <p:nvPr/>
        </p:nvSpPr>
        <p:spPr>
          <a:xfrm>
            <a:off x="8183879" y="1691640"/>
            <a:ext cx="3337560" cy="4480560"/>
          </a:xfrm>
          <a:prstGeom prst="rect">
            <a:avLst/>
          </a:prstGeom>
          <a:noFill/>
        </p:spPr>
        <p:txBody>
          <a:bodyPr wrap="square" lIns="0" rIns="0" tIns="0" bIns="0">
            <a:spAutoFit/>
          </a:bodyPr>
          <a:lstStyle/>
          <a:p>
            <a:pPr>
              <a:spcAft>
                <a:spcPts val="200"/>
              </a:spcAft>
              <a:defRPr b="1" sz="3600">
                <a:solidFill>
                  <a:srgbClr val="2563EB"/>
                </a:solidFill>
                <a:latin typeface="Cambria"/>
              </a:defRPr>
            </a:pPr>
            <a:r>
              <a:t>n = 9</a:t>
            </a:r>
          </a:p>
          <a:p>
            <a:pPr>
              <a:spcAft>
                <a:spcPts val="1200"/>
              </a:spcAft>
              <a:defRPr b="1" sz="1200">
                <a:solidFill>
                  <a:srgbClr val="0F172A"/>
                </a:solidFill>
                <a:latin typeface="Calibri"/>
              </a:defRPr>
            </a:pPr>
            <a:r>
              <a:t>DOCENTES</a:t>
            </a:r>
          </a:p>
          <a:p>
            <a:pPr>
              <a:spcAft>
                <a:spcPts val="900"/>
              </a:spcAft>
            </a:pPr>
            <a:r>
              <a:rPr b="1" sz="1100">
                <a:solidFill>
                  <a:srgbClr val="0F172A"/>
                </a:solidFill>
                <a:latin typeface="Calibri"/>
              </a:rPr>
              <a:t>• Claustro de Psicología: </a:t>
            </a:r>
            <a:r>
              <a:rPr sz="1050">
                <a:solidFill>
                  <a:srgbClr val="1E293B"/>
                </a:solidFill>
                <a:latin typeface="Calibri"/>
              </a:rPr>
              <a:t>Docentes con grado de Licenciatura y Maestría en áreas clínicas, comunitarias y metodológicas.</a:t>
            </a:r>
          </a:p>
          <a:p>
            <a:pPr>
              <a:spcAft>
                <a:spcPts val="900"/>
              </a:spcAft>
            </a:pPr>
            <a:r>
              <a:rPr b="1" sz="1100">
                <a:solidFill>
                  <a:srgbClr val="0F172A"/>
                </a:solidFill>
                <a:latin typeface="Calibri"/>
              </a:rPr>
              <a:t>• Criterio Inclusión: </a:t>
            </a:r>
            <a:r>
              <a:rPr sz="1050">
                <a:solidFill>
                  <a:srgbClr val="1E293B"/>
                </a:solidFill>
                <a:latin typeface="Calibri"/>
              </a:rPr>
              <a:t>Docencia activa en el CUR-Estelí y experiencia en supervisión de prácticas formativas.</a:t>
            </a:r>
          </a:p>
          <a:p>
            <a:pPr>
              <a:spcAft>
                <a:spcPts val="900"/>
              </a:spcAft>
            </a:pPr>
            <a:r>
              <a:rPr b="1" sz="1100">
                <a:solidFill>
                  <a:srgbClr val="0F172A"/>
                </a:solidFill>
                <a:latin typeface="Calibri"/>
              </a:rPr>
              <a:t>• Criterio Exclusión: </a:t>
            </a:r>
            <a:r>
              <a:rPr sz="1050">
                <a:solidFill>
                  <a:srgbClr val="1E293B"/>
                </a:solidFill>
                <a:latin typeface="Calibri"/>
              </a:rPr>
              <a:t>Docentes de otras disciplinas no vinculadas a la carrera de Psicología.</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IV • RESULTADOS EN ESTUDIANTES (1/2)</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Perfil Sociodemográfico y Grado de Dominio Conceptual y Normativo</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10 / 17</a:t>
            </a:r>
          </a:p>
        </p:txBody>
      </p:sp>
      <p:pic>
        <p:nvPicPr>
          <p:cNvPr id="7" name="Picture 6" descr="figura_04_dominio_conceptual_normativo_estudiantes.png"/>
          <p:cNvPicPr>
            <a:picLocks noChangeAspect="1"/>
          </p:cNvPicPr>
          <p:nvPr/>
        </p:nvPicPr>
        <p:blipFill>
          <a:blip r:embed="rId3"/>
          <a:stretch>
            <a:fillRect/>
          </a:stretch>
        </p:blipFill>
        <p:spPr>
          <a:xfrm>
            <a:off x="777240" y="1600200"/>
            <a:ext cx="5669280" cy="2806007"/>
          </a:xfrm>
          <a:prstGeom prst="rect">
            <a:avLst/>
          </a:prstGeom>
        </p:spPr>
      </p:pic>
      <p:sp>
        <p:nvSpPr>
          <p:cNvPr id="8" name="TextBox 7"/>
          <p:cNvSpPr txBox="1"/>
          <p:nvPr/>
        </p:nvSpPr>
        <p:spPr>
          <a:xfrm>
            <a:off x="6720840" y="1600200"/>
            <a:ext cx="4663440" cy="4663440"/>
          </a:xfrm>
          <a:prstGeom prst="rect">
            <a:avLst/>
          </a:prstGeom>
          <a:noFill/>
        </p:spPr>
        <p:txBody>
          <a:bodyPr wrap="square" lIns="0" rIns="0" tIns="0" bIns="0">
            <a:spAutoFit/>
          </a:bodyPr>
          <a:lstStyle/>
          <a:p>
            <a:pPr>
              <a:spcAft>
                <a:spcPts val="1200"/>
              </a:spcAft>
              <a:defRPr b="1" sz="1400">
                <a:solidFill>
                  <a:srgbClr val="0F172A"/>
                </a:solidFill>
                <a:latin typeface="Cambria"/>
              </a:defRPr>
            </a:pPr>
            <a:r>
              <a:t>Hallazgos en la Muestra Estudiantil (n = 68)</a:t>
            </a:r>
          </a:p>
          <a:p>
            <a:pPr>
              <a:spcAft>
                <a:spcPts val="800"/>
              </a:spcAft>
            </a:pPr>
            <a:r>
              <a:rPr b="1" sz="1100">
                <a:solidFill>
                  <a:srgbClr val="0D9488"/>
                </a:solidFill>
                <a:latin typeface="Calibri"/>
              </a:rPr>
              <a:t>✦ Perfil Demográfico Consolidado:
</a:t>
            </a:r>
            <a:r>
              <a:rPr sz="1050">
                <a:solidFill>
                  <a:srgbClr val="1E293B"/>
                </a:solidFill>
                <a:latin typeface="Calibri"/>
              </a:rPr>
              <a:t>Marcada feminización (82.4% mujeres, n = 56) y concentración en adultos jóvenes de 20 a 22 años (61.8%). El 77.9% cursa 4.º año enfrentando el inicio de la práctica clínica supervisada.</a:t>
            </a:r>
          </a:p>
          <a:p>
            <a:pPr>
              <a:spcAft>
                <a:spcPts val="800"/>
              </a:spcAft>
            </a:pPr>
            <a:r>
              <a:rPr b="1" sz="1100">
                <a:solidFill>
                  <a:srgbClr val="0D9488"/>
                </a:solidFill>
                <a:latin typeface="Calibri"/>
              </a:rPr>
              <a:t>✦ Acierto Conceptual Técnico (67.6%):
</a:t>
            </a:r>
            <a:r>
              <a:rPr sz="1050">
                <a:solidFill>
                  <a:srgbClr val="1E293B"/>
                </a:solidFill>
                <a:latin typeface="Calibri"/>
              </a:rPr>
              <a:t>La mayoría identifica correctamente la definición de MTCI de la OMS, reconociéndola como saberes de salud integral; no obstante, el 75.0% declara familiaridad práctica baja o nula.</a:t>
            </a:r>
          </a:p>
          <a:p>
            <a:pPr>
              <a:spcAft>
                <a:spcPts val="800"/>
              </a:spcAft>
            </a:pPr>
            <a:r>
              <a:rPr b="1" sz="1100">
                <a:solidFill>
                  <a:srgbClr val="0D9488"/>
                </a:solidFill>
                <a:latin typeface="Calibri"/>
              </a:rPr>
              <a:t>✦ Brecha Normativa Ley No. 774 (58.8%):
</a:t>
            </a:r>
            <a:r>
              <a:rPr sz="1050">
                <a:solidFill>
                  <a:srgbClr val="1E293B"/>
                </a:solidFill>
                <a:latin typeface="Calibri"/>
              </a:rPr>
              <a:t>El 58.8% desconoce el propósito integrador de la ley de medicina natural o sostiene concepciones distorsionadas sobre su alcance en el sistema de salud.</a:t>
            </a:r>
          </a:p>
          <a:p>
            <a:pPr>
              <a:spcAft>
                <a:spcPts val="800"/>
              </a:spcAft>
            </a:pPr>
            <a:r>
              <a:rPr b="1" sz="1100">
                <a:solidFill>
                  <a:srgbClr val="0D9488"/>
                </a:solidFill>
                <a:latin typeface="Calibri"/>
              </a:rPr>
              <a:t>✦ Vacío Legal Crítico Ley No. 292 (64.7%):
</a:t>
            </a:r>
            <a:r>
              <a:rPr sz="1050">
                <a:solidFill>
                  <a:srgbClr val="1E293B"/>
                </a:solidFill>
                <a:latin typeface="Calibri"/>
              </a:rPr>
              <a:t>Apenas el 35.3% reconoce con precisión la inhabilitación taxativa del psicólogo para prescribir fármacos, evidenciando una urgente necesidad de formación deontológica.</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IV • RESULTADOS EN ESTUDIANTES (2/2)</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Frecuencia de Uso, Bienestar Percibido y Brecha Formativa (OE1)</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11 / 17</a:t>
            </a:r>
          </a:p>
        </p:txBody>
      </p:sp>
      <p:sp>
        <p:nvSpPr>
          <p:cNvPr id="7" name="TextBox 6"/>
          <p:cNvSpPr txBox="1"/>
          <p:nvPr/>
        </p:nvSpPr>
        <p:spPr>
          <a:xfrm>
            <a:off x="777240" y="1600200"/>
            <a:ext cx="4389120" cy="4663440"/>
          </a:xfrm>
          <a:prstGeom prst="rect">
            <a:avLst/>
          </a:prstGeom>
          <a:noFill/>
        </p:spPr>
        <p:txBody>
          <a:bodyPr wrap="square" lIns="0" rIns="0" tIns="0" bIns="0">
            <a:spAutoFit/>
          </a:bodyPr>
          <a:lstStyle/>
          <a:p>
            <a:pPr>
              <a:defRPr b="1" sz="3600">
                <a:solidFill>
                  <a:srgbClr val="0D9488"/>
                </a:solidFill>
                <a:latin typeface="Cambria"/>
              </a:defRPr>
            </a:pPr>
            <a:r>
              <a:t>89.7%</a:t>
            </a:r>
          </a:p>
          <a:p>
            <a:pPr>
              <a:defRPr b="1" sz="1150">
                <a:solidFill>
                  <a:srgbClr val="0F172A"/>
                </a:solidFill>
                <a:latin typeface="Calibri"/>
              </a:defRPr>
            </a:pPr>
            <a:r>
              <a:t>Pertinencia Clínica Asistencial</a:t>
            </a:r>
          </a:p>
          <a:p>
            <a:pPr>
              <a:spcAft>
                <a:spcPts val="1000"/>
              </a:spcAft>
              <a:defRPr sz="1050">
                <a:solidFill>
                  <a:srgbClr val="1E293B"/>
                </a:solidFill>
                <a:latin typeface="Calibri"/>
              </a:defRPr>
            </a:pPr>
            <a:r>
              <a:t>Considera necesario y conveniente incorporar la MTCI como complemento en el ejercicio de la psicología.</a:t>
            </a:r>
          </a:p>
          <a:p>
            <a:pPr>
              <a:defRPr b="1" sz="3600">
                <a:solidFill>
                  <a:srgbClr val="DC2626"/>
                </a:solidFill>
                <a:latin typeface="Cambria"/>
              </a:defRPr>
            </a:pPr>
            <a:r>
              <a:t>88.2%</a:t>
            </a:r>
          </a:p>
          <a:p>
            <a:pPr>
              <a:defRPr b="1" sz="1150">
                <a:solidFill>
                  <a:srgbClr val="0F172A"/>
                </a:solidFill>
                <a:latin typeface="Calibri"/>
              </a:defRPr>
            </a:pPr>
            <a:r>
              <a:t>Preparación Insuficiente para Derivación</a:t>
            </a:r>
          </a:p>
          <a:p>
            <a:pPr>
              <a:spcAft>
                <a:spcPts val="1000"/>
              </a:spcAft>
              <a:defRPr sz="1050">
                <a:solidFill>
                  <a:srgbClr val="1E293B"/>
                </a:solidFill>
                <a:latin typeface="Calibri"/>
              </a:defRPr>
            </a:pPr>
            <a:r>
              <a:t>Reconoce poseer preparación nula o insuficiente para derivar pacientes hacia facilitadores autorizados.</a:t>
            </a:r>
          </a:p>
          <a:p>
            <a:pPr>
              <a:defRPr b="1" sz="3600">
                <a:solidFill>
                  <a:srgbClr val="D97706"/>
                </a:solidFill>
                <a:latin typeface="Cambria"/>
              </a:defRPr>
            </a:pPr>
            <a:r>
              <a:t>86.8%</a:t>
            </a:r>
          </a:p>
          <a:p>
            <a:pPr>
              <a:defRPr b="1" sz="1150">
                <a:solidFill>
                  <a:srgbClr val="0F172A"/>
                </a:solidFill>
                <a:latin typeface="Calibri"/>
              </a:defRPr>
            </a:pPr>
            <a:r>
              <a:t>Preparación Insuficiente para Psicoeducación</a:t>
            </a:r>
          </a:p>
          <a:p>
            <a:pPr>
              <a:spcAft>
                <a:spcPts val="1000"/>
              </a:spcAft>
              <a:defRPr sz="1050">
                <a:solidFill>
                  <a:srgbClr val="1E293B"/>
                </a:solidFill>
                <a:latin typeface="Calibri"/>
              </a:defRPr>
            </a:pPr>
            <a:r>
              <a:t>Autopercibe competencias nulas o insuficientes para orientar a consultantes sobre el uso de terapias tradicionales.</a:t>
            </a:r>
          </a:p>
        </p:txBody>
      </p:sp>
      <p:pic>
        <p:nvPicPr>
          <p:cNvPr id="8" name="Picture 7" descr="figura_07_frecuencia_uso_estudiantes.png"/>
          <p:cNvPicPr>
            <a:picLocks noChangeAspect="1"/>
          </p:cNvPicPr>
          <p:nvPr/>
        </p:nvPicPr>
        <p:blipFill>
          <a:blip r:embed="rId3"/>
          <a:stretch>
            <a:fillRect/>
          </a:stretch>
        </p:blipFill>
        <p:spPr>
          <a:xfrm>
            <a:off x="5486400" y="1600200"/>
            <a:ext cx="5852160" cy="2367011"/>
          </a:xfrm>
          <a:prstGeom prst="rect">
            <a:avLst/>
          </a:prstGeom>
        </p:spPr>
      </p:pic>
      <p:sp>
        <p:nvSpPr>
          <p:cNvPr id="9" name="TextBox 8"/>
          <p:cNvSpPr txBox="1"/>
          <p:nvPr/>
        </p:nvSpPr>
        <p:spPr>
          <a:xfrm>
            <a:off x="5486400" y="5029200"/>
            <a:ext cx="5852160" cy="1280160"/>
          </a:xfrm>
          <a:prstGeom prst="rect">
            <a:avLst/>
          </a:prstGeom>
          <a:noFill/>
        </p:spPr>
        <p:txBody>
          <a:bodyPr wrap="square" lIns="0" rIns="0" tIns="0" bIns="0">
            <a:spAutoFit/>
          </a:bodyPr>
          <a:lstStyle/>
          <a:p>
            <a:pPr>
              <a:spcAft>
                <a:spcPts val="300"/>
              </a:spcAft>
              <a:defRPr b="1" sz="1100">
                <a:solidFill>
                  <a:srgbClr val="0F172A"/>
                </a:solidFill>
                <a:latin typeface="Calibri"/>
              </a:defRPr>
            </a:pPr>
            <a:r>
              <a:t>Uso Personal Reactivo y Efectos en el Bienestar:</a:t>
            </a:r>
          </a:p>
          <a:p>
            <a:pPr>
              <a:defRPr sz="1050">
                <a:solidFill>
                  <a:srgbClr val="1E293B"/>
                </a:solidFill>
                <a:latin typeface="Calibri"/>
              </a:defRPr>
            </a:pPr>
            <a:r>
              <a:t>• Carácter Reactivo: 52.9% no utiliza MTCI de forma preventiva regular; acuden solo ante sobrecarga académica.</a:t>
            </a:r>
            <a:br/>
            <a:r>
              <a:t>• Eficacia en Usuarios (n = 30): 86.7% reporta alivio muscular y serenidad; 0.0% reporta efectos adversos.</a:t>
            </a:r>
          </a:p>
        </p:txBody>
      </p:sp>
    </p:spTree>
  </p:cSld>
  <p:clrMapOvr>
    <a:masterClrMapping/>
  </p:clrMapOvr>
  <p:transition spd="med"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IV • RESULTADOS EN FACILITADORES LOCALES</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Modalidades Terapéuticas, Eficacia Somática y Barreras en Estelí (OE2)</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12 / 17</a:t>
            </a:r>
          </a:p>
        </p:txBody>
      </p:sp>
      <p:pic>
        <p:nvPicPr>
          <p:cNvPr id="7" name="Picture 6" descr="figura_12_practicas_actores_locales.png"/>
          <p:cNvPicPr>
            <a:picLocks noChangeAspect="1"/>
          </p:cNvPicPr>
          <p:nvPr/>
        </p:nvPicPr>
        <p:blipFill>
          <a:blip r:embed="rId3"/>
          <a:stretch>
            <a:fillRect/>
          </a:stretch>
        </p:blipFill>
        <p:spPr>
          <a:xfrm>
            <a:off x="777240" y="1600200"/>
            <a:ext cx="5303520" cy="2764601"/>
          </a:xfrm>
          <a:prstGeom prst="rect">
            <a:avLst/>
          </a:prstGeom>
        </p:spPr>
      </p:pic>
      <p:pic>
        <p:nvPicPr>
          <p:cNvPr id="8" name="Picture 7" descr="figura_14_apertura_emocional_usuarios_actores.png"/>
          <p:cNvPicPr>
            <a:picLocks noChangeAspect="1"/>
          </p:cNvPicPr>
          <p:nvPr/>
        </p:nvPicPr>
        <p:blipFill>
          <a:blip r:embed="rId4"/>
          <a:stretch>
            <a:fillRect/>
          </a:stretch>
        </p:blipFill>
        <p:spPr>
          <a:xfrm>
            <a:off x="6583680" y="1600200"/>
            <a:ext cx="2926080" cy="2129938"/>
          </a:xfrm>
          <a:prstGeom prst="rect">
            <a:avLst/>
          </a:prstGeom>
        </p:spPr>
      </p:pic>
      <p:sp>
        <p:nvSpPr>
          <p:cNvPr id="9" name="TextBox 8"/>
          <p:cNvSpPr txBox="1"/>
          <p:nvPr/>
        </p:nvSpPr>
        <p:spPr>
          <a:xfrm>
            <a:off x="6400800" y="4114800"/>
            <a:ext cx="5029200" cy="2103120"/>
          </a:xfrm>
          <a:prstGeom prst="rect">
            <a:avLst/>
          </a:prstGeom>
          <a:noFill/>
        </p:spPr>
        <p:txBody>
          <a:bodyPr wrap="square" lIns="0" rIns="0" tIns="0" bIns="0">
            <a:spAutoFit/>
          </a:bodyPr>
          <a:lstStyle/>
          <a:p>
            <a:pPr>
              <a:spcAft>
                <a:spcPts val="400"/>
              </a:spcAft>
              <a:defRPr b="1" sz="1100">
                <a:solidFill>
                  <a:srgbClr val="0F172A"/>
                </a:solidFill>
                <a:latin typeface="Calibri"/>
              </a:defRPr>
            </a:pPr>
            <a:r>
              <a:t>Hallazgos Empíricos en Facilitadores de Estelí (n = 9):</a:t>
            </a:r>
          </a:p>
          <a:p>
            <a:pPr>
              <a:spcAft>
                <a:spcPts val="300"/>
              </a:spcAft>
            </a:pPr>
            <a:r>
              <a:rPr b="1" sz="1000">
                <a:solidFill>
                  <a:srgbClr val="0D9488"/>
                </a:solidFill>
                <a:latin typeface="Calibri"/>
              </a:rPr>
              <a:t>✦ 100% Alivio de Estrés Somático: </a:t>
            </a:r>
            <a:r>
              <a:rPr sz="950">
                <a:solidFill>
                  <a:srgbClr val="1E293B"/>
                </a:solidFill>
                <a:latin typeface="Calibri"/>
              </a:rPr>
              <a:t>Constatan descompresión miofascial inmediata y recuperación de calma psicofisiológica en consultantes.</a:t>
            </a:r>
          </a:p>
          <a:p>
            <a:pPr>
              <a:spcAft>
                <a:spcPts val="300"/>
              </a:spcAft>
            </a:pPr>
            <a:r>
              <a:rPr b="1" sz="1000">
                <a:solidFill>
                  <a:srgbClr val="0D9488"/>
                </a:solidFill>
                <a:latin typeface="Calibri"/>
              </a:rPr>
              <a:t>✦ 88.9% Apertura Emocional: </a:t>
            </a:r>
            <a:r>
              <a:rPr sz="950">
                <a:solidFill>
                  <a:srgbClr val="1E293B"/>
                </a:solidFill>
                <a:latin typeface="Calibri"/>
              </a:rPr>
              <a:t>El desbloqueo corporal incrementa la receptividad reflexiva y facilita el diálogo terapéutico posterior.</a:t>
            </a:r>
          </a:p>
          <a:p>
            <a:pPr>
              <a:spcAft>
                <a:spcPts val="300"/>
              </a:spcAft>
            </a:pPr>
            <a:r>
              <a:rPr b="1" sz="1000">
                <a:solidFill>
                  <a:srgbClr val="0D9488"/>
                </a:solidFill>
                <a:latin typeface="Calibri"/>
              </a:rPr>
              <a:t>✦ Inocuidad Percibida (100%): </a:t>
            </a:r>
            <a:r>
              <a:rPr sz="950">
                <a:solidFill>
                  <a:srgbClr val="1E293B"/>
                </a:solidFill>
                <a:latin typeface="Calibri"/>
              </a:rPr>
              <a:t>Cero reporte de reacciones adversas o crisis emocionales iatrogénicas en los consultorios.</a:t>
            </a:r>
          </a:p>
          <a:p>
            <a:pPr>
              <a:spcAft>
                <a:spcPts val="300"/>
              </a:spcAft>
            </a:pPr>
            <a:r>
              <a:rPr b="1" sz="1000">
                <a:solidFill>
                  <a:srgbClr val="0D9488"/>
                </a:solidFill>
                <a:latin typeface="Calibri"/>
              </a:rPr>
              <a:t>✦ Barreras Socioculturales y Económicas: </a:t>
            </a:r>
            <a:r>
              <a:rPr sz="950">
                <a:solidFill>
                  <a:srgbClr val="1E293B"/>
                </a:solidFill>
                <a:latin typeface="Calibri"/>
              </a:rPr>
              <a:t>El 77.8% enfrenta ocasionalmente reservas religiosas y el 77.8% señala que la falta de recursos interrumpe el tratamiento.</a:t>
            </a:r>
          </a:p>
        </p:txBody>
      </p:sp>
    </p:spTree>
  </p:cSld>
  <p:clrMapOvr>
    <a:masterClrMapping/>
  </p:clrMapOvr>
  <p:transition spd="med"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IV • RESULTADOS EN EL CLAUSTRO DOCENTE</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Estrategias Pedagógicas, Didáctica Vivencial y Consenso Ético (OE3)</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13 / 17</a:t>
            </a:r>
          </a:p>
        </p:txBody>
      </p:sp>
      <p:pic>
        <p:nvPicPr>
          <p:cNvPr id="7" name="Picture 6" descr="figura_24_estrategias_academicas_docentes.png"/>
          <p:cNvPicPr>
            <a:picLocks noChangeAspect="1"/>
          </p:cNvPicPr>
          <p:nvPr/>
        </p:nvPicPr>
        <p:blipFill>
          <a:blip r:embed="rId3"/>
          <a:stretch>
            <a:fillRect/>
          </a:stretch>
        </p:blipFill>
        <p:spPr>
          <a:xfrm>
            <a:off x="777240" y="1600200"/>
            <a:ext cx="5212080" cy="2503264"/>
          </a:xfrm>
          <a:prstGeom prst="rect">
            <a:avLst/>
          </a:prstGeom>
        </p:spPr>
      </p:pic>
      <p:pic>
        <p:nvPicPr>
          <p:cNvPr id="8" name="Picture 7" descr="figura_25_experiencias_favorables_docentes.png"/>
          <p:cNvPicPr>
            <a:picLocks noChangeAspect="1"/>
          </p:cNvPicPr>
          <p:nvPr/>
        </p:nvPicPr>
        <p:blipFill>
          <a:blip r:embed="rId4"/>
          <a:stretch>
            <a:fillRect/>
          </a:stretch>
        </p:blipFill>
        <p:spPr>
          <a:xfrm>
            <a:off x="6309360" y="1600200"/>
            <a:ext cx="5120640" cy="2444077"/>
          </a:xfrm>
          <a:prstGeom prst="rect">
            <a:avLst/>
          </a:prstGeom>
        </p:spPr>
      </p:pic>
      <p:sp>
        <p:nvSpPr>
          <p:cNvPr id="9" name="TextBox 8"/>
          <p:cNvSpPr txBox="1"/>
          <p:nvPr/>
        </p:nvSpPr>
        <p:spPr>
          <a:xfrm>
            <a:off x="777240" y="4892040"/>
            <a:ext cx="10607040" cy="1371600"/>
          </a:xfrm>
          <a:prstGeom prst="rect">
            <a:avLst/>
          </a:prstGeom>
          <a:noFill/>
        </p:spPr>
        <p:txBody>
          <a:bodyPr wrap="square" lIns="0" rIns="0" tIns="0" bIns="0">
            <a:spAutoFit/>
          </a:bodyPr>
          <a:lstStyle/>
          <a:p>
            <a:pPr>
              <a:spcAft>
                <a:spcPts val="400"/>
              </a:spcAft>
              <a:defRPr b="1" sz="1100">
                <a:solidFill>
                  <a:srgbClr val="2563EB"/>
                </a:solidFill>
                <a:latin typeface="Calibri"/>
              </a:defRPr>
            </a:pPr>
            <a:r>
              <a:t>Criterios Rectores del Claustro Docente de Psicología (n = 9):</a:t>
            </a:r>
          </a:p>
          <a:p>
            <a:pPr>
              <a:spcAft>
                <a:spcPts val="200"/>
              </a:spcAft>
              <a:defRPr sz="1050">
                <a:solidFill>
                  <a:srgbClr val="1E293B"/>
                </a:solidFill>
                <a:latin typeface="Calibri"/>
              </a:defRPr>
            </a:pPr>
            <a:r>
              <a:t>• 100.0% Respaldo Curricular: Apoyo unánime a la incorporación transversal de la MTCI bajo un enfoque científico y no prescriptivo.</a:t>
            </a:r>
          </a:p>
          <a:p>
            <a:pPr>
              <a:spcAft>
                <a:spcPts val="200"/>
              </a:spcAft>
              <a:defRPr sz="1050">
                <a:solidFill>
                  <a:srgbClr val="1E293B"/>
                </a:solidFill>
                <a:latin typeface="Calibri"/>
              </a:defRPr>
            </a:pPr>
            <a:r>
              <a:t>• Pedagogía Vivencial (88.9%): Priorizan talleres de autorregulación somática y descartaron la enseñanza puramente teórica o abstracta.</a:t>
            </a:r>
          </a:p>
          <a:p>
            <a:pPr>
              <a:spcAft>
                <a:spcPts val="200"/>
              </a:spcAft>
              <a:defRPr sz="1050">
                <a:solidFill>
                  <a:srgbClr val="1E293B"/>
                </a:solidFill>
                <a:latin typeface="Calibri"/>
              </a:defRPr>
            </a:pPr>
            <a:r>
              <a:t>• Vinculación Territorial (77.8%): Respaldan intercambios directos con facilitadores tradicionales y visitas a centros MINSA (66.7%).</a:t>
            </a:r>
          </a:p>
          <a:p>
            <a:pPr>
              <a:spcAft>
                <a:spcPts val="200"/>
              </a:spcAft>
              <a:defRPr sz="1050">
                <a:solidFill>
                  <a:srgbClr val="1E293B"/>
                </a:solidFill>
                <a:latin typeface="Calibri"/>
              </a:defRPr>
            </a:pPr>
            <a:r>
              <a:t>• Demanda Institucional: 77.8% del profesorado solicita capacitación continua en neurobiología somática y la creación de un Comité de Bioética.</a:t>
            </a:r>
          </a:p>
        </p:txBody>
      </p:sp>
    </p:spTree>
  </p:cSld>
  <p:clrMapOvr>
    <a:masterClrMapping/>
  </p:clrMapOvr>
  <p:transition spd="med"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V • PROPUESTA DE INTERVENCIÓN (OE3)</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Manual de Estrategias de MTCI para la Formación y Práctica Psicológica</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14 / 17</a:t>
            </a:r>
          </a:p>
        </p:txBody>
      </p:sp>
      <p:pic>
        <p:nvPicPr>
          <p:cNvPr id="7" name="Picture 6" descr="portada_manual.jpg"/>
          <p:cNvPicPr>
            <a:picLocks noChangeAspect="1"/>
          </p:cNvPicPr>
          <p:nvPr/>
        </p:nvPicPr>
        <p:blipFill>
          <a:blip r:embed="rId3"/>
          <a:stretch>
            <a:fillRect/>
          </a:stretch>
        </p:blipFill>
        <p:spPr>
          <a:xfrm>
            <a:off x="777240" y="1645920"/>
            <a:ext cx="3474720" cy="2456193"/>
          </a:xfrm>
          <a:prstGeom prst="rect">
            <a:avLst/>
          </a:prstGeom>
        </p:spPr>
      </p:pic>
      <p:sp>
        <p:nvSpPr>
          <p:cNvPr id="8" name="TextBox 7"/>
          <p:cNvSpPr txBox="1"/>
          <p:nvPr/>
        </p:nvSpPr>
        <p:spPr>
          <a:xfrm>
            <a:off x="777240" y="3931920"/>
            <a:ext cx="3474720" cy="2286000"/>
          </a:xfrm>
          <a:prstGeom prst="rect">
            <a:avLst/>
          </a:prstGeom>
          <a:noFill/>
        </p:spPr>
        <p:txBody>
          <a:bodyPr wrap="square" lIns="0" rIns="0" tIns="0" bIns="0">
            <a:spAutoFit/>
          </a:bodyPr>
          <a:lstStyle/>
          <a:p>
            <a:pPr>
              <a:spcAft>
                <a:spcPts val="400"/>
              </a:spcAft>
              <a:defRPr b="1" sz="1000">
                <a:solidFill>
                  <a:srgbClr val="0D9488"/>
                </a:solidFill>
                <a:latin typeface="Calibri"/>
              </a:defRPr>
            </a:pPr>
            <a:r>
              <a:t>FICHA TÉCNICA DEL MANUAL (ANEXO 16.2)</a:t>
            </a:r>
          </a:p>
          <a:p>
            <a:pPr>
              <a:spcAft>
                <a:spcPts val="300"/>
              </a:spcAft>
              <a:defRPr sz="1000">
                <a:solidFill>
                  <a:srgbClr val="1E293B"/>
                </a:solidFill>
                <a:latin typeface="Calibri"/>
              </a:defRPr>
            </a:pPr>
            <a:r>
              <a:t>• Extensión: 18 páginas in extenso (Capítulo 16, Anexo 16.2).</a:t>
            </a:r>
          </a:p>
          <a:p>
            <a:pPr>
              <a:spcAft>
                <a:spcPts val="300"/>
              </a:spcAft>
              <a:defRPr sz="1000">
                <a:solidFill>
                  <a:srgbClr val="1E293B"/>
                </a:solidFill>
                <a:latin typeface="Calibri"/>
              </a:defRPr>
            </a:pPr>
            <a:r>
              <a:t>• Destinatarios: Estudiantes y docentes de la Clínica Psicosocial.</a:t>
            </a:r>
          </a:p>
          <a:p>
            <a:pPr>
              <a:spcAft>
                <a:spcPts val="300"/>
              </a:spcAft>
              <a:defRPr sz="1000">
                <a:solidFill>
                  <a:srgbClr val="1E293B"/>
                </a:solidFill>
                <a:latin typeface="Calibri"/>
              </a:defRPr>
            </a:pPr>
            <a:r>
              <a:t>• Propósito: Dotar de discernimiento bioético para orientar y derivar, sin habilitar como terapeutas alternativos.</a:t>
            </a:r>
          </a:p>
          <a:p>
            <a:pPr>
              <a:spcAft>
                <a:spcPts val="300"/>
              </a:spcAft>
              <a:defRPr sz="1000">
                <a:solidFill>
                  <a:srgbClr val="1E293B"/>
                </a:solidFill>
                <a:latin typeface="Calibri"/>
              </a:defRPr>
            </a:pPr>
            <a:r>
              <a:t>• Instrumento Anexo: Cuestionario I-CAM-Q adaptado transculturalmente para tamizaje clínico en Nicaragua.</a:t>
            </a:r>
          </a:p>
        </p:txBody>
      </p:sp>
      <p:sp>
        <p:nvSpPr>
          <p:cNvPr id="9" name="Rectangle 8"/>
          <p:cNvSpPr/>
          <p:nvPr/>
        </p:nvSpPr>
        <p:spPr>
          <a:xfrm>
            <a:off x="4480560" y="1737360"/>
            <a:ext cx="12700" cy="4297680"/>
          </a:xfrm>
          <a:prstGeom prst="rect">
            <a:avLst/>
          </a:prstGeom>
          <a:no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1645920"/>
            <a:ext cx="6675120" cy="4572000"/>
          </a:xfrm>
          <a:prstGeom prst="rect">
            <a:avLst/>
          </a:prstGeom>
          <a:noFill/>
        </p:spPr>
        <p:txBody>
          <a:bodyPr wrap="square" lIns="0" rIns="0" tIns="0" bIns="0">
            <a:spAutoFit/>
          </a:bodyPr>
          <a:lstStyle/>
          <a:p>
            <a:pPr>
              <a:spcAft>
                <a:spcPts val="1000"/>
              </a:spcAft>
              <a:defRPr b="1" sz="1400">
                <a:solidFill>
                  <a:srgbClr val="0F172A"/>
                </a:solidFill>
                <a:latin typeface="Cambria"/>
              </a:defRPr>
            </a:pPr>
            <a:r>
              <a:t>Estructura Modular del Manual (8 Módulos Temáticos)</a:t>
            </a:r>
          </a:p>
          <a:p>
            <a:pPr>
              <a:spcAft>
                <a:spcPts val="500"/>
              </a:spcAft>
            </a:pPr>
            <a:r>
              <a:rPr b="1" sz="1050">
                <a:solidFill>
                  <a:srgbClr val="D97706"/>
                </a:solidFill>
                <a:latin typeface="Calibri"/>
              </a:rPr>
              <a:t>Módulo 1 • Fundamentos y Marco Legal: </a:t>
            </a:r>
            <a:r>
              <a:rPr sz="1000">
                <a:solidFill>
                  <a:srgbClr val="1E293B"/>
                </a:solidFill>
                <a:latin typeface="Calibri"/>
              </a:rPr>
              <a:t>Definición OMS (2025) y articulación de Leyes 774, 759 y 292 de Nicaragua.</a:t>
            </a:r>
          </a:p>
          <a:p>
            <a:pPr>
              <a:spcAft>
                <a:spcPts val="500"/>
              </a:spcAft>
            </a:pPr>
            <a:r>
              <a:rPr b="1" sz="1050">
                <a:solidFill>
                  <a:srgbClr val="D97706"/>
                </a:solidFill>
                <a:latin typeface="Calibri"/>
              </a:rPr>
              <a:t>Módulo 2 • Principios Deontológicos: </a:t>
            </a:r>
            <a:r>
              <a:rPr sz="1000">
                <a:solidFill>
                  <a:srgbClr val="1E293B"/>
                </a:solidFill>
                <a:latin typeface="Calibri"/>
              </a:rPr>
              <a:t>Consentimiento informado intercultural y complementariedad sin sustitución médica.</a:t>
            </a:r>
          </a:p>
          <a:p>
            <a:pPr>
              <a:spcAft>
                <a:spcPts val="500"/>
              </a:spcAft>
            </a:pPr>
            <a:r>
              <a:rPr b="1" sz="1050">
                <a:solidFill>
                  <a:srgbClr val="D97706"/>
                </a:solidFill>
                <a:latin typeface="Calibri"/>
              </a:rPr>
              <a:t>Módulo 3 • Mapa Clínico de Prácticas: </a:t>
            </a:r>
            <a:r>
              <a:rPr sz="1000">
                <a:solidFill>
                  <a:srgbClr val="1E293B"/>
                </a:solidFill>
                <a:latin typeface="Calibri"/>
              </a:rPr>
              <a:t>Clasificación en 4 niveles: uso directo, psicoeducación, precaución y alerta.</a:t>
            </a:r>
          </a:p>
          <a:p>
            <a:pPr>
              <a:spcAft>
                <a:spcPts val="500"/>
              </a:spcAft>
            </a:pPr>
            <a:r>
              <a:rPr b="1" sz="1050">
                <a:solidFill>
                  <a:srgbClr val="D97706"/>
                </a:solidFill>
                <a:latin typeface="Calibri"/>
              </a:rPr>
              <a:t>Módulo 4 • Algoritmo de Derivación: </a:t>
            </a:r>
            <a:r>
              <a:rPr sz="1000">
                <a:solidFill>
                  <a:srgbClr val="1E293B"/>
                </a:solidFill>
                <a:latin typeface="Calibri"/>
              </a:rPr>
              <a:t>Protocolo secuencial de 4 pasos para derivación clínica informada.</a:t>
            </a:r>
          </a:p>
          <a:p>
            <a:pPr>
              <a:spcAft>
                <a:spcPts val="500"/>
              </a:spcAft>
            </a:pPr>
            <a:r>
              <a:rPr b="1" sz="1050">
                <a:solidFill>
                  <a:srgbClr val="D97706"/>
                </a:solidFill>
                <a:latin typeface="Calibri"/>
              </a:rPr>
              <a:t>Módulo 5 • Habilidades de Diálogo: </a:t>
            </a:r>
            <a:r>
              <a:rPr sz="1000">
                <a:solidFill>
                  <a:srgbClr val="1E293B"/>
                </a:solidFill>
                <a:latin typeface="Calibri"/>
              </a:rPr>
              <a:t>Técnicas de entrevista abierta para erradicar el ocultamiento terapéutico.</a:t>
            </a:r>
          </a:p>
          <a:p>
            <a:pPr>
              <a:spcAft>
                <a:spcPts val="500"/>
              </a:spcAft>
            </a:pPr>
            <a:r>
              <a:rPr b="1" sz="1050">
                <a:solidFill>
                  <a:srgbClr val="D97706"/>
                </a:solidFill>
                <a:latin typeface="Calibri"/>
              </a:rPr>
              <a:t>Módulo 6 • Red Intersectorial: </a:t>
            </a:r>
            <a:r>
              <a:rPr sz="1000">
                <a:solidFill>
                  <a:srgbClr val="1E293B"/>
                </a:solidFill>
                <a:latin typeface="Calibri"/>
              </a:rPr>
              <a:t>Criterios de referencia bidireccional y trabajo coordinado con facilitadores.</a:t>
            </a:r>
          </a:p>
          <a:p>
            <a:pPr>
              <a:spcAft>
                <a:spcPts val="500"/>
              </a:spcAft>
            </a:pPr>
            <a:r>
              <a:rPr b="1" sz="1050">
                <a:solidFill>
                  <a:srgbClr val="D97706"/>
                </a:solidFill>
                <a:latin typeface="Calibri"/>
              </a:rPr>
              <a:t>Módulo 7 • Ruta Pedagógica: </a:t>
            </a:r>
            <a:r>
              <a:rPr sz="1000">
                <a:solidFill>
                  <a:srgbClr val="1E293B"/>
                </a:solidFill>
                <a:latin typeface="Calibri"/>
              </a:rPr>
              <a:t>Secuencia de 3 etapas vivenciales y propuesta de asignatura electiva.</a:t>
            </a:r>
          </a:p>
          <a:p>
            <a:pPr>
              <a:spcAft>
                <a:spcPts val="500"/>
              </a:spcAft>
            </a:pPr>
            <a:r>
              <a:rPr b="1" sz="1050">
                <a:solidFill>
                  <a:srgbClr val="D97706"/>
                </a:solidFill>
                <a:latin typeface="Calibri"/>
              </a:rPr>
              <a:t>Módulo 8 • Soporte Institucional: </a:t>
            </a:r>
            <a:r>
              <a:rPr sz="1000">
                <a:solidFill>
                  <a:srgbClr val="1E293B"/>
                </a:solidFill>
                <a:latin typeface="Calibri"/>
              </a:rPr>
              <a:t>Creación del Comité de Bioética y plan de capacitación docente continua.</a:t>
            </a:r>
          </a:p>
        </p:txBody>
      </p:sp>
    </p:spTree>
  </p:cSld>
  <p:clrMapOvr>
    <a:masterClrMapping/>
  </p:clrMapOvr>
  <p:transition spd="med"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VI • CONCLUSIONES Y RECOMENDACIONES</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Conclusiones Centrales de la Investigación (Triangulación de Objetivos)</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15 / 17</a:t>
            </a:r>
          </a:p>
        </p:txBody>
      </p:sp>
      <p:sp>
        <p:nvSpPr>
          <p:cNvPr id="7" name="TextBox 6"/>
          <p:cNvSpPr txBox="1"/>
          <p:nvPr/>
        </p:nvSpPr>
        <p:spPr>
          <a:xfrm>
            <a:off x="777240" y="1645920"/>
            <a:ext cx="10607040" cy="4572000"/>
          </a:xfrm>
          <a:prstGeom prst="rect">
            <a:avLst/>
          </a:prstGeom>
          <a:noFill/>
        </p:spPr>
        <p:txBody>
          <a:bodyPr wrap="square" lIns="0" rIns="0" tIns="0" bIns="0">
            <a:spAutoFit/>
          </a:bodyPr>
          <a:lstStyle/>
          <a:p>
            <a:pPr>
              <a:spcAft>
                <a:spcPts val="1000"/>
              </a:spcAft>
            </a:pPr>
            <a:r>
              <a:rPr b="1" sz="1300">
                <a:solidFill>
                  <a:srgbClr val="0D9488"/>
                </a:solidFill>
                <a:latin typeface="Cambria"/>
              </a:rPr>
              <a:t>01  </a:t>
            </a:r>
            <a:r>
              <a:rPr b="1" sz="1150">
                <a:solidFill>
                  <a:srgbClr val="0F172A"/>
                </a:solidFill>
                <a:latin typeface="Calibri"/>
              </a:rPr>
              <a:t>Cumplimiento del Objetivo General: </a:t>
            </a:r>
            <a:r>
              <a:rPr sz="1100">
                <a:solidFill>
                  <a:srgbClr val="1E293B"/>
                </a:solidFill>
                <a:latin typeface="Calibri"/>
              </a:rPr>
              <a:t>Los tres colectivos investigados (N = 86) validan unánimemente a la MTCI como recurso complementario legítimo en salud mental, condicionado a un ejercicio bioético, científico y respetuoso de los límites profesionales.</a:t>
            </a:r>
          </a:p>
          <a:p>
            <a:pPr>
              <a:spcAft>
                <a:spcPts val="1000"/>
              </a:spcAft>
            </a:pPr>
            <a:r>
              <a:rPr b="1" sz="1300">
                <a:solidFill>
                  <a:srgbClr val="0D9488"/>
                </a:solidFill>
                <a:latin typeface="Cambria"/>
              </a:rPr>
              <a:t>02  </a:t>
            </a:r>
            <a:r>
              <a:rPr b="1" sz="1150">
                <a:solidFill>
                  <a:srgbClr val="0F172A"/>
                </a:solidFill>
                <a:latin typeface="Calibri"/>
              </a:rPr>
              <a:t>Brecha Formativa en Estudiantes (OE1): </a:t>
            </a:r>
            <a:r>
              <a:rPr sz="1100">
                <a:solidFill>
                  <a:srgbClr val="1E293B"/>
                </a:solidFill>
                <a:latin typeface="Calibri"/>
              </a:rPr>
              <a:t>El estudiantado posee buen dominio conceptual (67.6%) y alta satisfacción somática personal (86.7%), pero padece desinformación legal (58.8% desconoce Ley 774; 64.7% desconoce Ley 292) e inseguridad para derivar (88.2%).</a:t>
            </a:r>
          </a:p>
          <a:p>
            <a:pPr>
              <a:spcAft>
                <a:spcPts val="1000"/>
              </a:spcAft>
            </a:pPr>
            <a:r>
              <a:rPr b="1" sz="1300">
                <a:solidFill>
                  <a:srgbClr val="0D9488"/>
                </a:solidFill>
                <a:latin typeface="Cambria"/>
              </a:rPr>
              <a:t>03  </a:t>
            </a:r>
            <a:r>
              <a:rPr b="1" sz="1150">
                <a:solidFill>
                  <a:srgbClr val="0F172A"/>
                </a:solidFill>
                <a:latin typeface="Calibri"/>
              </a:rPr>
              <a:t>Aporte Somático de Facilitadores (OE2): </a:t>
            </a:r>
            <a:r>
              <a:rPr sz="1100">
                <a:solidFill>
                  <a:srgbClr val="1E293B"/>
                </a:solidFill>
                <a:latin typeface="Calibri"/>
              </a:rPr>
              <a:t>Los terapeutas locales de Estelí constatan 100% de alivio de sobrecarga muscular y mayor apertura reflexiva (88.9%), enfrentando barreras de estigma sociocultural (77.8%) y limitaciones económicas de los usuarios (77.8%).</a:t>
            </a:r>
          </a:p>
          <a:p>
            <a:pPr>
              <a:spcAft>
                <a:spcPts val="1000"/>
              </a:spcAft>
            </a:pPr>
            <a:r>
              <a:rPr b="1" sz="1300">
                <a:solidFill>
                  <a:srgbClr val="0D9488"/>
                </a:solidFill>
                <a:latin typeface="Cambria"/>
              </a:rPr>
              <a:t>04  </a:t>
            </a:r>
            <a:r>
              <a:rPr b="1" sz="1150">
                <a:solidFill>
                  <a:srgbClr val="0F172A"/>
                </a:solidFill>
                <a:latin typeface="Calibri"/>
              </a:rPr>
              <a:t>Consenso Curricular Docente (OE3): </a:t>
            </a:r>
            <a:r>
              <a:rPr sz="1100">
                <a:solidFill>
                  <a:srgbClr val="1E293B"/>
                </a:solidFill>
                <a:latin typeface="Calibri"/>
              </a:rPr>
              <a:t>El 100% del claustro apoya transversalizar la MTCI mediante talleres vivenciales (88.9%) e intercambio comunitario, demandando actualización en neurobiología somática y comités de bioética.</a:t>
            </a:r>
          </a:p>
          <a:p>
            <a:pPr>
              <a:spcAft>
                <a:spcPts val="1000"/>
              </a:spcAft>
            </a:pPr>
            <a:r>
              <a:rPr b="1" sz="1300">
                <a:solidFill>
                  <a:srgbClr val="0D9488"/>
                </a:solidFill>
                <a:latin typeface="Cambria"/>
              </a:rPr>
              <a:t>05  </a:t>
            </a:r>
            <a:r>
              <a:rPr b="1" sz="1150">
                <a:solidFill>
                  <a:srgbClr val="0F172A"/>
                </a:solidFill>
                <a:latin typeface="Calibri"/>
              </a:rPr>
              <a:t>Logro Propositivo del Manual de Estrategias: </a:t>
            </a:r>
            <a:r>
              <a:rPr sz="1100">
                <a:solidFill>
                  <a:srgbClr val="1E293B"/>
                </a:solidFill>
                <a:latin typeface="Calibri"/>
              </a:rPr>
              <a:t>Se formuló con éxito el Manual de Estrategias MTCI de 18 páginas (Anexo 16.2), dotando al CUR-Estelí de algoritmos de decisión clínica, pautas contra el ocultamiento y el inventario I-CAM-Q.</a:t>
            </a:r>
          </a:p>
        </p:txBody>
      </p:sp>
    </p:spTree>
  </p:cSld>
  <p:clrMapOvr>
    <a:masterClrMapping/>
  </p:clrMapOvr>
  <p:transition spd="med"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DFEFF"/>
        </a:solidFill>
        <a:effectLst/>
      </p:bgPr>
    </p:bg>
    <p:spTree>
      <p:nvGrpSpPr>
        <p:cNvPr id="1" name=""/>
        <p:cNvGrpSpPr/>
        <p:nvPr/>
      </p:nvGrpSpPr>
      <p:grpSpPr/>
      <p:sp>
        <p:nvSpPr>
          <p:cNvPr id="2" name="TextBox 1"/>
          <p:cNvSpPr txBox="1"/>
          <p:nvPr/>
        </p:nvSpPr>
        <p:spPr>
          <a:xfrm>
            <a:off x="777240" y="438912"/>
            <a:ext cx="9601200" cy="256032"/>
          </a:xfrm>
          <a:prstGeom prst="rect">
            <a:avLst/>
          </a:prstGeom>
          <a:noFill/>
        </p:spPr>
        <p:txBody>
          <a:bodyPr wrap="square" lIns="0" rIns="0" tIns="0" bIns="0">
            <a:spAutoFit/>
          </a:bodyPr>
          <a:lstStyle/>
          <a:p>
            <a:pPr>
              <a:defRPr sz="950" b="1">
                <a:solidFill>
                  <a:srgbClr val="0D9488"/>
                </a:solidFill>
                <a:latin typeface="Calibri"/>
              </a:defRPr>
            </a:pPr>
            <a:r>
              <a:t>CAPÍTULO VI • CONCLUSIONES Y RECOMENDACIONES</a:t>
            </a:r>
          </a:p>
        </p:txBody>
      </p:sp>
      <p:sp>
        <p:nvSpPr>
          <p:cNvPr id="3" name="TextBox 2"/>
          <p:cNvSpPr txBox="1"/>
          <p:nvPr/>
        </p:nvSpPr>
        <p:spPr>
          <a:xfrm>
            <a:off x="777240" y="694944"/>
            <a:ext cx="9875520" cy="685800"/>
          </a:xfrm>
          <a:prstGeom prst="rect">
            <a:avLst/>
          </a:prstGeom>
          <a:noFill/>
        </p:spPr>
        <p:txBody>
          <a:bodyPr wrap="square" lIns="0" rIns="0" tIns="0" bIns="0">
            <a:spAutoFit/>
          </a:bodyPr>
          <a:lstStyle/>
          <a:p>
            <a:pPr>
              <a:defRPr sz="2600" b="1">
                <a:solidFill>
                  <a:srgbClr val="0F172A"/>
                </a:solidFill>
                <a:latin typeface="Cambria"/>
              </a:defRPr>
            </a:pPr>
            <a:r>
              <a:t>Recomendaciones Estratégicas para la Formación, Práctica e Intersectorialidad</a:t>
            </a:r>
          </a:p>
        </p:txBody>
      </p:sp>
      <p:pic>
        <p:nvPicPr>
          <p:cNvPr id="4" name="Picture 3" descr="unan_shield_only.png"/>
          <p:cNvPicPr>
            <a:picLocks noChangeAspect="1"/>
          </p:cNvPicPr>
          <p:nvPr/>
        </p:nvPicPr>
        <p:blipFill>
          <a:blip r:embed="rId2"/>
          <a:stretch>
            <a:fillRect/>
          </a:stretch>
        </p:blipFill>
        <p:spPr>
          <a:xfrm>
            <a:off x="10972800" y="411480"/>
            <a:ext cx="533862" cy="777240"/>
          </a:xfrm>
          <a:prstGeom prst="rect">
            <a:avLst/>
          </a:prstGeom>
        </p:spPr>
      </p:pic>
      <p:sp>
        <p:nvSpPr>
          <p:cNvPr id="5" name="TextBox 4"/>
          <p:cNvSpPr txBox="1"/>
          <p:nvPr/>
        </p:nvSpPr>
        <p:spPr>
          <a:xfrm>
            <a:off x="777240" y="6492240"/>
            <a:ext cx="9601200" cy="228600"/>
          </a:xfrm>
          <a:prstGeom prst="rect">
            <a:avLst/>
          </a:prstGeom>
          <a:noFill/>
        </p:spPr>
        <p:txBody>
          <a:bodyPr wrap="none" lIns="0" rIns="0" tIns="0" bIns="0">
            <a:spAutoFit/>
          </a:bodyPr>
          <a:lstStyle/>
          <a:p>
            <a:pPr>
              <a:defRPr sz="850">
                <a:solidFill>
                  <a:srgbClr val="64748B"/>
                </a:solidFill>
                <a:latin typeface="Calibri"/>
              </a:defRPr>
            </a:pPr>
            <a:r>
              <a:t>UNAN-Managua • CUR-Estelí | Carrera de Psicología • Segundo Semestre 2026</a:t>
            </a:r>
          </a:p>
        </p:txBody>
      </p:sp>
      <p:sp>
        <p:nvSpPr>
          <p:cNvPr id="6" name="TextBox 5"/>
          <p:cNvSpPr txBox="1"/>
          <p:nvPr/>
        </p:nvSpPr>
        <p:spPr>
          <a:xfrm>
            <a:off x="10789920" y="6492240"/>
            <a:ext cx="640080" cy="228600"/>
          </a:xfrm>
          <a:prstGeom prst="rect">
            <a:avLst/>
          </a:prstGeom>
          <a:noFill/>
        </p:spPr>
        <p:txBody>
          <a:bodyPr wrap="none" lIns="0" rIns="0" tIns="0" bIns="0">
            <a:spAutoFit/>
          </a:bodyPr>
          <a:lstStyle/>
          <a:p>
            <a:pPr algn="r">
              <a:defRPr sz="850" b="1">
                <a:solidFill>
                  <a:srgbClr val="64748B"/>
                </a:solidFill>
                <a:latin typeface="Calibri"/>
              </a:defRPr>
            </a:pPr>
            <a:r>
              <a:t>16 / 17</a:t>
            </a:r>
          </a:p>
        </p:txBody>
      </p:sp>
      <p:sp>
        <p:nvSpPr>
          <p:cNvPr id="7" name="Rectangle 6"/>
          <p:cNvSpPr/>
          <p:nvPr/>
        </p:nvSpPr>
        <p:spPr>
          <a:xfrm>
            <a:off x="777240" y="3977639"/>
            <a:ext cx="10607040" cy="12700"/>
          </a:xfrm>
          <a:prstGeom prst="rect">
            <a:avLst/>
          </a:prstGeom>
          <a:no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80760" y="1691640"/>
            <a:ext cx="12700" cy="4480560"/>
          </a:xfrm>
          <a:prstGeom prst="rect">
            <a:avLst/>
          </a:prstGeom>
          <a:no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91640"/>
            <a:ext cx="5029200" cy="2194560"/>
          </a:xfrm>
          <a:prstGeom prst="rect">
            <a:avLst/>
          </a:prstGeom>
          <a:noFill/>
        </p:spPr>
        <p:txBody>
          <a:bodyPr wrap="square" lIns="0" rIns="0" tIns="0" bIns="0">
            <a:spAutoFit/>
          </a:bodyPr>
          <a:lstStyle/>
          <a:p>
            <a:pPr>
              <a:spcAft>
                <a:spcPts val="500"/>
              </a:spcAft>
              <a:defRPr b="1" sz="1050">
                <a:solidFill>
                  <a:srgbClr val="0D9488"/>
                </a:solidFill>
                <a:latin typeface="Calibri"/>
              </a:defRPr>
            </a:pPr>
            <a:r>
              <a:t>PARA EL ESTAMENTO ESTUDIANTIL</a:t>
            </a:r>
          </a:p>
          <a:p>
            <a:pPr>
              <a:spcAft>
                <a:spcPts val="200"/>
              </a:spcAft>
            </a:pPr>
            <a:r>
              <a:rPr b="1" sz="1000">
                <a:solidFill>
                  <a:srgbClr val="0F172A"/>
                </a:solidFill>
                <a:latin typeface="Calibri"/>
              </a:rPr>
              <a:t>✓ Límites Legales: </a:t>
            </a:r>
            <a:r>
              <a:rPr sz="950">
                <a:solidFill>
                  <a:srgbClr val="1E293B"/>
                </a:solidFill>
                <a:latin typeface="Calibri"/>
              </a:rPr>
              <a:t>Respetar estrictamente las Leyes 774 y 292 (prohibición terminante de formular fármacos).</a:t>
            </a:r>
          </a:p>
          <a:p>
            <a:pPr>
              <a:spcAft>
                <a:spcPts val="200"/>
              </a:spcAft>
            </a:pPr>
            <a:r>
              <a:rPr b="1" sz="1000">
                <a:solidFill>
                  <a:srgbClr val="0F172A"/>
                </a:solidFill>
                <a:latin typeface="Calibri"/>
              </a:rPr>
              <a:t>✓ Algoritmo Clínico: </a:t>
            </a:r>
            <a:r>
              <a:rPr sz="950">
                <a:solidFill>
                  <a:srgbClr val="1E293B"/>
                </a:solidFill>
                <a:latin typeface="Calibri"/>
              </a:rPr>
              <a:t>Aplicar el árbol de decisión del manual en las prácticas de la Clínica Psicosocial.</a:t>
            </a:r>
          </a:p>
          <a:p>
            <a:pPr>
              <a:spcAft>
                <a:spcPts val="200"/>
              </a:spcAft>
            </a:pPr>
            <a:r>
              <a:rPr b="1" sz="1000">
                <a:solidFill>
                  <a:srgbClr val="0F172A"/>
                </a:solidFill>
                <a:latin typeface="Calibri"/>
              </a:rPr>
              <a:t>✓ Diálogo Abierto: </a:t>
            </a:r>
            <a:r>
              <a:rPr sz="950">
                <a:solidFill>
                  <a:srgbClr val="1E293B"/>
                </a:solidFill>
                <a:latin typeface="Calibri"/>
              </a:rPr>
              <a:t>Explorar empáticamente el uso de MTCI en consulta para erradicar el ocultamiento.</a:t>
            </a:r>
          </a:p>
          <a:p>
            <a:pPr>
              <a:spcAft>
                <a:spcPts val="200"/>
              </a:spcAft>
            </a:pPr>
            <a:r>
              <a:rPr b="1" sz="1000">
                <a:solidFill>
                  <a:srgbClr val="0F172A"/>
                </a:solidFill>
                <a:latin typeface="Calibri"/>
              </a:rPr>
              <a:t>✓ Autocuidado Personal: </a:t>
            </a:r>
            <a:r>
              <a:rPr sz="950">
                <a:solidFill>
                  <a:srgbClr val="1E293B"/>
                </a:solidFill>
                <a:latin typeface="Calibri"/>
              </a:rPr>
              <a:t>Vivenciar la regulación somática (respiración diafragmática) ante la sobrecarga.</a:t>
            </a:r>
          </a:p>
        </p:txBody>
      </p:sp>
      <p:sp>
        <p:nvSpPr>
          <p:cNvPr id="10" name="TextBox 9"/>
          <p:cNvSpPr txBox="1"/>
          <p:nvPr/>
        </p:nvSpPr>
        <p:spPr>
          <a:xfrm>
            <a:off x="6400800" y="1691640"/>
            <a:ext cx="5029200" cy="2194560"/>
          </a:xfrm>
          <a:prstGeom prst="rect">
            <a:avLst/>
          </a:prstGeom>
          <a:noFill/>
        </p:spPr>
        <p:txBody>
          <a:bodyPr wrap="square" lIns="0" rIns="0" tIns="0" bIns="0">
            <a:spAutoFit/>
          </a:bodyPr>
          <a:lstStyle/>
          <a:p>
            <a:pPr>
              <a:spcAft>
                <a:spcPts val="500"/>
              </a:spcAft>
              <a:defRPr b="1" sz="1050">
                <a:solidFill>
                  <a:srgbClr val="2563EB"/>
                </a:solidFill>
                <a:latin typeface="Calibri"/>
              </a:defRPr>
            </a:pPr>
            <a:r>
              <a:t>PARA EL CLAUSTRO DOCENTE</a:t>
            </a:r>
          </a:p>
          <a:p>
            <a:pPr>
              <a:spcAft>
                <a:spcPts val="200"/>
              </a:spcAft>
            </a:pPr>
            <a:r>
              <a:rPr b="1" sz="1000">
                <a:solidFill>
                  <a:srgbClr val="0F172A"/>
                </a:solidFill>
                <a:latin typeface="Calibri"/>
              </a:rPr>
              <a:t>✓ Transversalidad Curricular: </a:t>
            </a:r>
            <a:r>
              <a:rPr sz="950">
                <a:solidFill>
                  <a:srgbClr val="1E293B"/>
                </a:solidFill>
                <a:latin typeface="Calibri"/>
              </a:rPr>
              <a:t>Integrar contenidos de MTCI en Psicología Clínica, Comunitaria y Ética.</a:t>
            </a:r>
          </a:p>
          <a:p>
            <a:pPr>
              <a:spcAft>
                <a:spcPts val="200"/>
              </a:spcAft>
            </a:pPr>
            <a:r>
              <a:rPr b="1" sz="1000">
                <a:solidFill>
                  <a:srgbClr val="0F172A"/>
                </a:solidFill>
                <a:latin typeface="Calibri"/>
              </a:rPr>
              <a:t>✓ Pedagogía Vivencial: </a:t>
            </a:r>
            <a:r>
              <a:rPr sz="950">
                <a:solidFill>
                  <a:srgbClr val="1E293B"/>
                </a:solidFill>
                <a:latin typeface="Calibri"/>
              </a:rPr>
              <a:t>Priorizar análisis de casos clínicos reales y talleres de autorregulación somática.</a:t>
            </a:r>
          </a:p>
          <a:p>
            <a:pPr>
              <a:spcAft>
                <a:spcPts val="200"/>
              </a:spcAft>
            </a:pPr>
            <a:r>
              <a:rPr b="1" sz="1000">
                <a:solidFill>
                  <a:srgbClr val="0F172A"/>
                </a:solidFill>
                <a:latin typeface="Calibri"/>
              </a:rPr>
              <a:t>✓ Capacitación Continua: </a:t>
            </a:r>
            <a:r>
              <a:rPr sz="950">
                <a:solidFill>
                  <a:srgbClr val="1E293B"/>
                </a:solidFill>
                <a:latin typeface="Calibri"/>
              </a:rPr>
              <a:t>Formarse institucionalmente en neurobiología del estrés y regulación Bottom-Up.</a:t>
            </a:r>
          </a:p>
          <a:p>
            <a:pPr>
              <a:spcAft>
                <a:spcPts val="200"/>
              </a:spcAft>
            </a:pPr>
            <a:r>
              <a:rPr b="1" sz="1000">
                <a:solidFill>
                  <a:srgbClr val="0F172A"/>
                </a:solidFill>
                <a:latin typeface="Calibri"/>
              </a:rPr>
              <a:t>✓ Derivación Ética: </a:t>
            </a:r>
            <a:r>
              <a:rPr sz="950">
                <a:solidFill>
                  <a:srgbClr val="1E293B"/>
                </a:solidFill>
                <a:latin typeface="Calibri"/>
              </a:rPr>
              <a:t>Instruir en criterios claros de referencia intersectorial hacia facilitadores locales.</a:t>
            </a:r>
          </a:p>
        </p:txBody>
      </p:sp>
      <p:sp>
        <p:nvSpPr>
          <p:cNvPr id="11" name="TextBox 10"/>
          <p:cNvSpPr txBox="1"/>
          <p:nvPr/>
        </p:nvSpPr>
        <p:spPr>
          <a:xfrm>
            <a:off x="777240" y="4160520"/>
            <a:ext cx="5029200" cy="2194560"/>
          </a:xfrm>
          <a:prstGeom prst="rect">
            <a:avLst/>
          </a:prstGeom>
          <a:noFill/>
        </p:spPr>
        <p:txBody>
          <a:bodyPr wrap="square" lIns="0" rIns="0" tIns="0" bIns="0">
            <a:spAutoFit/>
          </a:bodyPr>
          <a:lstStyle/>
          <a:p>
            <a:pPr>
              <a:spcAft>
                <a:spcPts val="500"/>
              </a:spcAft>
              <a:defRPr b="1" sz="1050">
                <a:solidFill>
                  <a:srgbClr val="D97706"/>
                </a:solidFill>
                <a:latin typeface="Calibri"/>
              </a:defRPr>
            </a:pPr>
            <a:r>
              <a:t>PARA LA GESTIÓN DEL CUR-ESTELÍ</a:t>
            </a:r>
          </a:p>
          <a:p>
            <a:pPr>
              <a:spcAft>
                <a:spcPts val="200"/>
              </a:spcAft>
            </a:pPr>
            <a:r>
              <a:rPr b="1" sz="1000">
                <a:solidFill>
                  <a:srgbClr val="0F172A"/>
                </a:solidFill>
                <a:latin typeface="Calibri"/>
              </a:rPr>
              <a:t>✓ Adopción Oficial: </a:t>
            </a:r>
            <a:r>
              <a:rPr sz="950">
                <a:solidFill>
                  <a:srgbClr val="1E293B"/>
                </a:solidFill>
                <a:latin typeface="Calibri"/>
              </a:rPr>
              <a:t>Formalizar la aprobación institucional del Manual de Estrategias MTCI (Anexo 16.2).</a:t>
            </a:r>
          </a:p>
          <a:p>
            <a:pPr>
              <a:spcAft>
                <a:spcPts val="200"/>
              </a:spcAft>
            </a:pPr>
            <a:r>
              <a:rPr b="1" sz="1000">
                <a:solidFill>
                  <a:srgbClr val="0F172A"/>
                </a:solidFill>
                <a:latin typeface="Calibri"/>
              </a:rPr>
              <a:t>✓ Comité de Bioética: </a:t>
            </a:r>
            <a:r>
              <a:rPr sz="950">
                <a:solidFill>
                  <a:srgbClr val="1E293B"/>
                </a:solidFill>
                <a:latin typeface="Calibri"/>
              </a:rPr>
              <a:t>Constituir el Comité de Ética y Delimitación Profesional en el recinto universitario.</a:t>
            </a:r>
          </a:p>
          <a:p>
            <a:pPr>
              <a:spcAft>
                <a:spcPts val="200"/>
              </a:spcAft>
            </a:pPr>
            <a:r>
              <a:rPr b="1" sz="1000">
                <a:solidFill>
                  <a:srgbClr val="0F172A"/>
                </a:solidFill>
                <a:latin typeface="Calibri"/>
              </a:rPr>
              <a:t>✓ Alianza con MINSA: </a:t>
            </a:r>
            <a:r>
              <a:rPr sz="950">
                <a:solidFill>
                  <a:srgbClr val="1E293B"/>
                </a:solidFill>
                <a:latin typeface="Calibri"/>
              </a:rPr>
              <a:t>Consolidar convenios interinstitucionales para pasantías y ferias de salud comunitaria.</a:t>
            </a:r>
          </a:p>
          <a:p>
            <a:pPr>
              <a:spcAft>
                <a:spcPts val="200"/>
              </a:spcAft>
            </a:pPr>
            <a:r>
              <a:rPr b="1" sz="1000">
                <a:solidFill>
                  <a:srgbClr val="0F172A"/>
                </a:solidFill>
                <a:latin typeface="Calibri"/>
              </a:rPr>
              <a:t>✓ Asignatura Electiva: </a:t>
            </a:r>
            <a:r>
              <a:rPr sz="950">
                <a:solidFill>
                  <a:srgbClr val="1E293B"/>
                </a:solidFill>
                <a:latin typeface="Calibri"/>
              </a:rPr>
              <a:t>Evaluar a mediano plazo la creación formal del curso electivo 'Psicología Integrativa'.</a:t>
            </a:r>
          </a:p>
        </p:txBody>
      </p:sp>
      <p:sp>
        <p:nvSpPr>
          <p:cNvPr id="12" name="TextBox 11"/>
          <p:cNvSpPr txBox="1"/>
          <p:nvPr/>
        </p:nvSpPr>
        <p:spPr>
          <a:xfrm>
            <a:off x="6400800" y="4160520"/>
            <a:ext cx="5029200" cy="2194560"/>
          </a:xfrm>
          <a:prstGeom prst="rect">
            <a:avLst/>
          </a:prstGeom>
          <a:noFill/>
        </p:spPr>
        <p:txBody>
          <a:bodyPr wrap="square" lIns="0" rIns="0" tIns="0" bIns="0">
            <a:spAutoFit/>
          </a:bodyPr>
          <a:lstStyle/>
          <a:p>
            <a:pPr>
              <a:spcAft>
                <a:spcPts val="500"/>
              </a:spcAft>
              <a:defRPr b="1" sz="1050">
                <a:solidFill>
                  <a:srgbClr val="0F172A"/>
                </a:solidFill>
                <a:latin typeface="Calibri"/>
              </a:defRPr>
            </a:pPr>
            <a:r>
              <a:t>PARA EL SISTEMA DE SALUD Y FACILITADORES</a:t>
            </a:r>
          </a:p>
          <a:p>
            <a:pPr>
              <a:spcAft>
                <a:spcPts val="200"/>
              </a:spcAft>
            </a:pPr>
            <a:r>
              <a:rPr b="1" sz="1000">
                <a:solidFill>
                  <a:srgbClr val="0F172A"/>
                </a:solidFill>
                <a:latin typeface="Calibri"/>
              </a:rPr>
              <a:t>✓ Registro Oficial: </a:t>
            </a:r>
            <a:r>
              <a:rPr sz="950">
                <a:solidFill>
                  <a:srgbClr val="1E293B"/>
                </a:solidFill>
                <a:latin typeface="Calibri"/>
              </a:rPr>
              <a:t>Difundir mecanismos de acreditación para facilitadores contemplados en la Ley No. 774.</a:t>
            </a:r>
          </a:p>
          <a:p>
            <a:pPr>
              <a:spcAft>
                <a:spcPts val="200"/>
              </a:spcAft>
            </a:pPr>
            <a:r>
              <a:rPr b="1" sz="1000">
                <a:solidFill>
                  <a:srgbClr val="0F172A"/>
                </a:solidFill>
                <a:latin typeface="Calibri"/>
              </a:rPr>
              <a:t>✓ Red de Interconsulta: </a:t>
            </a:r>
            <a:r>
              <a:rPr sz="950">
                <a:solidFill>
                  <a:srgbClr val="1E293B"/>
                </a:solidFill>
                <a:latin typeface="Calibri"/>
              </a:rPr>
              <a:t>Habilitar canales de referencia bidireccional entre psicólogos y terapeutas locales.</a:t>
            </a:r>
          </a:p>
          <a:p>
            <a:pPr>
              <a:spcAft>
                <a:spcPts val="200"/>
              </a:spcAft>
            </a:pPr>
            <a:r>
              <a:rPr b="1" sz="1000">
                <a:solidFill>
                  <a:srgbClr val="0F172A"/>
                </a:solidFill>
                <a:latin typeface="Calibri"/>
              </a:rPr>
              <a:t>✓ Atención Primaria: </a:t>
            </a:r>
            <a:r>
              <a:rPr sz="950">
                <a:solidFill>
                  <a:srgbClr val="1E293B"/>
                </a:solidFill>
                <a:latin typeface="Calibri"/>
              </a:rPr>
              <a:t>Fomentar la exploración desestigmatizada de saberes herbolarios en centros de salud.</a:t>
            </a:r>
          </a:p>
          <a:p>
            <a:pPr>
              <a:spcAft>
                <a:spcPts val="200"/>
              </a:spcAft>
            </a:pPr>
            <a:r>
              <a:rPr b="1" sz="1000">
                <a:solidFill>
                  <a:srgbClr val="0F172A"/>
                </a:solidFill>
                <a:latin typeface="Calibri"/>
              </a:rPr>
              <a:t>✓ Principio Bioético: </a:t>
            </a:r>
            <a:r>
              <a:rPr sz="950">
                <a:solidFill>
                  <a:srgbClr val="1E293B"/>
                </a:solidFill>
                <a:latin typeface="Calibri"/>
              </a:rPr>
              <a:t>Mantener el compromiso de complementariedad sin pretender sustituir tratamientos médicos.</a:t>
            </a:r>
          </a:p>
        </p:txBody>
      </p:sp>
    </p:spTree>
  </p:cSld>
  <p:clrMapOvr>
    <a:masterClrMapping/>
  </p:clrMapOvr>
  <p:transition spd="med"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E1A"/>
        </a:solidFill>
        <a:effectLst/>
      </p:bgPr>
    </p:bg>
    <p:spTree>
      <p:nvGrpSpPr>
        <p:cNvPr id="1" name=""/>
        <p:cNvGrpSpPr/>
        <p:nvPr/>
      </p:nvGrpSpPr>
      <p:grpSpPr/>
      <p:pic>
        <p:nvPicPr>
          <p:cNvPr id="2" name="Picture 1" descr="unan_shield_only.png"/>
          <p:cNvPicPr>
            <a:picLocks noChangeAspect="1"/>
          </p:cNvPicPr>
          <p:nvPr/>
        </p:nvPicPr>
        <p:blipFill>
          <a:blip r:embed="rId2"/>
          <a:stretch>
            <a:fillRect/>
          </a:stretch>
        </p:blipFill>
        <p:spPr>
          <a:xfrm>
            <a:off x="5349240" y="777240"/>
            <a:ext cx="942109" cy="1371600"/>
          </a:xfrm>
          <a:prstGeom prst="rect">
            <a:avLst/>
          </a:prstGeom>
        </p:spPr>
      </p:pic>
      <p:sp>
        <p:nvSpPr>
          <p:cNvPr id="3" name="TextBox 2"/>
          <p:cNvSpPr txBox="1"/>
          <p:nvPr/>
        </p:nvSpPr>
        <p:spPr>
          <a:xfrm>
            <a:off x="914400" y="2377440"/>
            <a:ext cx="10332720" cy="2194560"/>
          </a:xfrm>
          <a:prstGeom prst="rect">
            <a:avLst/>
          </a:prstGeom>
          <a:noFill/>
        </p:spPr>
        <p:txBody>
          <a:bodyPr wrap="square" lIns="0" rIns="0" tIns="0" bIns="0">
            <a:spAutoFit/>
          </a:bodyPr>
          <a:lstStyle/>
          <a:p>
            <a:pPr algn="ctr">
              <a:spcAft>
                <a:spcPts val="1000"/>
              </a:spcAft>
              <a:defRPr sz="1800" b="1" i="1">
                <a:solidFill>
                  <a:srgbClr val="F59E0B"/>
                </a:solidFill>
                <a:latin typeface="Cambria"/>
              </a:defRPr>
            </a:pPr>
            <a:r>
              <a:t>«¡A la libertad por la Universidad!»</a:t>
            </a:r>
          </a:p>
          <a:p>
            <a:pPr algn="ctr">
              <a:spcAft>
                <a:spcPts val="1000"/>
              </a:spcAft>
              <a:defRPr sz="3600" b="1">
                <a:solidFill>
                  <a:srgbClr val="FFFFFF"/>
                </a:solidFill>
                <a:latin typeface="Cambria"/>
              </a:defRPr>
            </a:pPr>
            <a:r>
              <a:t>Muchas Gracias por su Atención</a:t>
            </a:r>
          </a:p>
          <a:p>
            <a:pPr algn="ctr">
              <a:defRPr sz="1300">
                <a:solidFill>
                  <a:srgbClr val="94A3B8"/>
                </a:solidFill>
                <a:latin typeface="Calibri"/>
              </a:defRPr>
            </a:pPr>
            <a:r>
              <a:t>Espacio Abierto para Preguntas, Comentarios y Defensa Oral ante el Honorable Tribunal Examinador</a:t>
            </a:r>
          </a:p>
        </p:txBody>
      </p:sp>
      <p:sp>
        <p:nvSpPr>
          <p:cNvPr id="4" name="Rectangle 3"/>
          <p:cNvSpPr/>
          <p:nvPr/>
        </p:nvSpPr>
        <p:spPr>
          <a:xfrm>
            <a:off x="1371600" y="4663440"/>
            <a:ext cx="9418320" cy="12700"/>
          </a:xfrm>
          <a:prstGeom prst="rect">
            <a:avLst/>
          </a:prstGeom>
          <a:no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892040"/>
            <a:ext cx="9418320" cy="1371600"/>
          </a:xfrm>
          <a:prstGeom prst="rect">
            <a:avLst/>
          </a:prstGeom>
          <a:noFill/>
        </p:spPr>
        <p:txBody>
          <a:bodyPr wrap="square" lIns="0" rIns="0" tIns="0" bIns="0">
            <a:spAutoFit/>
          </a:bodyPr>
          <a:lstStyle/>
          <a:p>
            <a:pPr algn="ctr">
              <a:spcAft>
                <a:spcPts val="400"/>
              </a:spcAft>
              <a:defRPr sz="1100" b="1">
                <a:solidFill>
                  <a:srgbClr val="FFFFFF"/>
                </a:solidFill>
                <a:latin typeface="Calibri"/>
              </a:defRPr>
            </a:pPr>
            <a:r>
              <a:t>Sustentantes: Dina Fabiola García Torres • Tatiana Paola López Ramos • Engel Enoc Zamora Velásquez</a:t>
            </a:r>
          </a:p>
          <a:p>
            <a:pPr algn="ctr">
              <a:defRPr sz="1050">
                <a:solidFill>
                  <a:srgbClr val="14B8A6"/>
                </a:solidFill>
                <a:latin typeface="Calibri"/>
              </a:defRPr>
            </a:pPr>
            <a:r>
              <a:t>Tutoría Académica: Dra. Tania Libertad Pérez Guevara | Carrera de Licenciatura en Psicología • CUR-Estelí</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